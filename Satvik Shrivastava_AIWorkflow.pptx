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 id="2147483751" r:id="rId5"/>
    <p:sldMasterId id="2147483763" r:id="rId6"/>
  </p:sldMasterIdLst>
  <p:notesMasterIdLst>
    <p:notesMasterId r:id="rId20"/>
  </p:notesMasterIdLst>
  <p:handoutMasterIdLst>
    <p:handoutMasterId r:id="rId21"/>
  </p:handoutMasterIdLst>
  <p:sldIdLst>
    <p:sldId id="256" r:id="rId7"/>
    <p:sldId id="257" r:id="rId8"/>
    <p:sldId id="286" r:id="rId9"/>
    <p:sldId id="270" r:id="rId10"/>
    <p:sldId id="265" r:id="rId11"/>
    <p:sldId id="281" r:id="rId12"/>
    <p:sldId id="280" r:id="rId13"/>
    <p:sldId id="282" r:id="rId14"/>
    <p:sldId id="283" r:id="rId15"/>
    <p:sldId id="284" r:id="rId16"/>
    <p:sldId id="285" r:id="rId17"/>
    <p:sldId id="287" r:id="rId18"/>
    <p:sldId id="28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E7D374-223F-4A4B-B6A3-2C503BE230A3}" v="165" dt="2026-06-25T13:54:03.965"/>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7CC8CE-DCCA-7C6E-1A4F-356F5640DF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7CBD63-165B-19A1-78E5-CB2442A66D2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DC7D24-16BF-448E-8125-922AC25F2810}" type="datetimeFigureOut">
              <a:rPr lang="en-US" smtClean="0"/>
              <a:t>7/15/2026</a:t>
            </a:fld>
            <a:endParaRPr lang="en-US"/>
          </a:p>
        </p:txBody>
      </p:sp>
      <p:sp>
        <p:nvSpPr>
          <p:cNvPr id="4" name="Footer Placeholder 3">
            <a:extLst>
              <a:ext uri="{FF2B5EF4-FFF2-40B4-BE49-F238E27FC236}">
                <a16:creationId xmlns:a16="http://schemas.microsoft.com/office/drawing/2014/main" id="{A694E3C4-489C-3842-D2D8-6469DBE083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8E6E04-8D1D-E480-F398-D819127B7E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099176-B171-453D-B4F4-0D63CE4F1E1A}" type="slidenum">
              <a:rPr lang="en-US" smtClean="0"/>
              <a:t>‹#›</a:t>
            </a:fld>
            <a:endParaRPr lang="en-US"/>
          </a:p>
        </p:txBody>
      </p:sp>
    </p:spTree>
    <p:extLst>
      <p:ext uri="{BB962C8B-B14F-4D97-AF65-F5344CB8AC3E}">
        <p14:creationId xmlns:p14="http://schemas.microsoft.com/office/powerpoint/2010/main" val="3748492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45A7B5-7120-4081-9C69-DA4001E9CDC7}"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2BD5ED-768E-4A59-9586-6D48BCD969D8}" type="slidenum">
              <a:rPr lang="en-US" smtClean="0"/>
              <a:t>‹#›</a:t>
            </a:fld>
            <a:endParaRPr lang="en-US"/>
          </a:p>
        </p:txBody>
      </p:sp>
    </p:spTree>
    <p:extLst>
      <p:ext uri="{BB962C8B-B14F-4D97-AF65-F5344CB8AC3E}">
        <p14:creationId xmlns:p14="http://schemas.microsoft.com/office/powerpoint/2010/main" val="142252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2BD5ED-768E-4A59-9586-6D48BCD969D8}" type="slidenum">
              <a:rPr lang="en-US" smtClean="0"/>
              <a:t>1</a:t>
            </a:fld>
            <a:endParaRPr lang="en-US"/>
          </a:p>
        </p:txBody>
      </p:sp>
    </p:spTree>
    <p:extLst>
      <p:ext uri="{BB962C8B-B14F-4D97-AF65-F5344CB8AC3E}">
        <p14:creationId xmlns:p14="http://schemas.microsoft.com/office/powerpoint/2010/main" val="1152112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2BD5ED-768E-4A59-9586-6D48BCD969D8}" type="slidenum">
              <a:rPr lang="en-US" smtClean="0"/>
              <a:t>2</a:t>
            </a:fld>
            <a:endParaRPr lang="en-US"/>
          </a:p>
        </p:txBody>
      </p:sp>
    </p:spTree>
    <p:extLst>
      <p:ext uri="{BB962C8B-B14F-4D97-AF65-F5344CB8AC3E}">
        <p14:creationId xmlns:p14="http://schemas.microsoft.com/office/powerpoint/2010/main" val="2690965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2BD5ED-768E-4A59-9586-6D48BCD969D8}" type="slidenum">
              <a:rPr lang="en-US" smtClean="0"/>
              <a:t>4</a:t>
            </a:fld>
            <a:endParaRPr lang="en-US"/>
          </a:p>
        </p:txBody>
      </p:sp>
    </p:spTree>
    <p:extLst>
      <p:ext uri="{BB962C8B-B14F-4D97-AF65-F5344CB8AC3E}">
        <p14:creationId xmlns:p14="http://schemas.microsoft.com/office/powerpoint/2010/main" val="4076417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2BD5ED-768E-4A59-9586-6D48BCD969D8}" type="slidenum">
              <a:rPr lang="en-US" smtClean="0"/>
              <a:t>5</a:t>
            </a:fld>
            <a:endParaRPr lang="en-US"/>
          </a:p>
        </p:txBody>
      </p:sp>
    </p:spTree>
    <p:extLst>
      <p:ext uri="{BB962C8B-B14F-4D97-AF65-F5344CB8AC3E}">
        <p14:creationId xmlns:p14="http://schemas.microsoft.com/office/powerpoint/2010/main" val="950895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2BD5ED-768E-4A59-9586-6D48BCD969D8}" type="slidenum">
              <a:rPr lang="en-US" smtClean="0"/>
              <a:t>8</a:t>
            </a:fld>
            <a:endParaRPr lang="en-US"/>
          </a:p>
        </p:txBody>
      </p:sp>
    </p:spTree>
    <p:extLst>
      <p:ext uri="{BB962C8B-B14F-4D97-AF65-F5344CB8AC3E}">
        <p14:creationId xmlns:p14="http://schemas.microsoft.com/office/powerpoint/2010/main" val="6500962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909561" y="4314328"/>
            <a:ext cx="2910840" cy="374642"/>
          </a:xfrm>
        </p:spPr>
        <p:txBody>
          <a:bodyPr/>
          <a:lstStyle/>
          <a:p>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6114193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5508474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91599506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40951213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33495993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42879727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11733320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75244549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4578391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79914148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99347083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294A09A9-5501-47C1-A89A-A340965A2BE2}" type="slidenum">
              <a:rPr lang="en-US" smtClean="0"/>
              <a:pPr/>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138973492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31046117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57813537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66197042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67688957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37915870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89824F2F-9B77-E8DE-AD7B-CF6E1D67EE3B}"/>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0320" r="32549" b="6855"/>
          <a:stretch/>
        </p:blipFill>
        <p:spPr>
          <a:xfrm flipH="1">
            <a:off x="1" y="-2"/>
            <a:ext cx="4145091" cy="6858001"/>
          </a:xfrm>
          <a:prstGeom prst="rect">
            <a:avLst/>
          </a:prstGeom>
        </p:spPr>
      </p:pic>
      <p:pic>
        <p:nvPicPr>
          <p:cNvPr id="21" name="Graphic 20">
            <a:extLst>
              <a:ext uri="{FF2B5EF4-FFF2-40B4-BE49-F238E27FC236}">
                <a16:creationId xmlns:a16="http://schemas.microsoft.com/office/drawing/2014/main" id="{C899EE7A-1B55-E01E-0F8A-818D34FD4684}"/>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0320" r="32549" b="6855"/>
          <a:stretch/>
        </p:blipFill>
        <p:spPr>
          <a:xfrm>
            <a:off x="8046909" y="-1"/>
            <a:ext cx="4145091" cy="6858001"/>
          </a:xfrm>
          <a:prstGeom prst="rect">
            <a:avLst/>
          </a:prstGeom>
        </p:spPr>
      </p:pic>
      <p:grpSp>
        <p:nvGrpSpPr>
          <p:cNvPr id="16" name="Group 15">
            <a:extLst>
              <a:ext uri="{FF2B5EF4-FFF2-40B4-BE49-F238E27FC236}">
                <a16:creationId xmlns:a16="http://schemas.microsoft.com/office/drawing/2014/main" id="{522CB8E9-A9F1-4F28-81F9-BB11147C2BBE}"/>
              </a:ext>
              <a:ext uri="{C183D7F6-B498-43B3-948B-1728B52AA6E4}">
                <adec:decorative xmlns:adec="http://schemas.microsoft.com/office/drawing/2017/decorative" val="1"/>
              </a:ext>
            </a:extLst>
          </p:cNvPr>
          <p:cNvGrpSpPr/>
          <p:nvPr userDrawn="1"/>
        </p:nvGrpSpPr>
        <p:grpSpPr>
          <a:xfrm rot="5400000">
            <a:off x="3703829" y="-521941"/>
            <a:ext cx="4784342" cy="7901884"/>
            <a:chOff x="4066571" y="77169"/>
            <a:chExt cx="4058859" cy="6703663"/>
          </a:xfrm>
        </p:grpSpPr>
        <p:sp>
          <p:nvSpPr>
            <p:cNvPr id="15" name="Freeform: Shape 14">
              <a:extLst>
                <a:ext uri="{FF2B5EF4-FFF2-40B4-BE49-F238E27FC236}">
                  <a16:creationId xmlns:a16="http://schemas.microsoft.com/office/drawing/2014/main" id="{1CEBE09E-04AC-3CDA-B4F6-D4097B8EC8BF}"/>
                </a:ext>
              </a:extLst>
            </p:cNvPr>
            <p:cNvSpPr/>
            <p:nvPr userDrawn="1"/>
          </p:nvSpPr>
          <p:spPr>
            <a:xfrm>
              <a:off x="4328431" y="339028"/>
              <a:ext cx="3535138" cy="6179943"/>
            </a:xfrm>
            <a:custGeom>
              <a:avLst/>
              <a:gdLst>
                <a:gd name="connsiteX0" fmla="*/ 1741450 w 3535138"/>
                <a:gd name="connsiteY0" fmla="*/ 684 h 6179943"/>
                <a:gd name="connsiteX1" fmla="*/ 1786333 w 3535138"/>
                <a:gd name="connsiteY1" fmla="*/ 14719 h 6179943"/>
                <a:gd name="connsiteX2" fmla="*/ 2276580 w 3535138"/>
                <a:gd name="connsiteY2" fmla="*/ 297844 h 6179943"/>
                <a:gd name="connsiteX3" fmla="*/ 2456364 w 3535138"/>
                <a:gd name="connsiteY3" fmla="*/ 504689 h 6179943"/>
                <a:gd name="connsiteX4" fmla="*/ 2458126 w 3535138"/>
                <a:gd name="connsiteY4" fmla="*/ 507229 h 6179943"/>
                <a:gd name="connsiteX5" fmla="*/ 2461190 w 3535138"/>
                <a:gd name="connsiteY5" fmla="*/ 506915 h 6179943"/>
                <a:gd name="connsiteX6" fmla="*/ 2524417 w 3535138"/>
                <a:gd name="connsiteY6" fmla="*/ 503615 h 6179943"/>
                <a:gd name="connsiteX7" fmla="*/ 2832937 w 3535138"/>
                <a:gd name="connsiteY7" fmla="*/ 601945 h 6179943"/>
                <a:gd name="connsiteX8" fmla="*/ 3031538 w 3535138"/>
                <a:gd name="connsiteY8" fmla="*/ 907511 h 6179943"/>
                <a:gd name="connsiteX9" fmla="*/ 3045517 w 3535138"/>
                <a:gd name="connsiteY9" fmla="*/ 992381 h 6179943"/>
                <a:gd name="connsiteX10" fmla="*/ 3045823 w 3535138"/>
                <a:gd name="connsiteY10" fmla="*/ 996020 h 6179943"/>
                <a:gd name="connsiteX11" fmla="*/ 3049345 w 3535138"/>
                <a:gd name="connsiteY11" fmla="*/ 996963 h 6179943"/>
                <a:gd name="connsiteX12" fmla="*/ 3314810 w 3535138"/>
                <a:gd name="connsiteY12" fmla="*/ 1127999 h 6179943"/>
                <a:gd name="connsiteX13" fmla="*/ 3535138 w 3535138"/>
                <a:gd name="connsiteY13" fmla="*/ 1548942 h 6179943"/>
                <a:gd name="connsiteX14" fmla="*/ 3535138 w 3535138"/>
                <a:gd name="connsiteY14" fmla="*/ 4639430 h 6179943"/>
                <a:gd name="connsiteX15" fmla="*/ 3314823 w 3535138"/>
                <a:gd name="connsiteY15" fmla="*/ 5060774 h 6179943"/>
                <a:gd name="connsiteX16" fmla="*/ 3050316 w 3535138"/>
                <a:gd name="connsiteY16" fmla="*/ 5191555 h 6179943"/>
                <a:gd name="connsiteX17" fmla="*/ 3046818 w 3535138"/>
                <a:gd name="connsiteY17" fmla="*/ 5192529 h 6179943"/>
                <a:gd name="connsiteX18" fmla="*/ 3046498 w 3535138"/>
                <a:gd name="connsiteY18" fmla="*/ 5196154 h 6179943"/>
                <a:gd name="connsiteX19" fmla="*/ 3030452 w 3535138"/>
                <a:gd name="connsiteY19" fmla="*/ 5285451 h 6179943"/>
                <a:gd name="connsiteX20" fmla="*/ 2700498 w 3535138"/>
                <a:gd name="connsiteY20" fmla="*/ 5638721 h 6179943"/>
                <a:gd name="connsiteX21" fmla="*/ 2464126 w 3535138"/>
                <a:gd name="connsiteY21" fmla="*/ 5676581 h 6179943"/>
                <a:gd name="connsiteX22" fmla="*/ 2461227 w 3535138"/>
                <a:gd name="connsiteY22" fmla="*/ 5676427 h 6179943"/>
                <a:gd name="connsiteX23" fmla="*/ 2459567 w 3535138"/>
                <a:gd name="connsiteY23" fmla="*/ 5678823 h 6179943"/>
                <a:gd name="connsiteX24" fmla="*/ 2217897 w 3535138"/>
                <a:gd name="connsiteY24" fmla="*/ 5941399 h 6179943"/>
                <a:gd name="connsiteX25" fmla="*/ 1826529 w 3535138"/>
                <a:gd name="connsiteY25" fmla="*/ 6163220 h 6179943"/>
                <a:gd name="connsiteX26" fmla="*/ 1781863 w 3535138"/>
                <a:gd name="connsiteY26" fmla="*/ 6179102 h 6179943"/>
                <a:gd name="connsiteX27" fmla="*/ 1771957 w 3535138"/>
                <a:gd name="connsiteY27" fmla="*/ 6179076 h 6179943"/>
                <a:gd name="connsiteX28" fmla="*/ 1727330 w 3535138"/>
                <a:gd name="connsiteY28" fmla="*/ 6163078 h 6179943"/>
                <a:gd name="connsiteX29" fmla="*/ 1354714 w 3535138"/>
                <a:gd name="connsiteY29" fmla="*/ 5972034 h 6179943"/>
                <a:gd name="connsiteX30" fmla="*/ 1078871 w 3535138"/>
                <a:gd name="connsiteY30" fmla="*/ 5682740 h 6179943"/>
                <a:gd name="connsiteX31" fmla="*/ 1077117 w 3535138"/>
                <a:gd name="connsiteY31" fmla="*/ 5680320 h 6179943"/>
                <a:gd name="connsiteX32" fmla="*/ 1074157 w 3535138"/>
                <a:gd name="connsiteY32" fmla="*/ 5680590 h 6179943"/>
                <a:gd name="connsiteX33" fmla="*/ 1023356 w 3535138"/>
                <a:gd name="connsiteY33" fmla="*/ 5682845 h 6179943"/>
                <a:gd name="connsiteX34" fmla="*/ 747642 w 3535138"/>
                <a:gd name="connsiteY34" fmla="*/ 5607533 h 6179943"/>
                <a:gd name="connsiteX35" fmla="*/ 504058 w 3535138"/>
                <a:gd name="connsiteY35" fmla="*/ 5283236 h 6179943"/>
                <a:gd name="connsiteX36" fmla="*/ 489210 w 3535138"/>
                <a:gd name="connsiteY36" fmla="*/ 5196321 h 6179943"/>
                <a:gd name="connsiteX37" fmla="*/ 488896 w 3535138"/>
                <a:gd name="connsiteY37" fmla="*/ 5192684 h 6179943"/>
                <a:gd name="connsiteX38" fmla="*/ 485387 w 3535138"/>
                <a:gd name="connsiteY38" fmla="*/ 5191710 h 6179943"/>
                <a:gd name="connsiteX39" fmla="*/ 220304 w 3535138"/>
                <a:gd name="connsiteY39" fmla="*/ 5060774 h 6179943"/>
                <a:gd name="connsiteX40" fmla="*/ 0 w 3535138"/>
                <a:gd name="connsiteY40" fmla="*/ 4639852 h 6179943"/>
                <a:gd name="connsiteX41" fmla="*/ 0 w 3535138"/>
                <a:gd name="connsiteY41" fmla="*/ 1549387 h 6179943"/>
                <a:gd name="connsiteX42" fmla="*/ 220304 w 3535138"/>
                <a:gd name="connsiteY42" fmla="*/ 1128025 h 6179943"/>
                <a:gd name="connsiteX43" fmla="*/ 485754 w 3535138"/>
                <a:gd name="connsiteY43" fmla="*/ 996963 h 6179943"/>
                <a:gd name="connsiteX44" fmla="*/ 489289 w 3535138"/>
                <a:gd name="connsiteY44" fmla="*/ 996020 h 6179943"/>
                <a:gd name="connsiteX45" fmla="*/ 489603 w 3535138"/>
                <a:gd name="connsiteY45" fmla="*/ 992381 h 6179943"/>
                <a:gd name="connsiteX46" fmla="*/ 503613 w 3535138"/>
                <a:gd name="connsiteY46" fmla="*/ 907459 h 6179943"/>
                <a:gd name="connsiteX47" fmla="*/ 692363 w 3535138"/>
                <a:gd name="connsiteY47" fmla="*/ 609879 h 6179943"/>
                <a:gd name="connsiteX48" fmla="*/ 1072796 w 3535138"/>
                <a:gd name="connsiteY48" fmla="*/ 507622 h 6179943"/>
                <a:gd name="connsiteX49" fmla="*/ 1075886 w 3535138"/>
                <a:gd name="connsiteY49" fmla="*/ 507936 h 6179943"/>
                <a:gd name="connsiteX50" fmla="*/ 1077640 w 3535138"/>
                <a:gd name="connsiteY50" fmla="*/ 505370 h 6179943"/>
                <a:gd name="connsiteX51" fmla="*/ 1271819 w 3535138"/>
                <a:gd name="connsiteY51" fmla="*/ 280352 h 6179943"/>
                <a:gd name="connsiteX52" fmla="*/ 1271821 w 3535138"/>
                <a:gd name="connsiteY52" fmla="*/ 280352 h 6179943"/>
                <a:gd name="connsiteX53" fmla="*/ 1687915 w 3535138"/>
                <a:gd name="connsiteY53" fmla="*/ 18333 h 6179943"/>
                <a:gd name="connsiteX54" fmla="*/ 1731596 w 3535138"/>
                <a:gd name="connsiteY54" fmla="*/ 1024 h 6179943"/>
                <a:gd name="connsiteX55" fmla="*/ 1741450 w 3535138"/>
                <a:gd name="connsiteY55" fmla="*/ 684 h 617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535138" h="6179943">
                  <a:moveTo>
                    <a:pt x="1741450" y="684"/>
                  </a:moveTo>
                  <a:lnTo>
                    <a:pt x="1786333" y="14719"/>
                  </a:lnTo>
                  <a:cubicBezTo>
                    <a:pt x="1968824" y="71831"/>
                    <a:pt x="2138346" y="169741"/>
                    <a:pt x="2276580" y="297844"/>
                  </a:cubicBezTo>
                  <a:cubicBezTo>
                    <a:pt x="2343494" y="359827"/>
                    <a:pt x="2403976" y="429404"/>
                    <a:pt x="2456364" y="504689"/>
                  </a:cubicBezTo>
                  <a:lnTo>
                    <a:pt x="2458126" y="507229"/>
                  </a:lnTo>
                  <a:lnTo>
                    <a:pt x="2461190" y="506915"/>
                  </a:lnTo>
                  <a:cubicBezTo>
                    <a:pt x="2482304" y="504715"/>
                    <a:pt x="2503583" y="503615"/>
                    <a:pt x="2524417" y="503615"/>
                  </a:cubicBezTo>
                  <a:cubicBezTo>
                    <a:pt x="2639327" y="503615"/>
                    <a:pt x="2746020" y="537605"/>
                    <a:pt x="2832937" y="601945"/>
                  </a:cubicBezTo>
                  <a:cubicBezTo>
                    <a:pt x="2964316" y="699200"/>
                    <a:pt x="3013755" y="835132"/>
                    <a:pt x="3031538" y="907511"/>
                  </a:cubicBezTo>
                  <a:cubicBezTo>
                    <a:pt x="3038368" y="935321"/>
                    <a:pt x="3043079" y="963864"/>
                    <a:pt x="3045517" y="992381"/>
                  </a:cubicBezTo>
                  <a:lnTo>
                    <a:pt x="3045823" y="996020"/>
                  </a:lnTo>
                  <a:lnTo>
                    <a:pt x="3049345" y="996963"/>
                  </a:lnTo>
                  <a:cubicBezTo>
                    <a:pt x="3150280" y="1024799"/>
                    <a:pt x="3239598" y="1068870"/>
                    <a:pt x="3314810" y="1127999"/>
                  </a:cubicBezTo>
                  <a:cubicBezTo>
                    <a:pt x="3509800" y="1281267"/>
                    <a:pt x="3533850" y="1473499"/>
                    <a:pt x="3535138" y="1548942"/>
                  </a:cubicBezTo>
                  <a:lnTo>
                    <a:pt x="3535138" y="4639430"/>
                  </a:lnTo>
                  <a:cubicBezTo>
                    <a:pt x="3533860" y="4715061"/>
                    <a:pt x="3509811" y="4907527"/>
                    <a:pt x="3314823" y="5060774"/>
                  </a:cubicBezTo>
                  <a:cubicBezTo>
                    <a:pt x="3239842" y="5119703"/>
                    <a:pt x="3150843" y="5163712"/>
                    <a:pt x="3050316" y="5191555"/>
                  </a:cubicBezTo>
                  <a:lnTo>
                    <a:pt x="3046818" y="5192529"/>
                  </a:lnTo>
                  <a:lnTo>
                    <a:pt x="3046498" y="5196154"/>
                  </a:lnTo>
                  <a:cubicBezTo>
                    <a:pt x="3043817" y="5226574"/>
                    <a:pt x="3038417" y="5256620"/>
                    <a:pt x="3030452" y="5285451"/>
                  </a:cubicBezTo>
                  <a:cubicBezTo>
                    <a:pt x="2966180" y="5517916"/>
                    <a:pt x="2761656" y="5614617"/>
                    <a:pt x="2700498" y="5638721"/>
                  </a:cubicBezTo>
                  <a:cubicBezTo>
                    <a:pt x="2625744" y="5668154"/>
                    <a:pt x="2546193" y="5680936"/>
                    <a:pt x="2464126" y="5676581"/>
                  </a:cubicBezTo>
                  <a:lnTo>
                    <a:pt x="2461227" y="5676427"/>
                  </a:lnTo>
                  <a:lnTo>
                    <a:pt x="2459567" y="5678823"/>
                  </a:lnTo>
                  <a:cubicBezTo>
                    <a:pt x="2391530" y="5776945"/>
                    <a:pt x="2310214" y="5865281"/>
                    <a:pt x="2217897" y="5941399"/>
                  </a:cubicBezTo>
                  <a:cubicBezTo>
                    <a:pt x="2101004" y="6037791"/>
                    <a:pt x="1969319" y="6112424"/>
                    <a:pt x="1826529" y="6163220"/>
                  </a:cubicBezTo>
                  <a:lnTo>
                    <a:pt x="1781863" y="6179102"/>
                  </a:lnTo>
                  <a:cubicBezTo>
                    <a:pt x="1778658" y="6180228"/>
                    <a:pt x="1775149" y="6180228"/>
                    <a:pt x="1771957" y="6179076"/>
                  </a:cubicBezTo>
                  <a:lnTo>
                    <a:pt x="1727330" y="6163078"/>
                  </a:lnTo>
                  <a:cubicBezTo>
                    <a:pt x="1593346" y="6115048"/>
                    <a:pt x="1467992" y="6050779"/>
                    <a:pt x="1354714" y="5972034"/>
                  </a:cubicBezTo>
                  <a:cubicBezTo>
                    <a:pt x="1255630" y="5903152"/>
                    <a:pt x="1147243" y="5777429"/>
                    <a:pt x="1078871" y="5682740"/>
                  </a:cubicBezTo>
                  <a:lnTo>
                    <a:pt x="1077117" y="5680320"/>
                  </a:lnTo>
                  <a:lnTo>
                    <a:pt x="1074157" y="5680590"/>
                  </a:lnTo>
                  <a:cubicBezTo>
                    <a:pt x="1057398" y="5682088"/>
                    <a:pt x="1040272" y="5682845"/>
                    <a:pt x="1023356" y="5682845"/>
                  </a:cubicBezTo>
                  <a:cubicBezTo>
                    <a:pt x="923692" y="5682845"/>
                    <a:pt x="830940" y="5657510"/>
                    <a:pt x="747642" y="5607533"/>
                  </a:cubicBezTo>
                  <a:cubicBezTo>
                    <a:pt x="690923" y="5573502"/>
                    <a:pt x="553602" y="5473780"/>
                    <a:pt x="504058" y="5283236"/>
                  </a:cubicBezTo>
                  <a:cubicBezTo>
                    <a:pt x="496778" y="5255096"/>
                    <a:pt x="491777" y="5225857"/>
                    <a:pt x="489210" y="5196321"/>
                  </a:cubicBezTo>
                  <a:lnTo>
                    <a:pt x="488896" y="5192684"/>
                  </a:lnTo>
                  <a:lnTo>
                    <a:pt x="485387" y="5191710"/>
                  </a:lnTo>
                  <a:cubicBezTo>
                    <a:pt x="384675" y="5163903"/>
                    <a:pt x="295459" y="5119844"/>
                    <a:pt x="220304" y="5060774"/>
                  </a:cubicBezTo>
                  <a:cubicBezTo>
                    <a:pt x="25322" y="4907537"/>
                    <a:pt x="1283" y="4715304"/>
                    <a:pt x="0" y="4639852"/>
                  </a:cubicBezTo>
                  <a:lnTo>
                    <a:pt x="0" y="1549387"/>
                  </a:lnTo>
                  <a:cubicBezTo>
                    <a:pt x="1283" y="1473761"/>
                    <a:pt x="25322" y="1281293"/>
                    <a:pt x="220304" y="1128025"/>
                  </a:cubicBezTo>
                  <a:cubicBezTo>
                    <a:pt x="295564" y="1068870"/>
                    <a:pt x="384885" y="1024799"/>
                    <a:pt x="485754" y="996963"/>
                  </a:cubicBezTo>
                  <a:lnTo>
                    <a:pt x="489289" y="996020"/>
                  </a:lnTo>
                  <a:lnTo>
                    <a:pt x="489603" y="992381"/>
                  </a:lnTo>
                  <a:cubicBezTo>
                    <a:pt x="492038" y="963916"/>
                    <a:pt x="496778" y="935373"/>
                    <a:pt x="503613" y="907459"/>
                  </a:cubicBezTo>
                  <a:cubicBezTo>
                    <a:pt x="520686" y="837830"/>
                    <a:pt x="567952" y="706532"/>
                    <a:pt x="692363" y="609879"/>
                  </a:cubicBezTo>
                  <a:cubicBezTo>
                    <a:pt x="795327" y="529880"/>
                    <a:pt x="930421" y="493586"/>
                    <a:pt x="1072796" y="507622"/>
                  </a:cubicBezTo>
                  <a:lnTo>
                    <a:pt x="1075886" y="507936"/>
                  </a:lnTo>
                  <a:lnTo>
                    <a:pt x="1077640" y="505370"/>
                  </a:lnTo>
                  <a:cubicBezTo>
                    <a:pt x="1133809" y="423407"/>
                    <a:pt x="1199134" y="347677"/>
                    <a:pt x="1271819" y="280352"/>
                  </a:cubicBezTo>
                  <a:lnTo>
                    <a:pt x="1271821" y="280352"/>
                  </a:lnTo>
                  <a:cubicBezTo>
                    <a:pt x="1393270" y="167830"/>
                    <a:pt x="1533277" y="79687"/>
                    <a:pt x="1687915" y="18333"/>
                  </a:cubicBezTo>
                  <a:lnTo>
                    <a:pt x="1731596" y="1024"/>
                  </a:lnTo>
                  <a:cubicBezTo>
                    <a:pt x="1734762" y="-207"/>
                    <a:pt x="1738208" y="-338"/>
                    <a:pt x="1741450" y="684"/>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phic 3">
              <a:extLst>
                <a:ext uri="{FF2B5EF4-FFF2-40B4-BE49-F238E27FC236}">
                  <a16:creationId xmlns:a16="http://schemas.microsoft.com/office/drawing/2014/main" id="{68125E0B-5FC0-C968-A55C-CE048CFA938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4066571" y="77169"/>
              <a:ext cx="4058859" cy="6703663"/>
            </a:xfrm>
            <a:prstGeom prst="rect">
              <a:avLst/>
            </a:prstGeom>
          </p:spPr>
        </p:pic>
      </p:grpSp>
      <p:pic>
        <p:nvPicPr>
          <p:cNvPr id="5" name="Graphic 4">
            <a:extLst>
              <a:ext uri="{FF2B5EF4-FFF2-40B4-BE49-F238E27FC236}">
                <a16:creationId xmlns:a16="http://schemas.microsoft.com/office/drawing/2014/main" id="{0B435E9B-C863-47E7-AE8C-0DBC4BA0541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379" y="3469004"/>
            <a:ext cx="2924334" cy="3269125"/>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3195638" y="1481117"/>
            <a:ext cx="5800725" cy="3894923"/>
          </a:xfrm>
        </p:spPr>
        <p:txBody>
          <a:bodyPr bIns="0" anchor="ctr">
            <a:noAutofit/>
          </a:bodyPr>
          <a:lstStyle>
            <a:lvl1pPr algn="ctr">
              <a:lnSpc>
                <a:spcPts val="5500"/>
              </a:lnSpc>
              <a:defRPr lang="en-US" sz="4000" kern="1200" cap="all" spc="300" baseline="0" dirty="0">
                <a:solidFill>
                  <a:schemeClr val="tx1"/>
                </a:solidFill>
                <a:latin typeface="+mj-lt"/>
                <a:ea typeface="+mj-ea"/>
                <a:cs typeface="+mj-cs"/>
              </a:defRPr>
            </a:lvl1pPr>
          </a:lstStyle>
          <a:p>
            <a:r>
              <a:rPr lang="en-US"/>
              <a:t>Click to add title</a:t>
            </a:r>
          </a:p>
        </p:txBody>
      </p:sp>
    </p:spTree>
    <p:extLst>
      <p:ext uri="{BB962C8B-B14F-4D97-AF65-F5344CB8AC3E}">
        <p14:creationId xmlns:p14="http://schemas.microsoft.com/office/powerpoint/2010/main" val="1918688681"/>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Content and Image 1">
    <p:bg>
      <p:bgPr>
        <a:solidFill>
          <a:schemeClr val="accent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51CD845-5B74-921C-37CF-7B6F53344DEE}"/>
              </a:ext>
              <a:ext uri="{C183D7F6-B498-43B3-948B-1728B52AA6E4}">
                <adec:decorative xmlns:adec="http://schemas.microsoft.com/office/drawing/2017/decorative" val="1"/>
              </a:ext>
            </a:extLst>
          </p:cNvPr>
          <p:cNvSpPr/>
          <p:nvPr userDrawn="1"/>
        </p:nvSpPr>
        <p:spPr>
          <a:xfrm>
            <a:off x="6095999" y="0"/>
            <a:ext cx="6096001" cy="6858000"/>
          </a:xfrm>
          <a:prstGeom prst="rect">
            <a:avLst/>
          </a:prstGeom>
          <a:solidFill>
            <a:schemeClr val="accent1">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0" y="0"/>
            <a:ext cx="6096000" cy="2301704"/>
          </a:xfrm>
        </p:spPr>
        <p:txBody>
          <a:bodyPr vert="horz" lIns="91440" tIns="45720" rIns="91440" bIns="45720" rtlCol="0" anchor="b">
            <a:noAutofit/>
          </a:bodyPr>
          <a:lstStyle>
            <a:lvl1pPr algn="ctr">
              <a:defRPr lang="en-US" sz="3600" cap="all" spc="300" baseline="0" dirty="0">
                <a:solidFill>
                  <a:schemeClr val="tx1"/>
                </a:solidFill>
              </a:defRPr>
            </a:lvl1pPr>
          </a:lstStyle>
          <a:p>
            <a:pPr lvl="0" algn="ctr">
              <a:lnSpc>
                <a:spcPts val="4500"/>
              </a:lnSpc>
            </a:pPr>
            <a:r>
              <a:rPr lang="en-US"/>
              <a:t>Click to add title</a:t>
            </a:r>
          </a:p>
        </p:txBody>
      </p:sp>
      <p:sp>
        <p:nvSpPr>
          <p:cNvPr id="10" name="Freeform: Shape 9">
            <a:extLst>
              <a:ext uri="{FF2B5EF4-FFF2-40B4-BE49-F238E27FC236}">
                <a16:creationId xmlns:a16="http://schemas.microsoft.com/office/drawing/2014/main" id="{6B66E7C8-C046-4191-568A-7664664525A9}"/>
              </a:ext>
              <a:ext uri="{C183D7F6-B498-43B3-948B-1728B52AA6E4}">
                <adec:decorative xmlns:adec="http://schemas.microsoft.com/office/drawing/2017/decorative" val="1"/>
              </a:ext>
            </a:extLst>
          </p:cNvPr>
          <p:cNvSpPr/>
          <p:nvPr userDrawn="1"/>
        </p:nvSpPr>
        <p:spPr>
          <a:xfrm>
            <a:off x="2837121" y="2432211"/>
            <a:ext cx="421758" cy="487262"/>
          </a:xfrm>
          <a:custGeom>
            <a:avLst/>
            <a:gdLst>
              <a:gd name="connsiteX0" fmla="*/ 167432 w 167431"/>
              <a:gd name="connsiteY0" fmla="*/ 83877 h 167431"/>
              <a:gd name="connsiteX1" fmla="*/ 83555 w 167431"/>
              <a:gd name="connsiteY1" fmla="*/ 167431 h 167431"/>
              <a:gd name="connsiteX2" fmla="*/ 0 w 167431"/>
              <a:gd name="connsiteY2" fmla="*/ 83554 h 167431"/>
              <a:gd name="connsiteX3" fmla="*/ 83877 w 167431"/>
              <a:gd name="connsiteY3" fmla="*/ 0 h 167431"/>
              <a:gd name="connsiteX4" fmla="*/ 167432 w 167431"/>
              <a:gd name="connsiteY4" fmla="*/ 83877 h 167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431" h="167431">
                <a:moveTo>
                  <a:pt x="167432" y="83877"/>
                </a:moveTo>
                <a:cubicBezTo>
                  <a:pt x="89060" y="83726"/>
                  <a:pt x="83705" y="89059"/>
                  <a:pt x="83555" y="167431"/>
                </a:cubicBezTo>
                <a:cubicBezTo>
                  <a:pt x="83705" y="89059"/>
                  <a:pt x="78372" y="83705"/>
                  <a:pt x="0" y="83554"/>
                </a:cubicBezTo>
                <a:cubicBezTo>
                  <a:pt x="78372" y="83705"/>
                  <a:pt x="83727" y="78372"/>
                  <a:pt x="83877" y="0"/>
                </a:cubicBezTo>
                <a:cubicBezTo>
                  <a:pt x="83727" y="78372"/>
                  <a:pt x="89060" y="83726"/>
                  <a:pt x="167432" y="83877"/>
                </a:cubicBezTo>
                <a:close/>
              </a:path>
            </a:pathLst>
          </a:custGeom>
          <a:solidFill>
            <a:schemeClr val="accent1">
              <a:lumMod val="75000"/>
            </a:schemeClr>
          </a:solidFill>
          <a:ln w="3223"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 y="3002351"/>
            <a:ext cx="6095999" cy="2952134"/>
          </a:xfrm>
        </p:spPr>
        <p:txBody>
          <a:bodyPr>
            <a:noAutofit/>
          </a:bodyPr>
          <a:lstStyle>
            <a:lvl1pPr marL="0" indent="0" algn="ctr">
              <a:lnSpc>
                <a:spcPct val="150000"/>
              </a:lnSpc>
              <a:buFont typeface="Arial" panose="020B0604020202020204" pitchFamily="34" charset="0"/>
              <a:buNone/>
              <a:defRPr sz="2000">
                <a:solidFill>
                  <a:schemeClr val="tx1"/>
                </a:solidFill>
              </a:defRPr>
            </a:lvl1pPr>
            <a:lvl2pPr marL="457200" indent="0" algn="ctr">
              <a:lnSpc>
                <a:spcPct val="150000"/>
              </a:lnSpc>
              <a:buFont typeface="Arial" panose="020B0604020202020204" pitchFamily="34" charset="0"/>
              <a:buNone/>
              <a:defRPr sz="2000">
                <a:solidFill>
                  <a:schemeClr val="tx1"/>
                </a:solidFill>
              </a:defRPr>
            </a:lvl2pPr>
            <a:lvl3pPr marL="914400" indent="0" algn="ctr">
              <a:lnSpc>
                <a:spcPct val="150000"/>
              </a:lnSpc>
              <a:buFont typeface="Arial" panose="020B0604020202020204" pitchFamily="34" charset="0"/>
              <a:buNone/>
              <a:defRPr sz="2000">
                <a:solidFill>
                  <a:schemeClr val="tx1"/>
                </a:solidFill>
              </a:defRPr>
            </a:lvl3pPr>
            <a:lvl4pPr marL="1371600" indent="0" algn="ctr">
              <a:lnSpc>
                <a:spcPct val="150000"/>
              </a:lnSpc>
              <a:buFont typeface="Arial" panose="020B0604020202020204" pitchFamily="34" charset="0"/>
              <a:buNone/>
              <a:defRPr sz="2000">
                <a:solidFill>
                  <a:schemeClr val="tx1"/>
                </a:solidFill>
              </a:defRPr>
            </a:lvl4pPr>
            <a:lvl5pPr marL="1828800" indent="0" algn="ctr">
              <a:lnSpc>
                <a:spcPct val="150000"/>
              </a:lnSpc>
              <a:buFont typeface="Arial" panose="020B0604020202020204" pitchFamily="34" charset="0"/>
              <a:buNone/>
              <a:defRPr sz="2000">
                <a:solidFill>
                  <a:schemeClr val="tx1"/>
                </a:solidFill>
              </a:defRPr>
            </a:lvl5pPr>
          </a:lstStyle>
          <a:p>
            <a:pPr lvl="0"/>
            <a:r>
              <a:rPr lang="en-US"/>
              <a:t>Click to add content </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20713F8B-78AA-E6A3-0CCD-FDB76C374E21}"/>
              </a:ext>
            </a:extLst>
          </p:cNvPr>
          <p:cNvSpPr>
            <a:spLocks noGrp="1"/>
          </p:cNvSpPr>
          <p:nvPr>
            <p:ph type="ftr" sz="quarter" idx="11"/>
          </p:nvPr>
        </p:nvSpPr>
        <p:spPr>
          <a:xfrm>
            <a:off x="376489" y="6356350"/>
            <a:ext cx="2800099" cy="365125"/>
          </a:xfrm>
        </p:spPr>
        <p:txBody>
          <a:bodyPr/>
          <a:lstStyle>
            <a:lvl1pPr algn="l">
              <a:defRPr/>
            </a:lvl1pPr>
          </a:lstStyle>
          <a:p>
            <a:endParaRPr lang="en-US"/>
          </a:p>
        </p:txBody>
      </p:sp>
      <p:sp>
        <p:nvSpPr>
          <p:cNvPr id="4" name="Slide Number Placeholder 6">
            <a:extLst>
              <a:ext uri="{FF2B5EF4-FFF2-40B4-BE49-F238E27FC236}">
                <a16:creationId xmlns:a16="http://schemas.microsoft.com/office/drawing/2014/main" id="{470F2340-7F04-5A49-1D16-2E9409BB8A73}"/>
              </a:ext>
            </a:extLst>
          </p:cNvPr>
          <p:cNvSpPr>
            <a:spLocks noGrp="1"/>
          </p:cNvSpPr>
          <p:nvPr>
            <p:ph type="sldNum" sz="quarter" idx="12"/>
          </p:nvPr>
        </p:nvSpPr>
        <p:spPr>
          <a:xfrm>
            <a:off x="3176589" y="6356350"/>
            <a:ext cx="2532147" cy="365125"/>
          </a:xfrm>
        </p:spPr>
        <p:txBody>
          <a:bodyPr/>
          <a:lstStyle>
            <a:lvl1pPr algn="r">
              <a:defRPr>
                <a:solidFill>
                  <a:schemeClr val="tx1"/>
                </a:solidFill>
              </a:defRPr>
            </a:lvl1pPr>
          </a:lstStyle>
          <a:p>
            <a:fld id="{294A09A9-5501-47C1-A89A-A340965A2BE2}" type="slidenum">
              <a:rPr lang="en-US" smtClean="0"/>
              <a:pPr/>
              <a:t>‹#›</a:t>
            </a:fld>
            <a:endParaRPr lang="en-US"/>
          </a:p>
        </p:txBody>
      </p:sp>
      <p:sp>
        <p:nvSpPr>
          <p:cNvPr id="12" name="Picture Placeholder 9">
            <a:extLst>
              <a:ext uri="{FF2B5EF4-FFF2-40B4-BE49-F238E27FC236}">
                <a16:creationId xmlns:a16="http://schemas.microsoft.com/office/drawing/2014/main" id="{C1DD6C40-BDCA-6274-2BDC-CD28BFC462B9}"/>
              </a:ext>
            </a:extLst>
          </p:cNvPr>
          <p:cNvSpPr>
            <a:spLocks noGrp="1"/>
          </p:cNvSpPr>
          <p:nvPr>
            <p:ph type="pic" sz="quarter" idx="13"/>
          </p:nvPr>
        </p:nvSpPr>
        <p:spPr>
          <a:xfrm>
            <a:off x="7167978" y="623262"/>
            <a:ext cx="3785570" cy="5473362"/>
          </a:xfrm>
        </p:spPr>
        <p:txBody>
          <a:bodyPr/>
          <a:lstStyle>
            <a:lvl1pPr marL="0" indent="0" algn="ctr">
              <a:buNone/>
              <a:defRPr>
                <a:solidFill>
                  <a:schemeClr val="bg1"/>
                </a:solidFill>
              </a:defRPr>
            </a:lvl1pPr>
          </a:lstStyle>
          <a:p>
            <a:r>
              <a:rPr lang="en-US"/>
              <a:t>Click icon to add picture</a:t>
            </a:r>
          </a:p>
        </p:txBody>
      </p:sp>
    </p:spTree>
    <p:extLst>
      <p:ext uri="{BB962C8B-B14F-4D97-AF65-F5344CB8AC3E}">
        <p14:creationId xmlns:p14="http://schemas.microsoft.com/office/powerpoint/2010/main" val="31081011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and Chart">
    <p:bg>
      <p:bgPr>
        <a:solidFill>
          <a:schemeClr val="accent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4623498-3983-1C01-FBF4-DC6AA83FE9CB}"/>
              </a:ext>
              <a:ext uri="{C183D7F6-B498-43B3-948B-1728B52AA6E4}">
                <adec:decorative xmlns:adec="http://schemas.microsoft.com/office/drawing/2017/decorative" val="1"/>
              </a:ext>
            </a:extLst>
          </p:cNvPr>
          <p:cNvSpPr/>
          <p:nvPr userDrawn="1"/>
        </p:nvSpPr>
        <p:spPr>
          <a:xfrm>
            <a:off x="0" y="1"/>
            <a:ext cx="12192000" cy="170558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ABDA9DA7-3305-7C3B-7F12-52779289AC0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24958" b="20802"/>
          <a:stretch/>
        </p:blipFill>
        <p:spPr>
          <a:xfrm rot="16200000">
            <a:off x="9321852" y="-693689"/>
            <a:ext cx="2176466" cy="3563836"/>
          </a:xfrm>
          <a:prstGeom prst="rect">
            <a:avLst/>
          </a:prstGeom>
        </p:spPr>
      </p:pic>
      <p:sp>
        <p:nvSpPr>
          <p:cNvPr id="2" name="Title 1">
            <a:extLst>
              <a:ext uri="{FF2B5EF4-FFF2-40B4-BE49-F238E27FC236}">
                <a16:creationId xmlns:a16="http://schemas.microsoft.com/office/drawing/2014/main" id="{305BD6A3-F987-4FCC-A6EF-2EF0D33C0888}"/>
              </a:ext>
            </a:extLst>
          </p:cNvPr>
          <p:cNvSpPr>
            <a:spLocks noGrp="1"/>
          </p:cNvSpPr>
          <p:nvPr>
            <p:ph type="title" hasCustomPrompt="1"/>
          </p:nvPr>
        </p:nvSpPr>
        <p:spPr>
          <a:xfrm>
            <a:off x="837566" y="1"/>
            <a:ext cx="7842884" cy="1705585"/>
          </a:xfrm>
        </p:spPr>
        <p:txBody>
          <a:bodyPr anchor="ctr">
            <a:normAutofit/>
          </a:bodyPr>
          <a:lstStyle>
            <a:lvl1pPr algn="l" defTabSz="914400" rtl="0" eaLnBrk="1" latinLnBrk="0" hangingPunct="1">
              <a:lnSpc>
                <a:spcPct val="90000"/>
              </a:lnSpc>
              <a:spcBef>
                <a:spcPct val="0"/>
              </a:spcBef>
              <a:buNone/>
              <a:defRPr lang="en-US" sz="3200" kern="1200" cap="all" spc="150" baseline="0" dirty="0">
                <a:solidFill>
                  <a:schemeClr val="bg1"/>
                </a:solidFill>
                <a:latin typeface="+mj-lt"/>
                <a:ea typeface="+mj-ea"/>
                <a:cs typeface="+mj-cs"/>
              </a:defRPr>
            </a:lvl1pPr>
          </a:lstStyle>
          <a:p>
            <a:pPr lvl="0" algn="l" defTabSz="914400" rtl="0" eaLnBrk="1" latinLnBrk="0" hangingPunct="1">
              <a:lnSpc>
                <a:spcPct val="90000"/>
              </a:lnSpc>
              <a:spcBef>
                <a:spcPct val="0"/>
              </a:spcBef>
              <a:buNone/>
            </a:pPr>
            <a:r>
              <a:rPr lang="en-US"/>
              <a:t>Click to add title</a:t>
            </a:r>
          </a:p>
        </p:txBody>
      </p:sp>
      <p:sp>
        <p:nvSpPr>
          <p:cNvPr id="6" name="Text Placeholder 5">
            <a:extLst>
              <a:ext uri="{FF2B5EF4-FFF2-40B4-BE49-F238E27FC236}">
                <a16:creationId xmlns:a16="http://schemas.microsoft.com/office/drawing/2014/main" id="{7CE4A8B9-E7E2-490B-75BB-0F078A94C98F}"/>
              </a:ext>
            </a:extLst>
          </p:cNvPr>
          <p:cNvSpPr>
            <a:spLocks noGrp="1"/>
          </p:cNvSpPr>
          <p:nvPr>
            <p:ph type="body" sz="quarter" idx="14" hasCustomPrompt="1"/>
          </p:nvPr>
        </p:nvSpPr>
        <p:spPr>
          <a:xfrm>
            <a:off x="837566" y="2721428"/>
            <a:ext cx="5188584" cy="3199151"/>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add content </a:t>
            </a:r>
          </a:p>
          <a:p>
            <a:pPr lvl="1"/>
            <a:r>
              <a:rPr lang="en-US"/>
              <a:t>Second level</a:t>
            </a:r>
          </a:p>
          <a:p>
            <a:pPr lvl="2"/>
            <a:r>
              <a:rPr lang="en-US"/>
              <a:t>Third level</a:t>
            </a:r>
          </a:p>
          <a:p>
            <a:pPr lvl="3"/>
            <a:r>
              <a:rPr lang="en-US"/>
              <a:t>Fourth level</a:t>
            </a:r>
          </a:p>
          <a:p>
            <a:pPr lvl="4"/>
            <a:r>
              <a:rPr lang="en-US"/>
              <a:t>Fifth level</a:t>
            </a:r>
          </a:p>
        </p:txBody>
      </p:sp>
      <p:sp>
        <p:nvSpPr>
          <p:cNvPr id="10" name="Chart Placeholder 9">
            <a:extLst>
              <a:ext uri="{FF2B5EF4-FFF2-40B4-BE49-F238E27FC236}">
                <a16:creationId xmlns:a16="http://schemas.microsoft.com/office/drawing/2014/main" id="{DC7281FF-5356-4E9D-4645-025ADF2A31D3}"/>
              </a:ext>
            </a:extLst>
          </p:cNvPr>
          <p:cNvSpPr>
            <a:spLocks noGrp="1"/>
          </p:cNvSpPr>
          <p:nvPr>
            <p:ph type="chart" sz="quarter" idx="13"/>
          </p:nvPr>
        </p:nvSpPr>
        <p:spPr>
          <a:xfrm>
            <a:off x="6510070" y="2285999"/>
            <a:ext cx="4745038" cy="3634581"/>
          </a:xfrm>
        </p:spPr>
        <p:txBody>
          <a:bodyPr/>
          <a:lstStyle>
            <a:lvl1pPr marL="0" indent="0">
              <a:buNone/>
              <a:defRPr>
                <a:solidFill>
                  <a:schemeClr val="bg1"/>
                </a:solidFill>
              </a:defRPr>
            </a:lvl1pPr>
          </a:lstStyle>
          <a:p>
            <a:r>
              <a:rPr lang="en-US"/>
              <a:t>Click icon to add chart</a:t>
            </a:r>
          </a:p>
        </p:txBody>
      </p:sp>
      <p:sp>
        <p:nvSpPr>
          <p:cNvPr id="4" name="Footer Placeholder 5">
            <a:extLst>
              <a:ext uri="{FF2B5EF4-FFF2-40B4-BE49-F238E27FC236}">
                <a16:creationId xmlns:a16="http://schemas.microsoft.com/office/drawing/2014/main" id="{383D02D1-AA7A-5BA4-7FF7-D254ABEDA795}"/>
              </a:ext>
            </a:extLst>
          </p:cNvPr>
          <p:cNvSpPr>
            <a:spLocks noGrp="1"/>
          </p:cNvSpPr>
          <p:nvPr>
            <p:ph type="ftr" sz="quarter" idx="11"/>
          </p:nvPr>
        </p:nvSpPr>
        <p:spPr>
          <a:xfrm>
            <a:off x="381000" y="6356350"/>
            <a:ext cx="3200400" cy="365125"/>
          </a:xfrm>
        </p:spPr>
        <p:txBody>
          <a:bodyPr/>
          <a:lstStyle>
            <a:lvl1pPr algn="l">
              <a:defRPr>
                <a:solidFill>
                  <a:schemeClr val="accent6">
                    <a:lumMod val="20000"/>
                    <a:lumOff val="80000"/>
                  </a:schemeClr>
                </a:solidFill>
              </a:defRPr>
            </a:lvl1pPr>
          </a:lstStyle>
          <a:p>
            <a:endParaRPr lang="en-US"/>
          </a:p>
        </p:txBody>
      </p:sp>
      <p:sp>
        <p:nvSpPr>
          <p:cNvPr id="5" name="Slide Number Placeholder 6">
            <a:extLst>
              <a:ext uri="{FF2B5EF4-FFF2-40B4-BE49-F238E27FC236}">
                <a16:creationId xmlns:a16="http://schemas.microsoft.com/office/drawing/2014/main" id="{F4F8F925-B4AF-CA32-DCBD-F5B45E579D42}"/>
              </a:ext>
            </a:extLst>
          </p:cNvPr>
          <p:cNvSpPr>
            <a:spLocks noGrp="1"/>
          </p:cNvSpPr>
          <p:nvPr>
            <p:ph type="sldNum" sz="quarter" idx="12"/>
          </p:nvPr>
        </p:nvSpPr>
        <p:spPr>
          <a:xfrm>
            <a:off x="8610600" y="6356350"/>
            <a:ext cx="3200400" cy="365125"/>
          </a:xfrm>
        </p:spPr>
        <p:txBody>
          <a:bodyPr/>
          <a:lstStyle>
            <a:lvl1pPr>
              <a:defRPr>
                <a:solidFill>
                  <a:schemeClr val="accent6">
                    <a:lumMod val="20000"/>
                    <a:lumOff val="80000"/>
                  </a:schemeClr>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9467624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mparison 1">
    <p:bg>
      <p:bgPr>
        <a:solidFill>
          <a:schemeClr val="accent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A42F3D-2FF6-5956-7AC9-D66BF7919A8E}"/>
              </a:ext>
              <a:ext uri="{C183D7F6-B498-43B3-948B-1728B52AA6E4}">
                <adec:decorative xmlns:adec="http://schemas.microsoft.com/office/drawing/2017/decorative" val="1"/>
              </a:ext>
            </a:extLst>
          </p:cNvPr>
          <p:cNvSpPr/>
          <p:nvPr userDrawn="1"/>
        </p:nvSpPr>
        <p:spPr>
          <a:xfrm>
            <a:off x="0" y="1"/>
            <a:ext cx="12192000" cy="1705586"/>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Graphic 6">
            <a:extLst>
              <a:ext uri="{FF2B5EF4-FFF2-40B4-BE49-F238E27FC236}">
                <a16:creationId xmlns:a16="http://schemas.microsoft.com/office/drawing/2014/main" id="{D53CAAAD-1A9D-5E43-B2BA-03A5787B0443}"/>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20679" b="5726"/>
          <a:stretch/>
        </p:blipFill>
        <p:spPr>
          <a:xfrm rot="16200000">
            <a:off x="9283061" y="-672462"/>
            <a:ext cx="2236482" cy="3581403"/>
          </a:xfrm>
          <a:prstGeom prst="rect">
            <a:avLst/>
          </a:prstGeom>
        </p:spPr>
      </p:pic>
      <p:sp>
        <p:nvSpPr>
          <p:cNvPr id="10" name="Title 1">
            <a:extLst>
              <a:ext uri="{FF2B5EF4-FFF2-40B4-BE49-F238E27FC236}">
                <a16:creationId xmlns:a16="http://schemas.microsoft.com/office/drawing/2014/main" id="{B5486237-3FB0-DA6F-A29E-8CAEF910EF1D}"/>
              </a:ext>
            </a:extLst>
          </p:cNvPr>
          <p:cNvSpPr>
            <a:spLocks noGrp="1"/>
          </p:cNvSpPr>
          <p:nvPr>
            <p:ph type="title" hasCustomPrompt="1"/>
          </p:nvPr>
        </p:nvSpPr>
        <p:spPr>
          <a:xfrm>
            <a:off x="839788" y="0"/>
            <a:ext cx="7694612" cy="1705586"/>
          </a:xfrm>
        </p:spPr>
        <p:txBody>
          <a:bodyPr anchor="ctr">
            <a:normAutofit/>
          </a:bodyPr>
          <a:lstStyle>
            <a:lvl1pPr>
              <a:defRPr lang="en-US" sz="3200" kern="1200" cap="all" spc="150" baseline="0" dirty="0">
                <a:solidFill>
                  <a:schemeClr val="tx1"/>
                </a:solidFill>
                <a:latin typeface="+mj-lt"/>
                <a:ea typeface="+mj-ea"/>
                <a:cs typeface="+mj-cs"/>
              </a:defRPr>
            </a:lvl1pPr>
          </a:lstStyle>
          <a:p>
            <a:r>
              <a:rPr lang="en-US"/>
              <a:t>Click to add title</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hasCustomPrompt="1"/>
          </p:nvPr>
        </p:nvSpPr>
        <p:spPr>
          <a:xfrm>
            <a:off x="839788" y="2444085"/>
            <a:ext cx="5157787" cy="3609410"/>
          </a:xfrm>
        </p:spPr>
        <p:txBody>
          <a:bodyPr>
            <a:normAutofit/>
          </a:bodyPr>
          <a:lstStyle>
            <a:lvl1pPr>
              <a:spcAft>
                <a:spcPts val="600"/>
              </a:spcAft>
              <a:defRPr sz="1800">
                <a:solidFill>
                  <a:schemeClr val="tx1"/>
                </a:solidFill>
              </a:defRPr>
            </a:lvl1pPr>
            <a:lvl2pPr>
              <a:spcAft>
                <a:spcPts val="600"/>
              </a:spcAft>
              <a:defRPr sz="1800">
                <a:solidFill>
                  <a:schemeClr val="tx1"/>
                </a:solidFill>
              </a:defRPr>
            </a:lvl2pPr>
            <a:lvl3pPr>
              <a:spcAft>
                <a:spcPts val="600"/>
              </a:spcAft>
              <a:defRPr sz="1800">
                <a:solidFill>
                  <a:schemeClr val="tx1"/>
                </a:solidFill>
              </a:defRPr>
            </a:lvl3pPr>
            <a:lvl4pPr>
              <a:spcAft>
                <a:spcPts val="600"/>
              </a:spcAft>
              <a:defRPr sz="1800">
                <a:solidFill>
                  <a:schemeClr val="tx1"/>
                </a:solidFill>
              </a:defRPr>
            </a:lvl4pPr>
            <a:lvl5pPr>
              <a:spcAft>
                <a:spcPts val="600"/>
              </a:spcAft>
              <a:defRPr sz="1800">
                <a:solidFill>
                  <a:schemeClr val="tx1"/>
                </a:solidFill>
              </a:defRPr>
            </a:lvl5pPr>
          </a:lstStyle>
          <a:p>
            <a:pPr lvl="0"/>
            <a:r>
              <a:rPr lang="en-US"/>
              <a:t>Click to add content </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hasCustomPrompt="1"/>
          </p:nvPr>
        </p:nvSpPr>
        <p:spPr>
          <a:xfrm>
            <a:off x="6172200" y="2444085"/>
            <a:ext cx="5183188" cy="3609410"/>
          </a:xfrm>
        </p:spPr>
        <p:txBody>
          <a:bodyPr>
            <a:normAutofit/>
          </a:bodyPr>
          <a:lstStyle>
            <a:lvl1pPr>
              <a:spcAft>
                <a:spcPts val="600"/>
              </a:spcAft>
              <a:defRPr sz="1800">
                <a:solidFill>
                  <a:schemeClr val="tx1"/>
                </a:solidFill>
              </a:defRPr>
            </a:lvl1pPr>
            <a:lvl2pPr>
              <a:spcAft>
                <a:spcPts val="600"/>
              </a:spcAft>
              <a:defRPr sz="1800">
                <a:solidFill>
                  <a:schemeClr val="tx1"/>
                </a:solidFill>
              </a:defRPr>
            </a:lvl2pPr>
            <a:lvl3pPr>
              <a:spcAft>
                <a:spcPts val="600"/>
              </a:spcAft>
              <a:defRPr sz="1800">
                <a:solidFill>
                  <a:schemeClr val="tx1"/>
                </a:solidFill>
              </a:defRPr>
            </a:lvl3pPr>
            <a:lvl4pPr>
              <a:spcAft>
                <a:spcPts val="600"/>
              </a:spcAft>
              <a:defRPr sz="1800">
                <a:solidFill>
                  <a:schemeClr val="tx1"/>
                </a:solidFill>
              </a:defRPr>
            </a:lvl4pPr>
            <a:lvl5pPr>
              <a:spcAft>
                <a:spcPts val="600"/>
              </a:spcAft>
              <a:defRPr sz="1800">
                <a:solidFill>
                  <a:schemeClr val="tx1"/>
                </a:solidFill>
              </a:defRPr>
            </a:lvl5pPr>
          </a:lstStyle>
          <a:p>
            <a:pPr lvl="0"/>
            <a:r>
              <a:rPr lang="en-US"/>
              <a:t>Click to add content </a:t>
            </a:r>
          </a:p>
          <a:p>
            <a:pPr lvl="1"/>
            <a:r>
              <a:rPr lang="en-US"/>
              <a:t>Second level</a:t>
            </a:r>
          </a:p>
          <a:p>
            <a:pPr lvl="2"/>
            <a:r>
              <a:rPr lang="en-US"/>
              <a:t>Third level</a:t>
            </a:r>
          </a:p>
          <a:p>
            <a:pPr lvl="3"/>
            <a:r>
              <a:rPr lang="en-US"/>
              <a:t>Fourth level</a:t>
            </a:r>
          </a:p>
          <a:p>
            <a:pPr lvl="4"/>
            <a:r>
              <a:rPr lang="en-US"/>
              <a:t>Fifth level</a:t>
            </a:r>
          </a:p>
        </p:txBody>
      </p:sp>
      <p:sp>
        <p:nvSpPr>
          <p:cNvPr id="9" name="Footer Placeholder 5">
            <a:extLst>
              <a:ext uri="{FF2B5EF4-FFF2-40B4-BE49-F238E27FC236}">
                <a16:creationId xmlns:a16="http://schemas.microsoft.com/office/drawing/2014/main" id="{CBE7E2DE-9C3B-4B12-1E93-600CE3C0E56E}"/>
              </a:ext>
            </a:extLst>
          </p:cNvPr>
          <p:cNvSpPr>
            <a:spLocks noGrp="1"/>
          </p:cNvSpPr>
          <p:nvPr>
            <p:ph type="ftr" sz="quarter" idx="11"/>
          </p:nvPr>
        </p:nvSpPr>
        <p:spPr>
          <a:xfrm>
            <a:off x="381000" y="6356350"/>
            <a:ext cx="3200400" cy="365125"/>
          </a:xfrm>
        </p:spPr>
        <p:txBody>
          <a:bodyPr/>
          <a:lstStyle>
            <a:lvl1pPr algn="l">
              <a:defRPr>
                <a:solidFill>
                  <a:schemeClr val="accent4">
                    <a:lumMod val="25000"/>
                  </a:schemeClr>
                </a:solidFill>
              </a:defRPr>
            </a:lvl1pPr>
          </a:lstStyle>
          <a:p>
            <a:endParaRPr lang="en-US"/>
          </a:p>
        </p:txBody>
      </p:sp>
      <p:sp>
        <p:nvSpPr>
          <p:cNvPr id="13" name="Slide Number Placeholder 6">
            <a:extLst>
              <a:ext uri="{FF2B5EF4-FFF2-40B4-BE49-F238E27FC236}">
                <a16:creationId xmlns:a16="http://schemas.microsoft.com/office/drawing/2014/main" id="{7FBB48F9-55C0-40D1-84F1-A3C2A244FF53}"/>
              </a:ext>
            </a:extLst>
          </p:cNvPr>
          <p:cNvSpPr>
            <a:spLocks noGrp="1"/>
          </p:cNvSpPr>
          <p:nvPr>
            <p:ph type="sldNum" sz="quarter" idx="12"/>
          </p:nvPr>
        </p:nvSpPr>
        <p:spPr>
          <a:xfrm>
            <a:off x="8610600" y="6356350"/>
            <a:ext cx="3200400" cy="365125"/>
          </a:xfrm>
        </p:spPr>
        <p:txBody>
          <a:bodyPr/>
          <a:lstStyle>
            <a:lvl1pPr>
              <a:defRPr>
                <a:solidFill>
                  <a:schemeClr val="accent4">
                    <a:lumMod val="25000"/>
                  </a:schemeClr>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2140151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11273-A6FA-5EE9-63DF-0EA6D0D8BB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258D34-4BB8-F65E-9ADE-A44CF258BA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024A99-75E4-561E-7C17-2DE4C730764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986FD67-2B64-4E76-E853-F85EB814F1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4C4B9-C02E-3A30-961F-262F126C3D5E}"/>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3083829"/>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98AD-C9BF-FE3B-AA03-6EF726E27F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77A06-0D16-9BC0-9E83-DD66DBD76D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E6AC2-462D-BB0F-C937-6D35870799B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2F3C16D-C042-8EA2-25E3-67F6428040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634DA-1EE0-CEBA-3A6A-4E081A0794CD}"/>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62334729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88D86-A922-6139-027E-A0078FA1BD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12FAFA-BC78-7DE9-85CB-F0ED66D85B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DDF6E2-F217-E05A-8C49-8304CDFB796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E98B3D5-2B46-88D8-64DF-533987E84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505C8-B5D0-9B50-C794-24F9583F2078}"/>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14889358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3AD5-4835-46FF-9C9E-80F35EB94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C1F1A3-D756-A098-0CE2-348BAF852B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A824E4-F8D8-B249-D7C7-DB2D467409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19BFF6-EBCD-6943-FBED-1619963C7AF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0FA7160-33B0-47E1-CE11-8064C829D7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7639C8-0BB1-D98E-EFA1-D2D572FC43A8}"/>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991184726"/>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5B8E2-E9AB-C825-F301-F394D0D1E7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573182-5D94-4361-B783-1BBBDF3720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DE0B3E-5556-3E9A-EAB9-49BAE75693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80D3BC-31E1-1646-CA8B-3F2C2119E2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1EC58C-D60C-8FA3-74D6-0682BFC992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EF533D-A66B-46E7-CBA8-088A747AAD86}"/>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8F4EDBB-F53C-DAAC-3EEE-6351E1477C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25D0DB-D621-B9C5-D8FF-F86002E6593A}"/>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99297486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B794-84A1-2463-EA13-56F2748206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D32EA1-8126-6EB2-FFB2-C453496FAD3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3EE01BF9-F12B-751A-A062-52E7B78BDD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C09485-0BB8-FDAA-2773-2ABD045FB918}"/>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222803256"/>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B0195E-A305-A9CD-D00A-05C317746A9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52BC992-C1A2-C8A0-6E93-DD319F52F3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59E1EE-244D-1EAF-AA02-B008D6679B24}"/>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644732920"/>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8928-CCCA-20AE-AD27-5FCCDFDAB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B767F8-7DC6-3769-9453-EC61FC7BD3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D9AA35-A58F-0213-FB29-7A20EE5F49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5E9293-ED5E-5DB4-5AF3-16BAEFB378E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8BBB850-CF58-86B9-C85B-390E3EC4E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6DCA2-50DD-5BC9-C0DF-FD750BB4D52C}"/>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19300060"/>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4EFB-7DA2-218D-83F2-117A9DBC25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9E963F-E9D9-31AE-5072-295A7841DE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23B93D-94A2-5BA1-152A-D63113341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B10C7-B342-7A2C-1CFB-4E6474FB28A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1E3B2CA-FF54-5434-A01C-0FF967A28C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F29E-934F-CEFB-C08A-923A6D613FB1}"/>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369732220"/>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55055-F700-693C-9596-30716619B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3DFAF1-35A8-BA0E-E4A8-41A32A8660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91A1B6-92BB-7A32-E6CC-44A18114594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982759F-024B-D24A-836F-CD79F8079C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3292B-3390-6164-5F76-3C2EDF9FABCE}"/>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269923422"/>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CD4E41-BBD9-1804-1F64-D63DC5074B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DBEEE7-23DE-A0BF-C609-159C0B3125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D65256-8C63-403A-4113-D464D9161B3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5D8AA0B-0563-0126-F147-C2B6079F7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FB89E-AFCE-E4E8-FC2F-FD72463BE615}"/>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521019686"/>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03670587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113001023"/>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47347166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545903757"/>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0650592"/>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73841591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17681729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932817310"/>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123313941"/>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483712667"/>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351504442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Content and Image 1">
    <p:bg>
      <p:bgPr>
        <a:solidFill>
          <a:schemeClr val="accent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51CD845-5B74-921C-37CF-7B6F53344DEE}"/>
              </a:ext>
              <a:ext uri="{C183D7F6-B498-43B3-948B-1728B52AA6E4}">
                <adec:decorative xmlns:adec="http://schemas.microsoft.com/office/drawing/2017/decorative" val="1"/>
              </a:ext>
            </a:extLst>
          </p:cNvPr>
          <p:cNvSpPr/>
          <p:nvPr userDrawn="1"/>
        </p:nvSpPr>
        <p:spPr>
          <a:xfrm>
            <a:off x="6095999" y="0"/>
            <a:ext cx="6096001" cy="6858000"/>
          </a:xfrm>
          <a:prstGeom prst="rect">
            <a:avLst/>
          </a:prstGeom>
          <a:solidFill>
            <a:schemeClr val="accent1">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0" y="0"/>
            <a:ext cx="6096000" cy="2301704"/>
          </a:xfrm>
        </p:spPr>
        <p:txBody>
          <a:bodyPr vert="horz" lIns="91440" tIns="45720" rIns="91440" bIns="45720" rtlCol="0" anchor="b">
            <a:noAutofit/>
          </a:bodyPr>
          <a:lstStyle>
            <a:lvl1pPr algn="ctr">
              <a:defRPr lang="en-US" sz="3600" cap="all" spc="300" baseline="0" dirty="0">
                <a:solidFill>
                  <a:schemeClr val="tx1"/>
                </a:solidFill>
              </a:defRPr>
            </a:lvl1pPr>
          </a:lstStyle>
          <a:p>
            <a:pPr lvl="0" algn="ctr">
              <a:lnSpc>
                <a:spcPts val="4500"/>
              </a:lnSpc>
            </a:pPr>
            <a:r>
              <a:rPr lang="en-US"/>
              <a:t>Click to add title</a:t>
            </a:r>
          </a:p>
        </p:txBody>
      </p:sp>
      <p:sp>
        <p:nvSpPr>
          <p:cNvPr id="10" name="Freeform: Shape 9">
            <a:extLst>
              <a:ext uri="{FF2B5EF4-FFF2-40B4-BE49-F238E27FC236}">
                <a16:creationId xmlns:a16="http://schemas.microsoft.com/office/drawing/2014/main" id="{6B66E7C8-C046-4191-568A-7664664525A9}"/>
              </a:ext>
              <a:ext uri="{C183D7F6-B498-43B3-948B-1728B52AA6E4}">
                <adec:decorative xmlns:adec="http://schemas.microsoft.com/office/drawing/2017/decorative" val="1"/>
              </a:ext>
            </a:extLst>
          </p:cNvPr>
          <p:cNvSpPr/>
          <p:nvPr userDrawn="1"/>
        </p:nvSpPr>
        <p:spPr>
          <a:xfrm>
            <a:off x="2837121" y="2432211"/>
            <a:ext cx="421758" cy="487262"/>
          </a:xfrm>
          <a:custGeom>
            <a:avLst/>
            <a:gdLst>
              <a:gd name="connsiteX0" fmla="*/ 167432 w 167431"/>
              <a:gd name="connsiteY0" fmla="*/ 83877 h 167431"/>
              <a:gd name="connsiteX1" fmla="*/ 83555 w 167431"/>
              <a:gd name="connsiteY1" fmla="*/ 167431 h 167431"/>
              <a:gd name="connsiteX2" fmla="*/ 0 w 167431"/>
              <a:gd name="connsiteY2" fmla="*/ 83554 h 167431"/>
              <a:gd name="connsiteX3" fmla="*/ 83877 w 167431"/>
              <a:gd name="connsiteY3" fmla="*/ 0 h 167431"/>
              <a:gd name="connsiteX4" fmla="*/ 167432 w 167431"/>
              <a:gd name="connsiteY4" fmla="*/ 83877 h 167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431" h="167431">
                <a:moveTo>
                  <a:pt x="167432" y="83877"/>
                </a:moveTo>
                <a:cubicBezTo>
                  <a:pt x="89060" y="83726"/>
                  <a:pt x="83705" y="89059"/>
                  <a:pt x="83555" y="167431"/>
                </a:cubicBezTo>
                <a:cubicBezTo>
                  <a:pt x="83705" y="89059"/>
                  <a:pt x="78372" y="83705"/>
                  <a:pt x="0" y="83554"/>
                </a:cubicBezTo>
                <a:cubicBezTo>
                  <a:pt x="78372" y="83705"/>
                  <a:pt x="83727" y="78372"/>
                  <a:pt x="83877" y="0"/>
                </a:cubicBezTo>
                <a:cubicBezTo>
                  <a:pt x="83727" y="78372"/>
                  <a:pt x="89060" y="83726"/>
                  <a:pt x="167432" y="83877"/>
                </a:cubicBezTo>
                <a:close/>
              </a:path>
            </a:pathLst>
          </a:custGeom>
          <a:solidFill>
            <a:schemeClr val="accent1">
              <a:lumMod val="75000"/>
            </a:schemeClr>
          </a:solidFill>
          <a:ln w="3223"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 y="3002351"/>
            <a:ext cx="6095999" cy="2952134"/>
          </a:xfrm>
        </p:spPr>
        <p:txBody>
          <a:bodyPr>
            <a:noAutofit/>
          </a:bodyPr>
          <a:lstStyle>
            <a:lvl1pPr marL="0" indent="0" algn="ctr">
              <a:lnSpc>
                <a:spcPct val="150000"/>
              </a:lnSpc>
              <a:buFont typeface="Arial" panose="020B0604020202020204" pitchFamily="34" charset="0"/>
              <a:buNone/>
              <a:defRPr sz="2000">
                <a:solidFill>
                  <a:schemeClr val="tx1"/>
                </a:solidFill>
              </a:defRPr>
            </a:lvl1pPr>
            <a:lvl2pPr marL="457200" indent="0" algn="ctr">
              <a:lnSpc>
                <a:spcPct val="150000"/>
              </a:lnSpc>
              <a:buFont typeface="Arial" panose="020B0604020202020204" pitchFamily="34" charset="0"/>
              <a:buNone/>
              <a:defRPr sz="2000">
                <a:solidFill>
                  <a:schemeClr val="tx1"/>
                </a:solidFill>
              </a:defRPr>
            </a:lvl2pPr>
            <a:lvl3pPr marL="914400" indent="0" algn="ctr">
              <a:lnSpc>
                <a:spcPct val="150000"/>
              </a:lnSpc>
              <a:buFont typeface="Arial" panose="020B0604020202020204" pitchFamily="34" charset="0"/>
              <a:buNone/>
              <a:defRPr sz="2000">
                <a:solidFill>
                  <a:schemeClr val="tx1"/>
                </a:solidFill>
              </a:defRPr>
            </a:lvl3pPr>
            <a:lvl4pPr marL="1371600" indent="0" algn="ctr">
              <a:lnSpc>
                <a:spcPct val="150000"/>
              </a:lnSpc>
              <a:buFont typeface="Arial" panose="020B0604020202020204" pitchFamily="34" charset="0"/>
              <a:buNone/>
              <a:defRPr sz="2000">
                <a:solidFill>
                  <a:schemeClr val="tx1"/>
                </a:solidFill>
              </a:defRPr>
            </a:lvl4pPr>
            <a:lvl5pPr marL="1828800" indent="0" algn="ctr">
              <a:lnSpc>
                <a:spcPct val="150000"/>
              </a:lnSpc>
              <a:buFont typeface="Arial" panose="020B0604020202020204" pitchFamily="34" charset="0"/>
              <a:buNone/>
              <a:defRPr sz="2000">
                <a:solidFill>
                  <a:schemeClr val="tx1"/>
                </a:solidFill>
              </a:defRPr>
            </a:lvl5pPr>
          </a:lstStyle>
          <a:p>
            <a:pPr lvl="0"/>
            <a:r>
              <a:rPr lang="en-US"/>
              <a:t>Click to add content </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20713F8B-78AA-E6A3-0CCD-FDB76C374E21}"/>
              </a:ext>
            </a:extLst>
          </p:cNvPr>
          <p:cNvSpPr>
            <a:spLocks noGrp="1"/>
          </p:cNvSpPr>
          <p:nvPr>
            <p:ph type="ftr" sz="quarter" idx="11"/>
          </p:nvPr>
        </p:nvSpPr>
        <p:spPr>
          <a:xfrm>
            <a:off x="376489" y="6356350"/>
            <a:ext cx="2800099" cy="365125"/>
          </a:xfrm>
        </p:spPr>
        <p:txBody>
          <a:bodyPr/>
          <a:lstStyle>
            <a:lvl1pPr algn="l">
              <a:defRPr/>
            </a:lvl1pPr>
          </a:lstStyle>
          <a:p>
            <a:endParaRPr lang="en-US"/>
          </a:p>
        </p:txBody>
      </p:sp>
      <p:sp>
        <p:nvSpPr>
          <p:cNvPr id="4" name="Slide Number Placeholder 6">
            <a:extLst>
              <a:ext uri="{FF2B5EF4-FFF2-40B4-BE49-F238E27FC236}">
                <a16:creationId xmlns:a16="http://schemas.microsoft.com/office/drawing/2014/main" id="{470F2340-7F04-5A49-1D16-2E9409BB8A73}"/>
              </a:ext>
            </a:extLst>
          </p:cNvPr>
          <p:cNvSpPr>
            <a:spLocks noGrp="1"/>
          </p:cNvSpPr>
          <p:nvPr>
            <p:ph type="sldNum" sz="quarter" idx="12"/>
          </p:nvPr>
        </p:nvSpPr>
        <p:spPr>
          <a:xfrm>
            <a:off x="3176589" y="6356350"/>
            <a:ext cx="2532147" cy="365125"/>
          </a:xfrm>
        </p:spPr>
        <p:txBody>
          <a:bodyPr/>
          <a:lstStyle>
            <a:lvl1pPr algn="r">
              <a:defRPr>
                <a:solidFill>
                  <a:schemeClr val="tx1"/>
                </a:solidFill>
              </a:defRPr>
            </a:lvl1pPr>
          </a:lstStyle>
          <a:p>
            <a:fld id="{294A09A9-5501-47C1-A89A-A340965A2BE2}" type="slidenum">
              <a:rPr lang="en-US" smtClean="0"/>
              <a:pPr/>
              <a:t>‹#›</a:t>
            </a:fld>
            <a:endParaRPr lang="en-US"/>
          </a:p>
        </p:txBody>
      </p:sp>
      <p:sp>
        <p:nvSpPr>
          <p:cNvPr id="12" name="Picture Placeholder 9">
            <a:extLst>
              <a:ext uri="{FF2B5EF4-FFF2-40B4-BE49-F238E27FC236}">
                <a16:creationId xmlns:a16="http://schemas.microsoft.com/office/drawing/2014/main" id="{C1DD6C40-BDCA-6274-2BDC-CD28BFC462B9}"/>
              </a:ext>
            </a:extLst>
          </p:cNvPr>
          <p:cNvSpPr>
            <a:spLocks noGrp="1"/>
          </p:cNvSpPr>
          <p:nvPr>
            <p:ph type="pic" sz="quarter" idx="13"/>
          </p:nvPr>
        </p:nvSpPr>
        <p:spPr>
          <a:xfrm>
            <a:off x="7167978" y="623262"/>
            <a:ext cx="3785570" cy="5473362"/>
          </a:xfrm>
        </p:spPr>
        <p:txBody>
          <a:bodyPr/>
          <a:lstStyle>
            <a:lvl1pPr marL="0" indent="0" algn="ctr">
              <a:buNone/>
              <a:defRPr>
                <a:solidFill>
                  <a:schemeClr val="bg1"/>
                </a:solidFill>
              </a:defRPr>
            </a:lvl1pPr>
          </a:lstStyle>
          <a:p>
            <a:r>
              <a:rPr lang="en-US"/>
              <a:t>Click icon to add picture</a:t>
            </a:r>
          </a:p>
        </p:txBody>
      </p:sp>
    </p:spTree>
    <p:extLst>
      <p:ext uri="{BB962C8B-B14F-4D97-AF65-F5344CB8AC3E}">
        <p14:creationId xmlns:p14="http://schemas.microsoft.com/office/powerpoint/2010/main" val="218132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045794868"/>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46D50B-F5AC-8A94-5621-24CEB65790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528C2A-65C8-1D0A-FC11-D62882AD48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EAC85-69F9-76B1-E7C8-0A46233F4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5A05766C-5019-61BA-4726-D46534858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34C274-F586-165B-FE62-6C83DB1ED9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86536565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562559651"/>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hyperlink" Target="https://mermaid.ai/d/886b09e0-8e60-4adf-b16a-a6961861120b" TargetMode="External"/><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11.png"/><Relationship Id="rId4" Type="http://schemas.openxmlformats.org/officeDocument/2006/relationships/hyperlink" Target="https://miro.com/app/board/uXjVHBkb8Z4=/?share_link_id=138135549011"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normAutofit fontScale="90000"/>
          </a:bodyPr>
          <a:lstStyle/>
          <a:p>
            <a:br>
              <a:rPr lang="en-US" b="1"/>
            </a:br>
            <a:r>
              <a:rPr lang="en-US" b="1"/>
              <a:t>Assignment 3B: AI-Enabled Workflow for Project Helio-Twin</a:t>
            </a:r>
            <a:br>
              <a:rPr lang="en-US" b="1"/>
            </a:br>
            <a:endParaRPr lang="en-US"/>
          </a:p>
        </p:txBody>
      </p:sp>
      <p:sp>
        <p:nvSpPr>
          <p:cNvPr id="3" name="Title 1">
            <a:extLst>
              <a:ext uri="{FF2B5EF4-FFF2-40B4-BE49-F238E27FC236}">
                <a16:creationId xmlns:a16="http://schemas.microsoft.com/office/drawing/2014/main" id="{CAE1F49A-F6F6-414D-EB5A-B387DFA472A8}"/>
              </a:ext>
            </a:extLst>
          </p:cNvPr>
          <p:cNvSpPr txBox="1">
            <a:spLocks/>
          </p:cNvSpPr>
          <p:nvPr/>
        </p:nvSpPr>
        <p:spPr>
          <a:xfrm>
            <a:off x="2616518" y="5557520"/>
            <a:ext cx="7980362" cy="822960"/>
          </a:xfrm>
          <a:prstGeom prst="rect">
            <a:avLst/>
          </a:prstGeom>
        </p:spPr>
        <p:txBody>
          <a:bodyPr vert="horz" lIns="91440" tIns="45720" rIns="91440" bIns="0" rtlCol="0" anchor="ctr">
            <a:normAutofit fontScale="97500"/>
          </a:bodyPr>
          <a:lstStyle>
            <a:lvl1pPr algn="ctr" defTabSz="914400" rtl="0" eaLnBrk="1" latinLnBrk="0" hangingPunct="1">
              <a:lnSpc>
                <a:spcPts val="5500"/>
              </a:lnSpc>
              <a:spcBef>
                <a:spcPct val="0"/>
              </a:spcBef>
              <a:buNone/>
              <a:defRPr lang="en-US" sz="4000" kern="1200" cap="all" spc="300" baseline="0" dirty="0">
                <a:solidFill>
                  <a:schemeClr val="tx1"/>
                </a:solidFill>
                <a:latin typeface="+mj-lt"/>
                <a:ea typeface="+mj-ea"/>
                <a:cs typeface="+mj-cs"/>
              </a:defRPr>
            </a:lvl1pPr>
          </a:lstStyle>
          <a:p>
            <a:r>
              <a:rPr lang="en-US" b="1"/>
              <a:t>BY – Satvik Shrivastava</a:t>
            </a:r>
            <a:endParaRPr lang="en-US"/>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3919788" y="115410"/>
            <a:ext cx="8128414" cy="1152667"/>
          </a:xfrm>
        </p:spPr>
        <p:txBody>
          <a:bodyPr/>
          <a:lstStyle/>
          <a:p>
            <a:r>
              <a:rPr lang="en-US" sz="3200" b="1"/>
              <a:t>01. Identify the AI Use Case</a:t>
            </a:r>
            <a:br>
              <a:rPr lang="en-US" sz="3200" b="1"/>
            </a:br>
            <a:endParaRPr lang="en-US" sz="320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43798" y="1268077"/>
            <a:ext cx="7368970" cy="5356243"/>
          </a:xfrm>
        </p:spPr>
        <p:txBody>
          <a:bodyPr vert="horz" lIns="91440" tIns="45720" rIns="91440" bIns="45720" rtlCol="0" anchor="t">
            <a:normAutofit fontScale="62500" lnSpcReduction="20000"/>
          </a:bodyPr>
          <a:lstStyle/>
          <a:p>
            <a:pPr algn="l"/>
            <a:r>
              <a:rPr lang="en-US" sz="2600" b="1" i="1"/>
              <a:t>Where in your system can AI be applied?</a:t>
            </a:r>
            <a:br>
              <a:rPr lang="en-US" sz="2600" i="1"/>
            </a:br>
            <a:r>
              <a:rPr lang="en-US" sz="2600"/>
              <a:t>The AI operates as a </a:t>
            </a:r>
            <a:r>
              <a:rPr lang="en-US" sz="2600" b="1"/>
              <a:t>"System of Systems"</a:t>
            </a:r>
            <a:r>
              <a:rPr lang="en-US" sz="2600"/>
              <a:t> across three distinct layers:</a:t>
            </a:r>
          </a:p>
          <a:p>
            <a:pPr lvl="1" algn="l"/>
            <a:r>
              <a:rPr lang="en-US" sz="2600" b="1"/>
              <a:t>The Edge Layer (Hardware):</a:t>
            </a:r>
            <a:r>
              <a:rPr lang="en-US" sz="2600"/>
              <a:t> Directly on the solar inverter gateway.</a:t>
            </a:r>
          </a:p>
          <a:p>
            <a:pPr lvl="1" algn="l"/>
            <a:r>
              <a:rPr lang="en-US" sz="2600" b="1"/>
              <a:t>The Cloud Layer (Analytics):</a:t>
            </a:r>
            <a:r>
              <a:rPr lang="en-US" sz="2600"/>
              <a:t> In the central data repository.</a:t>
            </a:r>
          </a:p>
          <a:p>
            <a:pPr lvl="1" algn="l"/>
            <a:r>
              <a:rPr lang="en-US" sz="2600" b="1"/>
              <a:t>The Interface Layer (Human):</a:t>
            </a:r>
            <a:r>
              <a:rPr lang="en-US" sz="2600"/>
              <a:t> Between the raw data and the campus maintenance staff.</a:t>
            </a:r>
          </a:p>
          <a:p>
            <a:pPr algn="l"/>
            <a:r>
              <a:rPr lang="en-US" sz="2600" b="1"/>
              <a:t>What problem will AI solve there?</a:t>
            </a:r>
            <a:br>
              <a:rPr lang="en-US" sz="2600"/>
            </a:br>
            <a:r>
              <a:rPr lang="en-US" sz="2600"/>
              <a:t>Traditional solar monitoring (SCADA) relies on "static thresholds" (e.g., an alarm sounds if power drops below 10kW). This is deeply flawed. At 8:00 AM, 10kW is normal; at 1:00 PM, 10kW is a catastrophic failure.</a:t>
            </a:r>
            <a:br>
              <a:rPr lang="en-US" sz="2600"/>
            </a:br>
            <a:r>
              <a:rPr lang="en-US" sz="2600"/>
              <a:t>AI solves this by providing </a:t>
            </a:r>
            <a:r>
              <a:rPr lang="en-US" sz="2600" b="1"/>
              <a:t>Contextual Intelligence</a:t>
            </a:r>
            <a:r>
              <a:rPr lang="en-US" sz="2600"/>
              <a:t>. It correlates real-time power output with live solar irradiance, temperature, and historical data to know exactly what the power </a:t>
            </a:r>
            <a:r>
              <a:rPr lang="en-US" sz="2600" i="1"/>
              <a:t>should</a:t>
            </a:r>
            <a:r>
              <a:rPr lang="en-US" sz="2600"/>
              <a:t> be at any given second. It eliminates the "Ghost Generation" blind spots and prevents "Alarm Fatigue" (where staff ignore alerts because there are too many false positives).</a:t>
            </a:r>
          </a:p>
          <a:p>
            <a:endParaRPr lang="en-US"/>
          </a:p>
        </p:txBody>
      </p:sp>
      <p:pic>
        <p:nvPicPr>
          <p:cNvPr id="16" name="Picture Placeholder 15" descr="A palm tree with stars and a blue background">
            <a:extLst>
              <a:ext uri="{FF2B5EF4-FFF2-40B4-BE49-F238E27FC236}">
                <a16:creationId xmlns:a16="http://schemas.microsoft.com/office/drawing/2014/main" id="{E19DD59C-F370-2E9A-C3EA-007B712D71A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7" r="7"/>
          <a:stretch/>
        </p:blipFill>
        <p:spPr>
          <a:xfrm>
            <a:off x="7512768" y="1356853"/>
            <a:ext cx="3236652" cy="4679709"/>
          </a:xfrm>
        </p:spPr>
      </p:pic>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8859A18-AC8F-E29F-9449-37DA29B2EE1E}"/>
                  </a:ext>
                </a:extLst>
              </p:cNvPr>
              <p:cNvSpPr txBox="1"/>
              <p:nvPr/>
            </p:nvSpPr>
            <p:spPr>
              <a:xfrm>
                <a:off x="259080" y="94176"/>
                <a:ext cx="11673839" cy="7300525"/>
              </a:xfrm>
              <a:prstGeom prst="rect">
                <a:avLst/>
              </a:prstGeom>
              <a:noFill/>
            </p:spPr>
            <p:txBody>
              <a:bodyPr wrap="square" rtlCol="0">
                <a:spAutoFit/>
              </a:bodyPr>
              <a:lstStyle/>
              <a:p>
                <a:r>
                  <a:rPr lang="en-US">
                    <a:highlight>
                      <a:srgbClr val="00FF00"/>
                    </a:highlight>
                  </a:rPr>
                  <a:t>SUMMARY :</a:t>
                </a:r>
                <a:br>
                  <a:rPr lang="en-US">
                    <a:highlight>
                      <a:srgbClr val="00FF00"/>
                    </a:highlight>
                  </a:rPr>
                </a:br>
                <a:endParaRPr lang="en-US">
                  <a:highlight>
                    <a:srgbClr val="00FF00"/>
                  </a:highlight>
                </a:endParaRPr>
              </a:p>
              <a:p>
                <a:r>
                  <a:rPr lang="en-US"/>
                  <a:t>The AI operates at three critical intersections: the physical hardware (</a:t>
                </a:r>
                <a:r>
                  <a:rPr lang="en-US" b="1"/>
                  <a:t>Edge Layer</a:t>
                </a:r>
                <a:r>
                  <a:rPr lang="en-US"/>
                  <a:t>), the Cloud Decision Engine, and the End-User Interface (</a:t>
                </a:r>
                <a:r>
                  <a:rPr lang="en-US" b="1"/>
                  <a:t>WhatsApp GenAI Layer</a:t>
                </a:r>
                <a:r>
                  <a:rPr lang="en-US"/>
                  <a:t>).</a:t>
                </a:r>
              </a:p>
              <a:p>
                <a:endParaRPr lang="en-US"/>
              </a:p>
              <a:p>
                <a:pPr lvl="1"/>
                <a:r>
                  <a:rPr lang="en-US" b="1"/>
                  <a:t>"Ghost Generation" &amp; False Alarms:</a:t>
                </a:r>
                <a:r>
                  <a:rPr lang="en-US"/>
                  <a:t> It contextualizes power output with real-time weather to detect invisible inverter trips and soiling degradation without relying on static, error-prone thresholds.</a:t>
                </a:r>
              </a:p>
              <a:p>
                <a:pPr lvl="1"/>
                <a:r>
                  <a:rPr lang="en-US" b="1"/>
                  <a:t>Climate Resilience (Wi-Fi Outages):</a:t>
                </a:r>
                <a:r>
                  <a:rPr lang="en-US"/>
                  <a:t> Traditional cloud-AI fails during extreme weather. Our Edge AI ensures the system survives local internet blackouts.</a:t>
                </a:r>
              </a:p>
              <a:p>
                <a:pPr lvl="1"/>
                <a:r>
                  <a:rPr lang="en-US" b="1"/>
                  <a:t>The Digital Divide:</a:t>
                </a:r>
                <a:r>
                  <a:rPr lang="en-US"/>
                  <a:t> Complex dashboards are useless to non-technical ground staff. AI bridges this gap by turning raw data into conversational, prescriptive actions in native languages.</a:t>
                </a:r>
              </a:p>
              <a:p>
                <a:pPr lvl="1"/>
                <a:endParaRPr lang="en-US"/>
              </a:p>
              <a:p>
                <a:pPr lvl="1"/>
                <a:r>
                  <a:rPr lang="en-US" b="1">
                    <a:latin typeface="Arial Rounded MT Bold" panose="020F0704030504030204" pitchFamily="34" charset="0"/>
                  </a:rPr>
                  <a:t>02 – DEFINE INPUT AND OUTPUT :</a:t>
                </a:r>
              </a:p>
              <a:p>
                <a:pPr lvl="1"/>
                <a:endParaRPr lang="en-US" b="1">
                  <a:latin typeface="Arial Rounded MT Bold" panose="020F0704030504030204" pitchFamily="34" charset="0"/>
                </a:endParaRPr>
              </a:p>
              <a:p>
                <a:r>
                  <a:rPr lang="en-US" b="1"/>
                  <a:t>Input (What goes in):</a:t>
                </a:r>
                <a:endParaRPr lang="en-US"/>
              </a:p>
              <a:p>
                <a:pPr lvl="1"/>
                <a:r>
                  <a:rPr lang="en-US" i="1"/>
                  <a:t>Live Hardware Telemetry:</a:t>
                </a:r>
                <a:r>
                  <a:rPr lang="en-US"/>
                  <a:t> High-frequency String Voltage (V), Current (I), and Power Output (kWh) via RS485.</a:t>
                </a:r>
              </a:p>
              <a:p>
                <a:pPr lvl="1"/>
                <a:r>
                  <a:rPr lang="en-US" i="1"/>
                  <a:t>Environmental &amp; Meteorological Context:</a:t>
                </a:r>
                <a:r>
                  <a:rPr lang="en-US"/>
                  <a:t> Real-time irradiance (</a:t>
                </a:r>
                <a14:m>
                  <m:oMath xmlns:m="http://schemas.openxmlformats.org/officeDocument/2006/math">
                    <m:r>
                      <a:rPr lang="en-US" i="1">
                        <a:latin typeface="Cambria Math" panose="02040503050406030204" pitchFamily="18" charset="0"/>
                      </a:rPr>
                      <m:t>𝑊</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a:latin typeface="Cambria Math" panose="02040503050406030204" pitchFamily="18" charset="0"/>
                          </a:rPr>
                          <m:t>2</m:t>
                        </m:r>
                      </m:sup>
                    </m:sSup>
                  </m:oMath>
                </a14:m>
                <a:r>
                  <a:rPr lang="en-US"/>
                  <a:t>) and 48-hour local Jabalpur weather forecasts.</a:t>
                </a:r>
              </a:p>
              <a:p>
                <a:pPr lvl="1"/>
                <a:r>
                  <a:rPr lang="en-US" i="1"/>
                  <a:t>Human Feedback (HITL):</a:t>
                </a:r>
                <a:r>
                  <a:rPr lang="en-US"/>
                  <a:t> Button clicks from ground staff ("Issue Fixed" or "False Alarm").</a:t>
                </a:r>
              </a:p>
              <a:p>
                <a:pPr lvl="1"/>
                <a:endParaRPr lang="en-US"/>
              </a:p>
              <a:p>
                <a:r>
                  <a:rPr lang="en-US" b="1"/>
                  <a:t>Output (What comes out):</a:t>
                </a:r>
                <a:endParaRPr lang="en-US"/>
              </a:p>
              <a:p>
                <a:pPr lvl="1"/>
                <a:r>
                  <a:rPr lang="en-US" i="1"/>
                  <a:t>Conversational Alerts:</a:t>
                </a:r>
                <a:r>
                  <a:rPr lang="en-US"/>
                  <a:t> Natural-language WhatsApp messages (e.g., in Hindi/English).</a:t>
                </a:r>
              </a:p>
              <a:p>
                <a:pPr lvl="1"/>
                <a:r>
                  <a:rPr lang="en-US" i="1"/>
                  <a:t>Dynamic ROI Gate Output:</a:t>
                </a:r>
                <a:r>
                  <a:rPr lang="en-US"/>
                  <a:t> Financial cost-benefit calculations (e.g., "Expected Revenue Recovery: ₹2,000").</a:t>
                </a:r>
              </a:p>
              <a:p>
                <a:pPr lvl="1"/>
                <a:r>
                  <a:rPr lang="en-US" i="1"/>
                  <a:t>Offline Hardware Triggers:</a:t>
                </a:r>
                <a:r>
                  <a:rPr lang="en-US"/>
                  <a:t> Localized buzzer/LED activation during internet blackouts.</a:t>
                </a:r>
              </a:p>
              <a:p>
                <a:pPr lvl="1"/>
                <a:endParaRPr lang="en-US"/>
              </a:p>
              <a:p>
                <a:endParaRPr lang="en-US"/>
              </a:p>
            </p:txBody>
          </p:sp>
        </mc:Choice>
        <mc:Fallback xmlns="">
          <p:sp>
            <p:nvSpPr>
              <p:cNvPr id="2" name="TextBox 1">
                <a:extLst>
                  <a:ext uri="{FF2B5EF4-FFF2-40B4-BE49-F238E27FC236}">
                    <a16:creationId xmlns:a16="http://schemas.microsoft.com/office/drawing/2014/main" id="{48859A18-AC8F-E29F-9449-37DA29B2EE1E}"/>
                  </a:ext>
                </a:extLst>
              </p:cNvPr>
              <p:cNvSpPr txBox="1">
                <a:spLocks noRot="1" noChangeAspect="1" noMove="1" noResize="1" noEditPoints="1" noAdjustHandles="1" noChangeArrowheads="1" noChangeShapeType="1" noTextEdit="1"/>
              </p:cNvSpPr>
              <p:nvPr/>
            </p:nvSpPr>
            <p:spPr>
              <a:xfrm>
                <a:off x="259080" y="94176"/>
                <a:ext cx="11673839" cy="7300525"/>
              </a:xfrm>
              <a:prstGeom prst="rect">
                <a:avLst/>
              </a:prstGeom>
              <a:blipFill>
                <a:blip r:embed="rId2"/>
                <a:stretch>
                  <a:fillRect l="-470" t="-334" r="-470"/>
                </a:stretch>
              </a:blipFill>
            </p:spPr>
            <p:txBody>
              <a:bodyPr/>
              <a:lstStyle/>
              <a:p>
                <a:r>
                  <a:rPr lang="en-US">
                    <a:noFill/>
                  </a:rPr>
                  <a:t> </a:t>
                </a:r>
              </a:p>
            </p:txBody>
          </p:sp>
        </mc:Fallback>
      </mc:AlternateContent>
    </p:spTree>
    <p:extLst>
      <p:ext uri="{BB962C8B-B14F-4D97-AF65-F5344CB8AC3E}">
        <p14:creationId xmlns:p14="http://schemas.microsoft.com/office/powerpoint/2010/main" val="996377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5E2E3E-148D-4BE4-88A4-447C4BC35E68}"/>
              </a:ext>
            </a:extLst>
          </p:cNvPr>
          <p:cNvSpPr>
            <a:spLocks noGrp="1"/>
          </p:cNvSpPr>
          <p:nvPr>
            <p:ph type="title"/>
          </p:nvPr>
        </p:nvSpPr>
        <p:spPr>
          <a:xfrm>
            <a:off x="951866" y="468711"/>
            <a:ext cx="7842884" cy="937420"/>
          </a:xfrm>
        </p:spPr>
        <p:txBody>
          <a:bodyPr anchor="ctr">
            <a:normAutofit fontScale="90000"/>
          </a:bodyPr>
          <a:lstStyle/>
          <a:p>
            <a:r>
              <a:rPr lang="en-US" b="1">
                <a:solidFill>
                  <a:schemeClr val="accent3">
                    <a:lumMod val="40000"/>
                    <a:lumOff val="60000"/>
                  </a:schemeClr>
                </a:solidFill>
              </a:rPr>
              <a:t>02. Define Input and Output (With Data Structures)</a:t>
            </a:r>
            <a:br>
              <a:rPr lang="en-US" b="1">
                <a:solidFill>
                  <a:schemeClr val="accent3">
                    <a:lumMod val="40000"/>
                    <a:lumOff val="60000"/>
                  </a:schemeClr>
                </a:solidFill>
              </a:rPr>
            </a:br>
            <a:endParaRPr lang="en-US">
              <a:solidFill>
                <a:schemeClr val="accent3">
                  <a:lumMod val="40000"/>
                  <a:lumOff val="60000"/>
                </a:schemeClr>
              </a:solidFill>
            </a:endParaRPr>
          </a:p>
        </p:txBody>
      </p:sp>
      <p:sp>
        <p:nvSpPr>
          <p:cNvPr id="5" name="Text Placeholder 4">
            <a:extLst>
              <a:ext uri="{FF2B5EF4-FFF2-40B4-BE49-F238E27FC236}">
                <a16:creationId xmlns:a16="http://schemas.microsoft.com/office/drawing/2014/main" id="{4AB8A093-0C1B-E9F3-A21C-3AEF6EDFF49A}"/>
              </a:ext>
            </a:extLst>
          </p:cNvPr>
          <p:cNvSpPr>
            <a:spLocks noGrp="1"/>
          </p:cNvSpPr>
          <p:nvPr>
            <p:ph type="body" sz="quarter" idx="14"/>
          </p:nvPr>
        </p:nvSpPr>
        <p:spPr>
          <a:xfrm>
            <a:off x="0" y="2090056"/>
            <a:ext cx="12192000" cy="4767943"/>
          </a:xfrm>
        </p:spPr>
        <p:txBody>
          <a:bodyPr>
            <a:normAutofit/>
          </a:bodyPr>
          <a:lstStyle/>
          <a:p>
            <a:r>
              <a:rPr lang="en-US" b="1">
                <a:solidFill>
                  <a:schemeClr val="tx1"/>
                </a:solidFill>
              </a:rPr>
              <a:t>Inputs (What goes into the AI):</a:t>
            </a:r>
            <a:endParaRPr lang="en-US">
              <a:solidFill>
                <a:schemeClr val="tx1"/>
              </a:solidFill>
            </a:endParaRPr>
          </a:p>
          <a:p>
            <a:pPr lvl="1"/>
            <a:r>
              <a:rPr lang="en-US" b="1">
                <a:highlight>
                  <a:srgbClr val="00FF00"/>
                </a:highlight>
              </a:rPr>
              <a:t>Hardware Telemetry:</a:t>
            </a:r>
            <a:r>
              <a:rPr lang="en-US">
                <a:highlight>
                  <a:srgbClr val="00FF00"/>
                </a:highlight>
              </a:rPr>
              <a:t> {"timestamp": "2026-06-25T13:00:00", "</a:t>
            </a:r>
            <a:r>
              <a:rPr lang="en-US" err="1">
                <a:highlight>
                  <a:srgbClr val="00FF00"/>
                </a:highlight>
              </a:rPr>
              <a:t>inverter_id</a:t>
            </a:r>
            <a:r>
              <a:rPr lang="en-US">
                <a:highlight>
                  <a:srgbClr val="00FF00"/>
                </a:highlight>
              </a:rPr>
              <a:t>": 2, "</a:t>
            </a:r>
            <a:r>
              <a:rPr lang="en-US" err="1">
                <a:highlight>
                  <a:srgbClr val="00FF00"/>
                </a:highlight>
              </a:rPr>
              <a:t>voltage_V</a:t>
            </a:r>
            <a:r>
              <a:rPr lang="en-US">
                <a:highlight>
                  <a:srgbClr val="00FF00"/>
                </a:highlight>
              </a:rPr>
              <a:t>": 620, "</a:t>
            </a:r>
            <a:r>
              <a:rPr lang="en-US" err="1">
                <a:highlight>
                  <a:srgbClr val="00FF00"/>
                </a:highlight>
              </a:rPr>
              <a:t>current_A</a:t>
            </a:r>
            <a:r>
              <a:rPr lang="en-US">
                <a:highlight>
                  <a:srgbClr val="00FF00"/>
                </a:highlight>
              </a:rPr>
              <a:t>": 0, "</a:t>
            </a:r>
            <a:r>
              <a:rPr lang="en-US" err="1">
                <a:highlight>
                  <a:srgbClr val="00FF00"/>
                </a:highlight>
              </a:rPr>
              <a:t>power_kW</a:t>
            </a:r>
            <a:r>
              <a:rPr lang="en-US">
                <a:highlight>
                  <a:srgbClr val="00FF00"/>
                </a:highlight>
              </a:rPr>
              <a:t>": 0}</a:t>
            </a:r>
          </a:p>
          <a:p>
            <a:pPr lvl="1"/>
            <a:r>
              <a:rPr lang="en-US" b="1">
                <a:highlight>
                  <a:srgbClr val="00FF00"/>
                </a:highlight>
              </a:rPr>
              <a:t>Environmental Context:</a:t>
            </a:r>
            <a:r>
              <a:rPr lang="en-US">
                <a:highlight>
                  <a:srgbClr val="00FF00"/>
                </a:highlight>
              </a:rPr>
              <a:t> {"irradiance_W_m2": 850, "</a:t>
            </a:r>
            <a:r>
              <a:rPr lang="en-US" err="1">
                <a:highlight>
                  <a:srgbClr val="00FF00"/>
                </a:highlight>
              </a:rPr>
              <a:t>panel_temp_C</a:t>
            </a:r>
            <a:r>
              <a:rPr lang="en-US">
                <a:highlight>
                  <a:srgbClr val="00FF00"/>
                </a:highlight>
              </a:rPr>
              <a:t>": 42, "humidity": 65}</a:t>
            </a:r>
          </a:p>
          <a:p>
            <a:pPr lvl="1"/>
            <a:r>
              <a:rPr lang="en-US" b="1">
                <a:highlight>
                  <a:srgbClr val="00FF00"/>
                </a:highlight>
              </a:rPr>
              <a:t>Weather Forecast API:</a:t>
            </a:r>
            <a:r>
              <a:rPr lang="en-US">
                <a:highlight>
                  <a:srgbClr val="00FF00"/>
                </a:highlight>
              </a:rPr>
              <a:t> {"jabalpur_forecast_24h": "Heavy Monsoon Rain"}</a:t>
            </a:r>
          </a:p>
          <a:p>
            <a:pPr lvl="1"/>
            <a:r>
              <a:rPr lang="en-US" b="1">
                <a:highlight>
                  <a:srgbClr val="00FF00"/>
                </a:highlight>
              </a:rPr>
              <a:t>Human Feedback (HITL):</a:t>
            </a:r>
            <a:r>
              <a:rPr lang="en-US">
                <a:highlight>
                  <a:srgbClr val="00FF00"/>
                </a:highlight>
              </a:rPr>
              <a:t> {"</a:t>
            </a:r>
            <a:r>
              <a:rPr lang="en-US" err="1">
                <a:highlight>
                  <a:srgbClr val="00FF00"/>
                </a:highlight>
              </a:rPr>
              <a:t>alert_id</a:t>
            </a:r>
            <a:r>
              <a:rPr lang="en-US">
                <a:highlight>
                  <a:srgbClr val="00FF00"/>
                </a:highlight>
              </a:rPr>
              <a:t>": 402, "</a:t>
            </a:r>
            <a:r>
              <a:rPr lang="en-US" err="1">
                <a:highlight>
                  <a:srgbClr val="00FF00"/>
                </a:highlight>
              </a:rPr>
              <a:t>user_feedback</a:t>
            </a:r>
            <a:r>
              <a:rPr lang="en-US">
                <a:highlight>
                  <a:srgbClr val="00FF00"/>
                </a:highlight>
              </a:rPr>
              <a:t>": "False Alarm"}</a:t>
            </a:r>
          </a:p>
          <a:p>
            <a:pPr lvl="1"/>
            <a:endParaRPr lang="en-US">
              <a:solidFill>
                <a:schemeClr val="tx1">
                  <a:lumMod val="95000"/>
                </a:schemeClr>
              </a:solidFill>
            </a:endParaRPr>
          </a:p>
          <a:p>
            <a:r>
              <a:rPr lang="en-US" b="1">
                <a:solidFill>
                  <a:schemeClr val="tx1"/>
                </a:solidFill>
              </a:rPr>
              <a:t>Outputs (What the AI generates):</a:t>
            </a:r>
            <a:endParaRPr lang="en-US">
              <a:solidFill>
                <a:schemeClr val="tx1"/>
              </a:solidFill>
            </a:endParaRPr>
          </a:p>
          <a:p>
            <a:pPr lvl="1"/>
            <a:r>
              <a:rPr lang="en-US" b="1">
                <a:highlight>
                  <a:srgbClr val="00FF00"/>
                </a:highlight>
              </a:rPr>
              <a:t>JSON Decision Payload:</a:t>
            </a:r>
            <a:r>
              <a:rPr lang="en-US">
                <a:highlight>
                  <a:srgbClr val="00FF00"/>
                </a:highlight>
              </a:rPr>
              <a:t> {"status": "Anomaly", "confidence": 0.96, "</a:t>
            </a:r>
            <a:r>
              <a:rPr lang="en-US" err="1">
                <a:highlight>
                  <a:srgbClr val="00FF00"/>
                </a:highlight>
              </a:rPr>
              <a:t>root_cause</a:t>
            </a:r>
            <a:r>
              <a:rPr lang="en-US">
                <a:highlight>
                  <a:srgbClr val="00FF00"/>
                </a:highlight>
              </a:rPr>
              <a:t>": "Grid Surge Trip", "</a:t>
            </a:r>
            <a:r>
              <a:rPr lang="en-US" err="1">
                <a:highlight>
                  <a:srgbClr val="00FF00"/>
                </a:highlight>
              </a:rPr>
              <a:t>financial_loss_rate</a:t>
            </a:r>
            <a:r>
              <a:rPr lang="en-US">
                <a:highlight>
                  <a:srgbClr val="00FF00"/>
                </a:highlight>
              </a:rPr>
              <a:t>": "₹50/</a:t>
            </a:r>
            <a:r>
              <a:rPr lang="en-US" err="1">
                <a:highlight>
                  <a:srgbClr val="00FF00"/>
                </a:highlight>
              </a:rPr>
              <a:t>hr</a:t>
            </a:r>
            <a:r>
              <a:rPr lang="en-US">
                <a:highlight>
                  <a:srgbClr val="00FF00"/>
                </a:highlight>
              </a:rPr>
              <a:t>"}</a:t>
            </a:r>
          </a:p>
          <a:p>
            <a:pPr lvl="1"/>
            <a:r>
              <a:rPr lang="en-US" b="1">
                <a:highlight>
                  <a:srgbClr val="00FF00"/>
                </a:highlight>
              </a:rPr>
              <a:t>Physical Edge Output:</a:t>
            </a:r>
            <a:r>
              <a:rPr lang="en-US">
                <a:highlight>
                  <a:srgbClr val="00FF00"/>
                </a:highlight>
              </a:rPr>
              <a:t> GPIO Pin HIGH (Triggers a physical red LED / buzzer at the Jabalpur campus substation).</a:t>
            </a:r>
          </a:p>
          <a:p>
            <a:pPr lvl="1"/>
            <a:r>
              <a:rPr lang="en-US" b="1">
                <a:highlight>
                  <a:srgbClr val="00FF00"/>
                </a:highlight>
              </a:rPr>
              <a:t>GenAI WhatsApp Output:</a:t>
            </a:r>
            <a:r>
              <a:rPr lang="en-US">
                <a:highlight>
                  <a:srgbClr val="00FF00"/>
                </a:highlight>
              </a:rPr>
              <a:t> </a:t>
            </a:r>
            <a:r>
              <a:rPr lang="en-US" i="1">
                <a:highlight>
                  <a:srgbClr val="00FF00"/>
                </a:highlight>
              </a:rPr>
              <a:t>"Helio Alert: Inverter 2 is offline despite high sunlight. ₹50/</a:t>
            </a:r>
            <a:r>
              <a:rPr lang="en-US" i="1" err="1">
                <a:highlight>
                  <a:srgbClr val="00FF00"/>
                </a:highlight>
              </a:rPr>
              <a:t>hr</a:t>
            </a:r>
            <a:r>
              <a:rPr lang="en-US" i="1">
                <a:highlight>
                  <a:srgbClr val="00FF00"/>
                </a:highlight>
              </a:rPr>
              <a:t> is being lost. Please physically reset the breaker."</a:t>
            </a:r>
            <a:endParaRPr lang="en-US">
              <a:highlight>
                <a:srgbClr val="00FF00"/>
              </a:highlight>
            </a:endParaRPr>
          </a:p>
          <a:p>
            <a:endParaRPr lang="en-US"/>
          </a:p>
        </p:txBody>
      </p:sp>
    </p:spTree>
    <p:extLst>
      <p:ext uri="{BB962C8B-B14F-4D97-AF65-F5344CB8AC3E}">
        <p14:creationId xmlns:p14="http://schemas.microsoft.com/office/powerpoint/2010/main" val="932498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0" y="488272"/>
            <a:ext cx="7694612" cy="786581"/>
          </a:xfrm>
        </p:spPr>
        <p:txBody>
          <a:bodyPr>
            <a:normAutofit/>
          </a:bodyPr>
          <a:lstStyle/>
          <a:p>
            <a:r>
              <a:rPr lang="en-US" b="1"/>
              <a:t>03. Define the Type of AI</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137652" y="1926813"/>
            <a:ext cx="11916696" cy="4931187"/>
          </a:xfrm>
        </p:spPr>
        <p:txBody>
          <a:bodyPr vert="horz" lIns="91440" tIns="45720" rIns="91440" bIns="45720" rtlCol="0" anchor="t">
            <a:normAutofit/>
          </a:bodyPr>
          <a:lstStyle/>
          <a:p>
            <a:r>
              <a:rPr lang="en-US">
                <a:solidFill>
                  <a:srgbClr val="FFFF00"/>
                </a:solidFill>
                <a:latin typeface="Arial Rounded MT Bold" panose="020F0704030504030204" pitchFamily="34" charset="0"/>
              </a:rPr>
              <a:t>This system uses a </a:t>
            </a:r>
            <a:r>
              <a:rPr lang="en-US" b="1">
                <a:solidFill>
                  <a:srgbClr val="FFFF00"/>
                </a:solidFill>
                <a:latin typeface="Arial Rounded MT Bold" panose="020F0704030504030204" pitchFamily="34" charset="0"/>
              </a:rPr>
              <a:t>Hybrid AI Architecture</a:t>
            </a:r>
            <a:r>
              <a:rPr lang="en-US">
                <a:solidFill>
                  <a:srgbClr val="FFFF00"/>
                </a:solidFill>
                <a:latin typeface="Arial Rounded MT Bold" panose="020F0704030504030204" pitchFamily="34" charset="0"/>
              </a:rPr>
              <a:t> to ensure reliability:</a:t>
            </a:r>
          </a:p>
          <a:p>
            <a:r>
              <a:rPr lang="en-US" b="1">
                <a:solidFill>
                  <a:srgbClr val="FFFF00"/>
                </a:solidFill>
                <a:latin typeface="Arial Rounded MT Bold" panose="020F0704030504030204" pitchFamily="34" charset="0"/>
              </a:rPr>
              <a:t>Core Engine: Anomaly Detection (Isolation Forest)</a:t>
            </a:r>
            <a:endParaRPr lang="en-US">
              <a:solidFill>
                <a:srgbClr val="FFFF00"/>
              </a:solidFill>
              <a:latin typeface="Arial Rounded MT Bold" panose="020F0704030504030204" pitchFamily="34" charset="0"/>
            </a:endParaRPr>
          </a:p>
          <a:p>
            <a:pPr lvl="1"/>
            <a:r>
              <a:rPr lang="en-US" i="1">
                <a:solidFill>
                  <a:srgbClr val="FFFF00"/>
                </a:solidFill>
                <a:latin typeface="Arial Rounded MT Bold" panose="020F0704030504030204" pitchFamily="34" charset="0"/>
              </a:rPr>
              <a:t>Why?</a:t>
            </a:r>
            <a:r>
              <a:rPr lang="en-US">
                <a:solidFill>
                  <a:srgbClr val="FFFF00"/>
                </a:solidFill>
                <a:latin typeface="Arial Rounded MT Bold" panose="020F0704030504030204" pitchFamily="34" charset="0"/>
              </a:rPr>
              <a:t>  We do not have labeled datasets of past inverter failures. Isolation Forest is an unsupervised algorithm that builds decision trees to "isolate" unusual data points. It quickly learns the normal daily solar curve and mathematically flags any point that deviates from it.</a:t>
            </a:r>
          </a:p>
          <a:p>
            <a:r>
              <a:rPr lang="en-US" b="1">
                <a:solidFill>
                  <a:srgbClr val="FFFF00"/>
                </a:solidFill>
                <a:latin typeface="Arial Rounded MT Bold" panose="020F0704030504030204" pitchFamily="34" charset="0"/>
              </a:rPr>
              <a:t>Resilience Engine: </a:t>
            </a:r>
            <a:r>
              <a:rPr lang="en-US" b="1" err="1">
                <a:solidFill>
                  <a:srgbClr val="FFFF00"/>
                </a:solidFill>
                <a:latin typeface="Arial Rounded MT Bold" panose="020F0704030504030204" pitchFamily="34" charset="0"/>
              </a:rPr>
              <a:t>TinyML</a:t>
            </a:r>
            <a:r>
              <a:rPr lang="en-US" b="1">
                <a:solidFill>
                  <a:srgbClr val="FFFF00"/>
                </a:solidFill>
                <a:latin typeface="Arial Rounded MT Bold" panose="020F0704030504030204" pitchFamily="34" charset="0"/>
              </a:rPr>
              <a:t> (Edge AI)</a:t>
            </a:r>
            <a:endParaRPr lang="en-US">
              <a:solidFill>
                <a:srgbClr val="FFFF00"/>
              </a:solidFill>
              <a:latin typeface="Arial Rounded MT Bold" panose="020F0704030504030204" pitchFamily="34" charset="0"/>
            </a:endParaRPr>
          </a:p>
          <a:p>
            <a:pPr lvl="1"/>
            <a:r>
              <a:rPr lang="en-US" i="1">
                <a:solidFill>
                  <a:srgbClr val="FFFF00"/>
                </a:solidFill>
                <a:latin typeface="Arial Rounded MT Bold" panose="020F0704030504030204" pitchFamily="34" charset="0"/>
              </a:rPr>
              <a:t>Why?</a:t>
            </a:r>
            <a:r>
              <a:rPr lang="en-US">
                <a:solidFill>
                  <a:srgbClr val="FFFF00"/>
                </a:solidFill>
                <a:latin typeface="Arial Rounded MT Bold" panose="020F0704030504030204" pitchFamily="34" charset="0"/>
              </a:rPr>
              <a:t>  Cloud AI is useless if the Jabalpur campus Wi-Fi drops during a monsoon. We compress a lightweight TensorFlow Lite neural network onto the local ESP32 chip. It runs inference </a:t>
            </a:r>
            <a:r>
              <a:rPr lang="en-US" i="1">
                <a:solidFill>
                  <a:srgbClr val="FFFF00"/>
                </a:solidFill>
                <a:latin typeface="Arial Rounded MT Bold" panose="020F0704030504030204" pitchFamily="34" charset="0"/>
              </a:rPr>
              <a:t>offline</a:t>
            </a:r>
            <a:r>
              <a:rPr lang="en-US">
                <a:solidFill>
                  <a:srgbClr val="FFFF00"/>
                </a:solidFill>
                <a:latin typeface="Arial Rounded MT Bold" panose="020F0704030504030204" pitchFamily="34" charset="0"/>
              </a:rPr>
              <a:t>, ensuring the campus is always protected.</a:t>
            </a:r>
          </a:p>
          <a:p>
            <a:r>
              <a:rPr lang="en-US" b="1">
                <a:solidFill>
                  <a:srgbClr val="FFFF00"/>
                </a:solidFill>
                <a:latin typeface="Arial Rounded MT Bold" panose="020F0704030504030204" pitchFamily="34" charset="0"/>
              </a:rPr>
              <a:t>Communication Engine: Retrieval-Augmented Generation (RAG LLM)</a:t>
            </a:r>
            <a:endParaRPr lang="en-US">
              <a:solidFill>
                <a:srgbClr val="FFFF00"/>
              </a:solidFill>
              <a:latin typeface="Arial Rounded MT Bold" panose="020F0704030504030204" pitchFamily="34" charset="0"/>
            </a:endParaRPr>
          </a:p>
          <a:p>
            <a:pPr lvl="1"/>
            <a:r>
              <a:rPr lang="en-US" i="1">
                <a:solidFill>
                  <a:srgbClr val="FFFF00"/>
                </a:solidFill>
                <a:latin typeface="Arial Rounded MT Bold" panose="020F0704030504030204" pitchFamily="34" charset="0"/>
              </a:rPr>
              <a:t>Why?</a:t>
            </a:r>
            <a:r>
              <a:rPr lang="en-US">
                <a:solidFill>
                  <a:srgbClr val="FFFF00"/>
                </a:solidFill>
                <a:latin typeface="Arial Rounded MT Bold" panose="020F0704030504030204" pitchFamily="34" charset="0"/>
              </a:rPr>
              <a:t>  Large Language Models (like ChatGPT) can hallucinate. By using RAG, we restrict the AI to only answer based on our live JSON telemetry and campus O&amp;M manuals. This allows Vijay to chat with the system safely without needing to understand data dashboards.</a:t>
            </a:r>
          </a:p>
          <a:p>
            <a:pPr marL="457200" lvl="1" indent="0">
              <a:buNone/>
            </a:pPr>
            <a:endParaRPr lang="en-US">
              <a:solidFill>
                <a:srgbClr val="FFFF00"/>
              </a:solidFill>
              <a:latin typeface="Arial Rounded MT Bold" panose="020F0704030504030204" pitchFamily="34" charset="0"/>
            </a:endParaRPr>
          </a:p>
          <a:p>
            <a:pPr marL="457200" lvl="1" indent="0">
              <a:buNone/>
            </a:pPr>
            <a:endParaRPr lang="en-US">
              <a:solidFill>
                <a:srgbClr val="FFFF00"/>
              </a:solidFill>
              <a:latin typeface="Arial Rounded MT Bold" panose="020F0704030504030204" pitchFamily="34" charset="0"/>
            </a:endParaRPr>
          </a:p>
          <a:p>
            <a:endParaRPr lang="en-US"/>
          </a:p>
        </p:txBody>
      </p:sp>
    </p:spTree>
    <p:extLst>
      <p:ext uri="{BB962C8B-B14F-4D97-AF65-F5344CB8AC3E}">
        <p14:creationId xmlns:p14="http://schemas.microsoft.com/office/powerpoint/2010/main" val="2563119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5780-6361-4B43-F4F5-F0F72BC3800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A753875-2CD6-5774-7018-2CF24511C23F}"/>
                  </a:ext>
                </a:extLst>
              </p:cNvPr>
              <p:cNvSpPr txBox="1"/>
              <p:nvPr/>
            </p:nvSpPr>
            <p:spPr>
              <a:xfrm>
                <a:off x="198016" y="196645"/>
                <a:ext cx="11993984" cy="6560450"/>
              </a:xfrm>
              <a:prstGeom prst="rect">
                <a:avLst/>
              </a:prstGeom>
              <a:noFill/>
            </p:spPr>
            <p:txBody>
              <a:bodyPr wrap="square" rtlCol="0">
                <a:spAutoFit/>
              </a:bodyPr>
              <a:lstStyle/>
              <a:p>
                <a:r>
                  <a:rPr lang="en-US" sz="1400" b="1">
                    <a:highlight>
                      <a:srgbClr val="00FFFF"/>
                    </a:highlight>
                  </a:rPr>
                  <a:t>Selected AI Capability:</a:t>
                </a:r>
                <a:r>
                  <a:rPr lang="en-US" sz="1400">
                    <a:highlight>
                      <a:srgbClr val="00FFFF"/>
                    </a:highlight>
                  </a:rPr>
                  <a:t>  </a:t>
                </a:r>
                <a:r>
                  <a:rPr lang="en-US" sz="1400" b="1">
                    <a:highlight>
                      <a:srgbClr val="00FFFF"/>
                    </a:highlight>
                  </a:rPr>
                  <a:t>Anomaly Detection</a:t>
                </a:r>
              </a:p>
              <a:p>
                <a:endParaRPr lang="en-US" sz="1400">
                  <a:highlight>
                    <a:srgbClr val="00FFFF"/>
                  </a:highlight>
                </a:endParaRPr>
              </a:p>
              <a:p>
                <a:r>
                  <a:rPr lang="en-US" sz="1400" b="1">
                    <a:highlight>
                      <a:srgbClr val="00FFFF"/>
                    </a:highlight>
                  </a:rPr>
                  <a:t>Justification (Why this is the absolute best choice):</a:t>
                </a:r>
                <a:br>
                  <a:rPr lang="en-US" sz="1400">
                    <a:highlight>
                      <a:srgbClr val="00FFFF"/>
                    </a:highlight>
                  </a:rPr>
                </a:br>
                <a:r>
                  <a:rPr lang="en-US" sz="1400">
                    <a:highlight>
                      <a:srgbClr val="00FFFF"/>
                    </a:highlight>
                  </a:rPr>
                  <a:t>To solve "Ghost Generation" and hardware degradation, the core AI engine must act as an invisible, 24/7 auditor. </a:t>
                </a:r>
                <a:r>
                  <a:rPr lang="en-US" sz="1400" b="1">
                    <a:highlight>
                      <a:srgbClr val="00FFFF"/>
                    </a:highlight>
                  </a:rPr>
                  <a:t>Anomaly Detection</a:t>
                </a:r>
                <a:r>
                  <a:rPr lang="en-US" sz="1400">
                    <a:highlight>
                      <a:srgbClr val="00FFFF"/>
                    </a:highlight>
                  </a:rPr>
                  <a:t> (specifically an unsupervised model like </a:t>
                </a:r>
                <a:r>
                  <a:rPr lang="en-US" sz="1400" i="1">
                    <a:highlight>
                      <a:srgbClr val="00FFFF"/>
                    </a:highlight>
                  </a:rPr>
                  <a:t>Isolation Forest</a:t>
                </a:r>
                <a:r>
                  <a:rPr lang="en-US" sz="1400">
                    <a:highlight>
                      <a:srgbClr val="00FFFF"/>
                    </a:highlight>
                  </a:rPr>
                  <a:t>) is the only capability that perfectly fits the physical and data realities of a university campus in the Global South.</a:t>
                </a:r>
              </a:p>
              <a:p>
                <a:r>
                  <a:rPr lang="en-US" sz="1400">
                    <a:highlight>
                      <a:srgbClr val="00FFFF"/>
                    </a:highlight>
                  </a:rPr>
                  <a:t>Here is exactly why we chose Anomaly Detection over the other three options:</a:t>
                </a:r>
              </a:p>
              <a:p>
                <a:endParaRPr lang="en-US" sz="1400">
                  <a:highlight>
                    <a:srgbClr val="00FFFF"/>
                  </a:highlight>
                </a:endParaRPr>
              </a:p>
              <a:p>
                <a:r>
                  <a:rPr lang="en-US" sz="1400" b="1">
                    <a:highlight>
                      <a:srgbClr val="00FFFF"/>
                    </a:highlight>
                  </a:rPr>
                  <a:t>Why NOT Classification?</a:t>
                </a:r>
                <a:br>
                  <a:rPr lang="en-US" sz="1400">
                    <a:highlight>
                      <a:srgbClr val="00FFFF"/>
                    </a:highlight>
                  </a:rPr>
                </a:br>
                <a:r>
                  <a:rPr lang="en-US" sz="1400">
                    <a:highlight>
                      <a:srgbClr val="00FFFF"/>
                    </a:highlight>
                  </a:rPr>
                  <a:t>Classification requires massive, perfectly labeled historical datasets (e.g., 10,000 logs labeled "Healthy" and 10,000 labeled "Inverter Trip"). Our campus, like most institutions, does not have years of categorized failure data. Anomaly Detection is </a:t>
                </a:r>
                <a:r>
                  <a:rPr lang="en-US" sz="1400" i="1">
                    <a:highlight>
                      <a:srgbClr val="00FFFF"/>
                    </a:highlight>
                  </a:rPr>
                  <a:t>unsupervised-</a:t>
                </a:r>
                <a:r>
                  <a:rPr lang="en-US" sz="1400">
                    <a:highlight>
                      <a:srgbClr val="00FFFF"/>
                    </a:highlight>
                  </a:rPr>
                  <a:t>it simply learns what the "normal" daily solar curve looks like over a few weeks and flags anything that mathematically deviates from it. It works immediately, right out of the box.</a:t>
                </a:r>
              </a:p>
              <a:p>
                <a:endParaRPr lang="en-US" sz="1400">
                  <a:highlight>
                    <a:srgbClr val="00FFFF"/>
                  </a:highlight>
                </a:endParaRPr>
              </a:p>
              <a:p>
                <a:r>
                  <a:rPr lang="en-US" sz="1400" b="1">
                    <a:highlight>
                      <a:srgbClr val="00FFFF"/>
                    </a:highlight>
                  </a:rPr>
                  <a:t>Why NOT Prediction?</a:t>
                </a:r>
                <a:br>
                  <a:rPr lang="en-US" sz="1400">
                    <a:highlight>
                      <a:srgbClr val="00FFFF"/>
                    </a:highlight>
                  </a:rPr>
                </a:br>
                <a:r>
                  <a:rPr lang="en-US" sz="1400">
                    <a:highlight>
                      <a:srgbClr val="00FFFF"/>
                    </a:highlight>
                  </a:rPr>
                  <a:t>While predicting tomorrow's exact power output is helpful, it does not solve the immediate financial bleed of a tripped inverter </a:t>
                </a:r>
                <a:r>
                  <a:rPr lang="en-US" sz="1400" i="1">
                    <a:highlight>
                      <a:srgbClr val="00FFFF"/>
                    </a:highlight>
                  </a:rPr>
                  <a:t>today</a:t>
                </a:r>
                <a:r>
                  <a:rPr lang="en-US" sz="1400">
                    <a:highlight>
                      <a:srgbClr val="00FFFF"/>
                    </a:highlight>
                  </a:rPr>
                  <a:t>. Solar power naturally fluctuates with every passing cloud; we don't just need to predict the curve, we need to detect when the hardware physically breaks away from the curve.</a:t>
                </a:r>
              </a:p>
              <a:p>
                <a:endParaRPr lang="en-US" sz="1400">
                  <a:highlight>
                    <a:srgbClr val="00FFFF"/>
                  </a:highlight>
                </a:endParaRPr>
              </a:p>
              <a:p>
                <a:r>
                  <a:rPr lang="en-US" sz="1400" b="1">
                    <a:highlight>
                      <a:srgbClr val="00FFFF"/>
                    </a:highlight>
                  </a:rPr>
                  <a:t>Why NOT Recommendation?</a:t>
                </a:r>
                <a:br>
                  <a:rPr lang="en-US" sz="1400">
                    <a:highlight>
                      <a:srgbClr val="00FFFF"/>
                    </a:highlight>
                  </a:rPr>
                </a:br>
                <a:r>
                  <a:rPr lang="en-US" sz="1400">
                    <a:highlight>
                      <a:srgbClr val="00FFFF"/>
                    </a:highlight>
                  </a:rPr>
                  <a:t>A recommendation engine (like Netflix suggesting a movie) relies on user preference matrices. While our final dashboard </a:t>
                </a:r>
                <a:r>
                  <a:rPr lang="en-US" sz="1400" i="1">
                    <a:highlight>
                      <a:srgbClr val="00FFFF"/>
                    </a:highlight>
                  </a:rPr>
                  <a:t>provides</a:t>
                </a:r>
                <a:r>
                  <a:rPr lang="en-US" sz="1400">
                    <a:highlight>
                      <a:srgbClr val="00FFFF"/>
                    </a:highlight>
                  </a:rPr>
                  <a:t> a recommended action to the staff, the fundamental mathematical heavy lifting that triggers the system is identifying the invisible hardware fault in real-time.</a:t>
                </a:r>
              </a:p>
              <a:p>
                <a:endParaRPr lang="en-US" sz="1400">
                  <a:highlight>
                    <a:srgbClr val="00FFFF"/>
                  </a:highlight>
                </a:endParaRPr>
              </a:p>
              <a:p>
                <a:r>
                  <a:rPr lang="en-US" sz="1400" b="1">
                    <a:highlight>
                      <a:srgbClr val="00FFFF"/>
                    </a:highlight>
                  </a:rPr>
                  <a:t>The "Contextual" Advantage of Anomaly Detection:</a:t>
                </a:r>
                <a:br>
                  <a:rPr lang="en-US" sz="1400">
                    <a:highlight>
                      <a:srgbClr val="00FFFF"/>
                    </a:highlight>
                  </a:rPr>
                </a:br>
                <a:r>
                  <a:rPr lang="en-US" sz="1400">
                    <a:highlight>
                      <a:srgbClr val="00FFFF"/>
                    </a:highlight>
                  </a:rPr>
                  <a:t>Traditional solar maintenance relies on static thresholds (e.g., "Trigger an alarm if power drops below 10kW"). This is deeply flawed. At 7:30 AM, 10kW is perfectly healthy; at 1:00 PM, 10kW is a catastrophic failure. Anomaly Detection understands this </a:t>
                </a:r>
                <a:r>
                  <a:rPr lang="en-US" sz="1400" i="1">
                    <a:highlight>
                      <a:srgbClr val="00FFFF"/>
                    </a:highlight>
                  </a:rPr>
                  <a:t>context</a:t>
                </a:r>
                <a:r>
                  <a:rPr lang="en-US" sz="1400">
                    <a:highlight>
                      <a:srgbClr val="00FFFF"/>
                    </a:highlight>
                  </a:rPr>
                  <a:t>. By continuously analyzing the multi-dimensional relationship between Time, Irradiance (</a:t>
                </a:r>
                <a14:m>
                  <m:oMath xmlns:m="http://schemas.openxmlformats.org/officeDocument/2006/math">
                    <m:r>
                      <a:rPr lang="en-US" sz="1400" i="1">
                        <a:highlight>
                          <a:srgbClr val="00FFFF"/>
                        </a:highlight>
                        <a:latin typeface="Cambria Math" panose="02040503050406030204" pitchFamily="18" charset="0"/>
                      </a:rPr>
                      <m:t>𝑊</m:t>
                    </m:r>
                    <m:r>
                      <a:rPr lang="en-US" sz="1400">
                        <a:highlight>
                          <a:srgbClr val="00FFFF"/>
                        </a:highlight>
                        <a:latin typeface="Cambria Math" panose="02040503050406030204" pitchFamily="18" charset="0"/>
                      </a:rPr>
                      <m:t>/</m:t>
                    </m:r>
                    <m:sSup>
                      <m:sSupPr>
                        <m:ctrlPr>
                          <a:rPr lang="en-US" sz="1400" i="1">
                            <a:highlight>
                              <a:srgbClr val="00FFFF"/>
                            </a:highlight>
                            <a:latin typeface="Cambria Math" panose="02040503050406030204" pitchFamily="18" charset="0"/>
                          </a:rPr>
                        </m:ctrlPr>
                      </m:sSupPr>
                      <m:e>
                        <m:r>
                          <a:rPr lang="en-US" sz="1400" i="1">
                            <a:highlight>
                              <a:srgbClr val="00FFFF"/>
                            </a:highlight>
                            <a:latin typeface="Cambria Math" panose="02040503050406030204" pitchFamily="18" charset="0"/>
                          </a:rPr>
                          <m:t>𝑚</m:t>
                        </m:r>
                      </m:e>
                      <m:sup>
                        <m:r>
                          <a:rPr lang="en-US" sz="1400">
                            <a:highlight>
                              <a:srgbClr val="00FFFF"/>
                            </a:highlight>
                            <a:latin typeface="Cambria Math" panose="02040503050406030204" pitchFamily="18" charset="0"/>
                          </a:rPr>
                          <m:t>2</m:t>
                        </m:r>
                      </m:sup>
                    </m:sSup>
                  </m:oMath>
                </a14:m>
                <a:r>
                  <a:rPr lang="en-US" sz="1400">
                    <a:highlight>
                      <a:srgbClr val="00FFFF"/>
                    </a:highlight>
                  </a:rPr>
                  <a:t>), and Power (kWh), the AI can detect a subtle 15% efficiency drop caused by dust accumulation—something a human or a static rule would completely miss.</a:t>
                </a:r>
              </a:p>
              <a:p>
                <a:endParaRPr lang="en-US" sz="1400">
                  <a:highlight>
                    <a:srgbClr val="00FFFF"/>
                  </a:highlight>
                </a:endParaRPr>
              </a:p>
              <a:p>
                <a:r>
                  <a:rPr lang="en-US" sz="1400">
                    <a:highlight>
                      <a:srgbClr val="00FFFF"/>
                    </a:highlight>
                  </a:rPr>
                  <a:t>By choosing </a:t>
                </a:r>
                <a:r>
                  <a:rPr lang="en-US" sz="1400" b="1">
                    <a:highlight>
                      <a:srgbClr val="00FFFF"/>
                    </a:highlight>
                  </a:rPr>
                  <a:t>Anomaly Detection</a:t>
                </a:r>
                <a:r>
                  <a:rPr lang="en-US" sz="1400">
                    <a:highlight>
                      <a:srgbClr val="00FFFF"/>
                    </a:highlight>
                  </a:rPr>
                  <a:t>, we deploy an AI that doesn't need historical failure data, understands environmental context, and eliminates the "Alarm Fatigue" caused by false positives, making it the ultimate engine for Climate Resilience.</a:t>
                </a:r>
              </a:p>
              <a:p>
                <a:endParaRPr lang="en-US" sz="1400" b="1">
                  <a:solidFill>
                    <a:schemeClr val="tx2">
                      <a:lumMod val="75000"/>
                      <a:lumOff val="25000"/>
                    </a:schemeClr>
                  </a:solidFill>
                  <a:highlight>
                    <a:srgbClr val="00FFFF"/>
                  </a:highlight>
                </a:endParaRPr>
              </a:p>
              <a:p>
                <a:endParaRPr lang="en-US" sz="1400">
                  <a:solidFill>
                    <a:schemeClr val="tx2">
                      <a:lumMod val="75000"/>
                      <a:lumOff val="25000"/>
                    </a:schemeClr>
                  </a:solidFill>
                  <a:highlight>
                    <a:srgbClr val="00FFFF"/>
                  </a:highlight>
                </a:endParaRPr>
              </a:p>
            </p:txBody>
          </p:sp>
        </mc:Choice>
        <mc:Fallback xmlns="">
          <p:sp>
            <p:nvSpPr>
              <p:cNvPr id="5" name="TextBox 4">
                <a:extLst>
                  <a:ext uri="{FF2B5EF4-FFF2-40B4-BE49-F238E27FC236}">
                    <a16:creationId xmlns:a16="http://schemas.microsoft.com/office/drawing/2014/main" id="{BA753875-2CD6-5774-7018-2CF24511C23F}"/>
                  </a:ext>
                </a:extLst>
              </p:cNvPr>
              <p:cNvSpPr txBox="1">
                <a:spLocks noRot="1" noChangeAspect="1" noMove="1" noResize="1" noEditPoints="1" noAdjustHandles="1" noChangeArrowheads="1" noChangeShapeType="1" noTextEdit="1"/>
              </p:cNvSpPr>
              <p:nvPr/>
            </p:nvSpPr>
            <p:spPr>
              <a:xfrm>
                <a:off x="198016" y="196645"/>
                <a:ext cx="11993984" cy="6560450"/>
              </a:xfrm>
              <a:prstGeom prst="rect">
                <a:avLst/>
              </a:prstGeom>
              <a:blipFill>
                <a:blip r:embed="rId2"/>
                <a:stretch>
                  <a:fillRect l="-152" t="-93" r="-407"/>
                </a:stretch>
              </a:blipFill>
            </p:spPr>
            <p:txBody>
              <a:bodyPr/>
              <a:lstStyle/>
              <a:p>
                <a:r>
                  <a:rPr lang="en-US">
                    <a:noFill/>
                  </a:rPr>
                  <a:t> </a:t>
                </a:r>
              </a:p>
            </p:txBody>
          </p:sp>
        </mc:Fallback>
      </mc:AlternateContent>
    </p:spTree>
    <p:extLst>
      <p:ext uri="{BB962C8B-B14F-4D97-AF65-F5344CB8AC3E}">
        <p14:creationId xmlns:p14="http://schemas.microsoft.com/office/powerpoint/2010/main" val="1695941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E08CFFC-90B3-716A-6720-8321B3842328}"/>
                  </a:ext>
                </a:extLst>
              </p:cNvPr>
              <p:cNvSpPr txBox="1">
                <a:spLocks/>
              </p:cNvSpPr>
              <p:nvPr/>
            </p:nvSpPr>
            <p:spPr>
              <a:xfrm>
                <a:off x="0" y="707611"/>
                <a:ext cx="6381135" cy="655780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i="1"/>
                  <a:t>This traces the exact journey of a single data packet from the solar panel to human action.</a:t>
                </a:r>
                <a:endParaRPr lang="en-US" sz="1500"/>
              </a:p>
              <a:p>
                <a:pPr>
                  <a:lnSpc>
                    <a:spcPct val="120000"/>
                  </a:lnSpc>
                </a:pPr>
                <a:r>
                  <a:rPr lang="en-US" sz="1500" b="1"/>
                  <a:t>Step 1: Secure Data Acquisition (IoT Layer)</a:t>
                </a:r>
                <a:br>
                  <a:rPr lang="en-US" sz="1500"/>
                </a:br>
                <a:r>
                  <a:rPr lang="en-US" sz="1500"/>
                  <a:t>The ESP32 microcontroller reads the 308 solar modules.</a:t>
                </a:r>
                <a:br>
                  <a:rPr lang="en-US" sz="1500"/>
                </a:br>
                <a:r>
                  <a:rPr lang="en-US" sz="1500" i="1"/>
                  <a:t>Cybersecurity Protocol:</a:t>
                </a:r>
                <a:r>
                  <a:rPr lang="en-US" sz="1500"/>
                  <a:t> The data payload is encrypted via TLS 1.2. The payload is sent via the lightweight </a:t>
                </a:r>
                <a:r>
                  <a:rPr lang="en-US" sz="1500" b="1"/>
                  <a:t>MQTT protocol</a:t>
                </a:r>
                <a:r>
                  <a:rPr lang="en-US" sz="1500"/>
                  <a:t> to the cloud, ensuring low bandwidth usage.</a:t>
                </a:r>
              </a:p>
              <a:p>
                <a:r>
                  <a:rPr lang="en-US" sz="1500" b="1"/>
                  <a:t>Step 2: Physics-Informed Pre-Processing</a:t>
                </a:r>
                <a:br>
                  <a:rPr lang="en-US" sz="1500"/>
                </a:br>
                <a:r>
                  <a:rPr lang="en-US" sz="1500"/>
                  <a:t>Before AI touches the data, a hardcoded physics filter applies the formula: </a:t>
                </a:r>
              </a:p>
              <a:p>
                <a14:m>
                  <m:oMath xmlns:m="http://schemas.openxmlformats.org/officeDocument/2006/math">
                    <m:sSub>
                      <m:sSubPr>
                        <m:ctrlPr>
                          <a:rPr lang="en-US" sz="1500" i="1">
                            <a:latin typeface="Cambria Math" panose="02040503050406030204" pitchFamily="18" charset="0"/>
                          </a:rPr>
                        </m:ctrlPr>
                      </m:sSubPr>
                      <m:e>
                        <m:r>
                          <a:rPr lang="en-US" sz="1500" i="1">
                            <a:latin typeface="Cambria Math" panose="02040503050406030204" pitchFamily="18" charset="0"/>
                          </a:rPr>
                          <m:t>𝑃</m:t>
                        </m:r>
                      </m:e>
                      <m:sub>
                        <m:r>
                          <a:rPr lang="en-US" sz="1500" i="1">
                            <a:latin typeface="Cambria Math" panose="02040503050406030204" pitchFamily="18" charset="0"/>
                          </a:rPr>
                          <m:t>𝑒𝑥𝑝𝑒𝑐𝑡𝑒𝑑</m:t>
                        </m:r>
                      </m:sub>
                    </m:sSub>
                    <m:r>
                      <a:rPr lang="en-US" sz="1500">
                        <a:latin typeface="Cambria Math" panose="02040503050406030204" pitchFamily="18" charset="0"/>
                      </a:rPr>
                      <m:t>=</m:t>
                    </m:r>
                    <m:r>
                      <m:rPr>
                        <m:nor/>
                      </m:rPr>
                      <a:rPr lang="en-US" sz="1500" i="1"/>
                      <m:t>Efficiency</m:t>
                    </m:r>
                    <m:r>
                      <a:rPr lang="en-US" sz="1500">
                        <a:latin typeface="Cambria Math" panose="02040503050406030204" pitchFamily="18" charset="0"/>
                      </a:rPr>
                      <m:t>×</m:t>
                    </m:r>
                    <m:r>
                      <m:rPr>
                        <m:nor/>
                      </m:rPr>
                      <a:rPr lang="en-US" sz="1500" i="1"/>
                      <m:t>Area</m:t>
                    </m:r>
                    <m:r>
                      <a:rPr lang="en-US" sz="1500">
                        <a:latin typeface="Cambria Math" panose="02040503050406030204" pitchFamily="18" charset="0"/>
                      </a:rPr>
                      <m:t>×</m:t>
                    </m:r>
                    <m:r>
                      <m:rPr>
                        <m:nor/>
                      </m:rPr>
                      <a:rPr lang="en-US" sz="1500" i="1"/>
                      <m:t>Irradiance</m:t>
                    </m:r>
                  </m:oMath>
                </a14:m>
                <a:endParaRPr lang="en-US" sz="1500"/>
              </a:p>
              <a:p>
                <a:r>
                  <a:rPr lang="en-US" sz="1500"/>
                  <a:t>. If the sensors report 150kW of power but the maximum physical capacity is 100kW, the system instantly identifies a sensor malfunction and drops the data, preventing the AI from getting confused.</a:t>
                </a:r>
              </a:p>
              <a:p>
                <a:r>
                  <a:rPr lang="en-US" sz="1500" b="1"/>
                  <a:t>Step 3: The Edge-Cloud Split (Inference)</a:t>
                </a:r>
                <a:endParaRPr lang="en-US" sz="1500"/>
              </a:p>
              <a:p>
                <a:pPr lvl="1"/>
                <a:r>
                  <a:rPr lang="en-US" sz="1500" i="1"/>
                  <a:t>At the Edge (Offline):</a:t>
                </a:r>
                <a:r>
                  <a:rPr lang="en-US" sz="1500"/>
                  <a:t> </a:t>
                </a:r>
                <a:r>
                  <a:rPr lang="en-US" sz="1500" err="1"/>
                  <a:t>TinyML</a:t>
                </a:r>
                <a:r>
                  <a:rPr lang="en-US" sz="1500"/>
                  <a:t> detects a sudden drop to 0A current. It triggers a local buzzer at the substation immediately.</a:t>
                </a:r>
              </a:p>
              <a:p>
                <a:pPr lvl="1"/>
                <a:r>
                  <a:rPr lang="en-US" sz="1500" i="1"/>
                  <a:t>In the Cloud (Online):</a:t>
                </a:r>
                <a:r>
                  <a:rPr lang="en-US" sz="1500"/>
                  <a:t> The Isolation Forest analyzes long-term trends. It notices a slow 15% efficiency drop over 3 weeks, identifying it as "Dust Accumulation" (Soiling).</a:t>
                </a:r>
              </a:p>
              <a:p>
                <a:endParaRPr lang="en-US"/>
              </a:p>
            </p:txBody>
          </p:sp>
        </mc:Choice>
        <mc:Fallback xmlns="">
          <p:sp>
            <p:nvSpPr>
              <p:cNvPr id="4" name="Content Placeholder 3">
                <a:extLst>
                  <a:ext uri="{FF2B5EF4-FFF2-40B4-BE49-F238E27FC236}">
                    <a16:creationId xmlns:a16="http://schemas.microsoft.com/office/drawing/2014/main" id="{9E08CFFC-90B3-716A-6720-8321B3842328}"/>
                  </a:ext>
                </a:extLst>
              </p:cNvPr>
              <p:cNvSpPr txBox="1">
                <a:spLocks noRot="1" noChangeAspect="1" noMove="1" noResize="1" noEditPoints="1" noAdjustHandles="1" noChangeArrowheads="1" noChangeShapeType="1" noTextEdit="1"/>
              </p:cNvSpPr>
              <p:nvPr/>
            </p:nvSpPr>
            <p:spPr>
              <a:xfrm>
                <a:off x="0" y="707611"/>
                <a:ext cx="6381135" cy="6557803"/>
              </a:xfrm>
              <a:prstGeom prst="rect">
                <a:avLst/>
              </a:prstGeom>
              <a:blipFill>
                <a:blip r:embed="rId2"/>
                <a:stretch>
                  <a:fillRect l="-287" t="-465"/>
                </a:stretch>
              </a:blipFill>
            </p:spPr>
            <p:txBody>
              <a:bodyPr/>
              <a:lstStyle/>
              <a:p>
                <a:r>
                  <a:rPr lang="en-US">
                    <a:noFill/>
                  </a:rPr>
                  <a:t> </a:t>
                </a:r>
              </a:p>
            </p:txBody>
          </p:sp>
        </mc:Fallback>
      </mc:AlternateContent>
      <p:sp>
        <p:nvSpPr>
          <p:cNvPr id="3" name="Content Placeholder 3">
            <a:extLst>
              <a:ext uri="{FF2B5EF4-FFF2-40B4-BE49-F238E27FC236}">
                <a16:creationId xmlns:a16="http://schemas.microsoft.com/office/drawing/2014/main" id="{E3C785D5-CAA3-E464-655E-0476506B2AE3}"/>
              </a:ext>
            </a:extLst>
          </p:cNvPr>
          <p:cNvSpPr txBox="1">
            <a:spLocks/>
          </p:cNvSpPr>
          <p:nvPr/>
        </p:nvSpPr>
        <p:spPr>
          <a:xfrm>
            <a:off x="6381135" y="196645"/>
            <a:ext cx="5810865" cy="698121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lnSpc>
                <a:spcPct val="120000"/>
              </a:lnSpc>
            </a:pPr>
            <a:r>
              <a:rPr lang="en-US" sz="1400" b="1"/>
              <a:t>Step 4: The Dynamic ROI Gate (Financial Intelligence)</a:t>
            </a:r>
            <a:br>
              <a:rPr lang="en-US" sz="1400"/>
            </a:br>
            <a:r>
              <a:rPr lang="en-US" sz="1400"/>
              <a:t>The Cloud AI prepares to send a "Clean the Panels" alert. However, it first runs a script to fetch the Jabalpur meteorological forecast.</a:t>
            </a:r>
          </a:p>
          <a:p>
            <a:pPr lvl="1">
              <a:lnSpc>
                <a:spcPct val="120000"/>
              </a:lnSpc>
            </a:pPr>
            <a:r>
              <a:rPr lang="en-US" sz="1400" i="1"/>
              <a:t>Logic Check:</a:t>
            </a:r>
            <a:r>
              <a:rPr lang="en-US" sz="1400"/>
              <a:t> Tomorrow = Heavy Rain.</a:t>
            </a:r>
          </a:p>
          <a:p>
            <a:pPr lvl="1">
              <a:lnSpc>
                <a:spcPct val="120000"/>
              </a:lnSpc>
            </a:pPr>
            <a:r>
              <a:rPr lang="en-US" sz="1400" i="1"/>
              <a:t>Economic Decision:</a:t>
            </a:r>
            <a:r>
              <a:rPr lang="en-US" sz="1400"/>
              <a:t> Cost of manual cleaning (₹500) &gt; Cost of waiting 24 hours (₹100 lost energy).</a:t>
            </a:r>
          </a:p>
          <a:p>
            <a:pPr lvl="1">
              <a:lnSpc>
                <a:spcPct val="120000"/>
              </a:lnSpc>
            </a:pPr>
            <a:r>
              <a:rPr lang="en-US" sz="1400" i="1"/>
              <a:t>Action:</a:t>
            </a:r>
            <a:r>
              <a:rPr lang="en-US" sz="1400"/>
              <a:t> Alert suppressed. State updated to "Awaiting Natural Wash."</a:t>
            </a:r>
          </a:p>
          <a:p>
            <a:pPr>
              <a:lnSpc>
                <a:spcPct val="120000"/>
              </a:lnSpc>
            </a:pPr>
            <a:r>
              <a:rPr lang="en-US" sz="1400" b="1"/>
              <a:t>Step 5: Conversational Action (GenAI)</a:t>
            </a:r>
            <a:br>
              <a:rPr lang="en-US" sz="1400"/>
            </a:br>
            <a:r>
              <a:rPr lang="en-US" sz="1400"/>
              <a:t>If a real fault (like a trip) occurs, the RAG LLM ingests the JSON payload and drafts a localized WhatsApp message.</a:t>
            </a:r>
          </a:p>
          <a:p>
            <a:pPr lvl="1">
              <a:lnSpc>
                <a:spcPct val="120000"/>
              </a:lnSpc>
            </a:pPr>
            <a:r>
              <a:rPr lang="en-US" sz="1400" i="1"/>
              <a:t>Message:</a:t>
            </a:r>
            <a:r>
              <a:rPr lang="en-US" sz="1400"/>
              <a:t> “User, Inverter #1 tripped. Estimated loss if not fixed today: ₹400."</a:t>
            </a:r>
          </a:p>
          <a:p>
            <a:pPr>
              <a:lnSpc>
                <a:spcPct val="120000"/>
              </a:lnSpc>
            </a:pPr>
            <a:r>
              <a:rPr lang="en-US" sz="1400" b="1"/>
              <a:t>Step 6: Continuous Learning (</a:t>
            </a:r>
            <a:r>
              <a:rPr lang="en-US" sz="1400" b="1" err="1"/>
              <a:t>MLOps</a:t>
            </a:r>
            <a:r>
              <a:rPr lang="en-US" sz="1400" b="1"/>
              <a:t> / HITL)</a:t>
            </a:r>
            <a:br>
              <a:rPr lang="en-US" sz="1400"/>
            </a:br>
            <a:r>
              <a:rPr lang="en-US" sz="1400"/>
              <a:t>Under the WhatsApp message are two interactive buttons: </a:t>
            </a:r>
            <a:r>
              <a:rPr lang="en-US" sz="1400" b="1"/>
              <a:t>[Fixed]</a:t>
            </a:r>
            <a:r>
              <a:rPr lang="en-US" sz="1400"/>
              <a:t> or </a:t>
            </a:r>
            <a:r>
              <a:rPr lang="en-US" sz="1400" b="1"/>
              <a:t>[False Alarm]</a:t>
            </a:r>
            <a:r>
              <a:rPr lang="en-US" sz="1400"/>
              <a:t>. If User clicks [False Alarm] (e.g., a temporary shadow from a construction crane triggered the system), the timestamped data is sent back to the Isolation Forest model. The model automatically adjusts its weights, learning that this specific shadow pattern is "normal," ensuring the false alarm never happens again.</a:t>
            </a:r>
          </a:p>
          <a:p>
            <a:endParaRPr lang="en-US" sz="1600"/>
          </a:p>
        </p:txBody>
      </p:sp>
      <p:sp>
        <p:nvSpPr>
          <p:cNvPr id="5" name="TextBox 4">
            <a:extLst>
              <a:ext uri="{FF2B5EF4-FFF2-40B4-BE49-F238E27FC236}">
                <a16:creationId xmlns:a16="http://schemas.microsoft.com/office/drawing/2014/main" id="{DC9E2C80-D4C2-623D-539E-35FE5E3D782F}"/>
              </a:ext>
            </a:extLst>
          </p:cNvPr>
          <p:cNvSpPr txBox="1"/>
          <p:nvPr/>
        </p:nvSpPr>
        <p:spPr>
          <a:xfrm>
            <a:off x="198017" y="196645"/>
            <a:ext cx="5985100" cy="646331"/>
          </a:xfrm>
          <a:prstGeom prst="rect">
            <a:avLst/>
          </a:prstGeom>
          <a:noFill/>
        </p:spPr>
        <p:txBody>
          <a:bodyPr wrap="none" rtlCol="0">
            <a:spAutoFit/>
          </a:bodyPr>
          <a:lstStyle/>
          <a:p>
            <a:r>
              <a:rPr lang="en-US" b="1">
                <a:solidFill>
                  <a:schemeClr val="tx2">
                    <a:lumMod val="75000"/>
                    <a:lumOff val="25000"/>
                  </a:schemeClr>
                </a:solidFill>
                <a:highlight>
                  <a:srgbClr val="00FFFF"/>
                </a:highlight>
              </a:rPr>
              <a:t>04. Create the AI Workflow (The Step-by-Step Data Path)</a:t>
            </a:r>
          </a:p>
          <a:p>
            <a:endParaRPr lang="en-US">
              <a:solidFill>
                <a:schemeClr val="tx2">
                  <a:lumMod val="75000"/>
                  <a:lumOff val="25000"/>
                </a:schemeClr>
              </a:solidFill>
              <a:highlight>
                <a:srgbClr val="00FFFF"/>
              </a:highlight>
            </a:endParaRPr>
          </a:p>
        </p:txBody>
      </p:sp>
    </p:spTree>
    <p:extLst>
      <p:ext uri="{BB962C8B-B14F-4D97-AF65-F5344CB8AC3E}">
        <p14:creationId xmlns:p14="http://schemas.microsoft.com/office/powerpoint/2010/main" val="159082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B8013-D378-97F5-70F0-9AFFBC708592}"/>
            </a:ext>
          </a:extLst>
        </p:cNvPr>
        <p:cNvGrpSpPr/>
        <p:nvPr/>
      </p:nvGrpSpPr>
      <p:grpSpPr>
        <a:xfrm>
          <a:off x="0" y="0"/>
          <a:ext cx="0" cy="0"/>
          <a:chOff x="0" y="0"/>
          <a:chExt cx="0" cy="0"/>
        </a:xfrm>
      </p:grpSpPr>
      <p:sp>
        <p:nvSpPr>
          <p:cNvPr id="7" name="TextBox 6">
            <a:hlinkClick r:id="rId3"/>
            <a:extLst>
              <a:ext uri="{FF2B5EF4-FFF2-40B4-BE49-F238E27FC236}">
                <a16:creationId xmlns:a16="http://schemas.microsoft.com/office/drawing/2014/main" id="{5E335B52-678C-83AA-4F6A-3B4EF6E032ED}"/>
              </a:ext>
            </a:extLst>
          </p:cNvPr>
          <p:cNvSpPr txBox="1"/>
          <p:nvPr/>
        </p:nvSpPr>
        <p:spPr>
          <a:xfrm>
            <a:off x="839862" y="625296"/>
            <a:ext cx="6572505" cy="36933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en-US">
                <a:hlinkClick r:id="rId3"/>
              </a:rPr>
              <a:t>https://mermaid.ai/d/886b09e0-8e60-4adf-b16a-a6961861120b</a:t>
            </a:r>
            <a:endParaRPr lang="en-US"/>
          </a:p>
        </p:txBody>
      </p:sp>
      <p:sp>
        <p:nvSpPr>
          <p:cNvPr id="8" name="Rectangle 7">
            <a:extLst>
              <a:ext uri="{FF2B5EF4-FFF2-40B4-BE49-F238E27FC236}">
                <a16:creationId xmlns:a16="http://schemas.microsoft.com/office/drawing/2014/main" id="{F92BD30A-C211-C7E5-3C9F-DB6616ED022F}"/>
              </a:ext>
            </a:extLst>
          </p:cNvPr>
          <p:cNvSpPr/>
          <p:nvPr/>
        </p:nvSpPr>
        <p:spPr>
          <a:xfrm>
            <a:off x="839862" y="-67202"/>
            <a:ext cx="10412920" cy="646331"/>
          </a:xfrm>
          <a:prstGeom prst="rect">
            <a:avLst/>
          </a:prstGeom>
          <a:noFill/>
        </p:spPr>
        <p:txBody>
          <a:bodyPr wrap="square" lIns="91440" tIns="45720" rIns="91440" bIns="45720">
            <a:spAutoFit/>
          </a:bodyPr>
          <a:lstStyle/>
          <a:p>
            <a:pPr algn="ctr"/>
            <a:r>
              <a:rPr lang="en-US" sz="3600" b="1" cap="none" spc="0">
                <a:ln w="9525">
                  <a:solidFill>
                    <a:schemeClr val="bg1"/>
                  </a:solidFill>
                  <a:prstDash val="solid"/>
                </a:ln>
                <a:solidFill>
                  <a:schemeClr val="tx1"/>
                </a:solidFill>
                <a:effectLst>
                  <a:outerShdw blurRad="12700" dist="38100" dir="2700000" algn="tl" rotWithShape="0">
                    <a:schemeClr val="bg1">
                      <a:lumMod val="50000"/>
                    </a:schemeClr>
                  </a:outerShdw>
                </a:effectLst>
              </a:rPr>
              <a:t>Click the links for WORKFLOW diagram :</a:t>
            </a:r>
          </a:p>
        </p:txBody>
      </p:sp>
      <p:sp>
        <p:nvSpPr>
          <p:cNvPr id="9" name="TextBox 8">
            <a:extLst>
              <a:ext uri="{FF2B5EF4-FFF2-40B4-BE49-F238E27FC236}">
                <a16:creationId xmlns:a16="http://schemas.microsoft.com/office/drawing/2014/main" id="{AF1A807B-724A-4845-1949-8D0C7D0376D0}"/>
              </a:ext>
            </a:extLst>
          </p:cNvPr>
          <p:cNvSpPr txBox="1"/>
          <p:nvPr/>
        </p:nvSpPr>
        <p:spPr>
          <a:xfrm>
            <a:off x="839862" y="1086961"/>
            <a:ext cx="7636065" cy="36933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en-US">
                <a:hlinkClick r:id="rId4"/>
              </a:rPr>
              <a:t>https://miro.com/app/board/uXjVHBkb8Z4=/?share_link_id=138135549011</a:t>
            </a:r>
            <a:endParaRPr lang="en-US"/>
          </a:p>
        </p:txBody>
      </p:sp>
      <p:sp>
        <p:nvSpPr>
          <p:cNvPr id="10" name="TextBox 9">
            <a:extLst>
              <a:ext uri="{FF2B5EF4-FFF2-40B4-BE49-F238E27FC236}">
                <a16:creationId xmlns:a16="http://schemas.microsoft.com/office/drawing/2014/main" id="{141F69EB-3731-10DE-E0D5-E220E7EC11AC}"/>
              </a:ext>
            </a:extLst>
          </p:cNvPr>
          <p:cNvSpPr txBox="1"/>
          <p:nvPr/>
        </p:nvSpPr>
        <p:spPr>
          <a:xfrm>
            <a:off x="29593" y="1548626"/>
            <a:ext cx="12162407" cy="6047809"/>
          </a:xfrm>
          <a:prstGeom prst="rect">
            <a:avLst/>
          </a:prstGeom>
          <a:noFill/>
        </p:spPr>
        <p:txBody>
          <a:bodyPr wrap="square" rtlCol="0">
            <a:spAutoFit/>
          </a:bodyPr>
          <a:lstStyle/>
          <a:p>
            <a:r>
              <a:rPr lang="en-US" b="1" i="1" u="sng">
                <a:solidFill>
                  <a:schemeClr val="accent5">
                    <a:lumMod val="60000"/>
                    <a:lumOff val="40000"/>
                  </a:schemeClr>
                </a:solidFill>
                <a:effectLst/>
              </a:rPr>
              <a:t>05. Suggest Tools and Platforms</a:t>
            </a:r>
          </a:p>
          <a:p>
            <a:endParaRPr lang="en-US" b="1">
              <a:solidFill>
                <a:schemeClr val="accent5">
                  <a:lumMod val="60000"/>
                  <a:lumOff val="40000"/>
                </a:schemeClr>
              </a:solidFill>
            </a:endParaRPr>
          </a:p>
          <a:p>
            <a:r>
              <a:rPr lang="en-US" i="1"/>
              <a:t>This stack is chosen for Frugal Innovation-proving it can be affordably deployed by university students using modern tech.</a:t>
            </a:r>
          </a:p>
          <a:p>
            <a:endParaRPr lang="en-US"/>
          </a:p>
          <a:p>
            <a:r>
              <a:rPr lang="en-US" b="1"/>
              <a:t>IoT &amp; Edge Compute:</a:t>
            </a:r>
            <a:endParaRPr lang="en-US"/>
          </a:p>
          <a:p>
            <a:pPr lvl="1"/>
            <a:r>
              <a:rPr lang="en-US" b="1"/>
              <a:t>Hardware:</a:t>
            </a:r>
            <a:r>
              <a:rPr lang="en-US"/>
              <a:t> ESP32-WROOM-32 microcontroller (₹500) + RS485-to-TTL module (₹300).</a:t>
            </a:r>
          </a:p>
          <a:p>
            <a:pPr lvl="1"/>
            <a:r>
              <a:rPr lang="en-US" b="1"/>
              <a:t>Edge AI Tool:</a:t>
            </a:r>
            <a:r>
              <a:rPr lang="en-US"/>
              <a:t> </a:t>
            </a:r>
            <a:r>
              <a:rPr lang="en-US" b="1"/>
              <a:t>Edge Impulse</a:t>
            </a:r>
            <a:r>
              <a:rPr lang="en-US"/>
              <a:t> (Free platform to train and compress ML models into C++ libraries for microcontrollers).</a:t>
            </a:r>
          </a:p>
          <a:p>
            <a:pPr>
              <a:lnSpc>
                <a:spcPct val="150000"/>
              </a:lnSpc>
            </a:pPr>
            <a:r>
              <a:rPr lang="en-US" b="1"/>
              <a:t>Data Pipeline &amp; Security:</a:t>
            </a:r>
            <a:endParaRPr lang="en-US"/>
          </a:p>
          <a:p>
            <a:pPr lvl="1"/>
            <a:r>
              <a:rPr lang="en-US" b="1"/>
              <a:t>Broker:</a:t>
            </a:r>
            <a:r>
              <a:rPr lang="en-US"/>
              <a:t> </a:t>
            </a:r>
            <a:r>
              <a:rPr lang="en-US" b="1"/>
              <a:t>Eclipse </a:t>
            </a:r>
            <a:r>
              <a:rPr lang="en-US" b="1" err="1"/>
              <a:t>Mosquitto</a:t>
            </a:r>
            <a:r>
              <a:rPr lang="en-US"/>
              <a:t> (Open-source MQTT broker for fast, secure IoT messaging).</a:t>
            </a:r>
          </a:p>
          <a:p>
            <a:pPr lvl="1"/>
            <a:r>
              <a:rPr lang="en-US" b="1"/>
              <a:t>Database:</a:t>
            </a:r>
            <a:r>
              <a:rPr lang="en-US"/>
              <a:t> </a:t>
            </a:r>
            <a:r>
              <a:rPr lang="en-US" b="1"/>
              <a:t>Firebase Realtime Database</a:t>
            </a:r>
            <a:r>
              <a:rPr lang="en-US"/>
              <a:t> (Handles fast, unstructured JSON streams effortlessly).</a:t>
            </a:r>
          </a:p>
          <a:p>
            <a:pPr>
              <a:lnSpc>
                <a:spcPct val="150000"/>
              </a:lnSpc>
            </a:pPr>
            <a:r>
              <a:rPr lang="en-US" b="1"/>
              <a:t>Cloud AI &amp; Analytics:</a:t>
            </a:r>
            <a:endParaRPr lang="en-US"/>
          </a:p>
          <a:p>
            <a:pPr lvl="1"/>
            <a:r>
              <a:rPr lang="en-US" b="1"/>
              <a:t>ML Framework:</a:t>
            </a:r>
            <a:r>
              <a:rPr lang="en-US"/>
              <a:t> </a:t>
            </a:r>
            <a:r>
              <a:rPr lang="en-US" b="1"/>
              <a:t>Scikit-Learn (Python)</a:t>
            </a:r>
            <a:r>
              <a:rPr lang="en-US"/>
              <a:t> for the Isolation Forest algorithm.</a:t>
            </a:r>
          </a:p>
          <a:p>
            <a:pPr lvl="1"/>
            <a:r>
              <a:rPr lang="en-US" b="1"/>
              <a:t>Weather Data:</a:t>
            </a:r>
            <a:r>
              <a:rPr lang="en-US"/>
              <a:t> </a:t>
            </a:r>
            <a:r>
              <a:rPr lang="en-US" b="1"/>
              <a:t>NASA POWER API</a:t>
            </a:r>
            <a:r>
              <a:rPr lang="en-US"/>
              <a:t> (Free, reliable satellite irradiance data).    </a:t>
            </a:r>
          </a:p>
          <a:p>
            <a:pPr>
              <a:lnSpc>
                <a:spcPct val="150000"/>
              </a:lnSpc>
            </a:pPr>
            <a:r>
              <a:rPr lang="en-US" b="1"/>
              <a:t>User Interface &amp; GenAI:</a:t>
            </a:r>
            <a:endParaRPr lang="en-US"/>
          </a:p>
          <a:p>
            <a:pPr lvl="1"/>
            <a:r>
              <a:rPr lang="en-US" b="1"/>
              <a:t>Dashboard:</a:t>
            </a:r>
            <a:r>
              <a:rPr lang="en-US"/>
              <a:t> </a:t>
            </a:r>
            <a:r>
              <a:rPr lang="en-US" b="1" err="1"/>
              <a:t>Streamlit</a:t>
            </a:r>
            <a:r>
              <a:rPr lang="en-US"/>
              <a:t> (Python library to build web apps in minutes).</a:t>
            </a:r>
          </a:p>
          <a:p>
            <a:pPr lvl="1"/>
            <a:r>
              <a:rPr lang="en-US" b="1"/>
              <a:t>Conversational AI:</a:t>
            </a:r>
            <a:r>
              <a:rPr lang="en-US"/>
              <a:t> </a:t>
            </a:r>
            <a:r>
              <a:rPr lang="en-US" b="1"/>
              <a:t>Llama 3 (via </a:t>
            </a:r>
            <a:r>
              <a:rPr lang="en-US" b="1" err="1"/>
              <a:t>Groq</a:t>
            </a:r>
            <a:r>
              <a:rPr lang="en-US" b="1"/>
              <a:t> API)</a:t>
            </a:r>
            <a:r>
              <a:rPr lang="en-US"/>
              <a:t> for ultra-fast, free, open-source language generation.</a:t>
            </a:r>
          </a:p>
          <a:p>
            <a:pPr lvl="1"/>
            <a:r>
              <a:rPr lang="en-US" b="1"/>
              <a:t>Messaging:</a:t>
            </a:r>
            <a:r>
              <a:rPr lang="en-US"/>
              <a:t> </a:t>
            </a:r>
            <a:r>
              <a:rPr lang="en-US" b="1"/>
              <a:t>Twilio WhatsApp API</a:t>
            </a:r>
            <a:r>
              <a:rPr lang="en-US"/>
              <a:t> for seamless integration with staff mobile phones.</a:t>
            </a:r>
          </a:p>
          <a:p>
            <a:br>
              <a:rPr lang="en-US"/>
            </a:br>
            <a:br>
              <a:rPr lang="en-US"/>
            </a:br>
            <a:endParaRPr lang="en-US"/>
          </a:p>
        </p:txBody>
      </p:sp>
      <p:pic>
        <p:nvPicPr>
          <p:cNvPr id="11" name="Picture Placeholder 20" descr="A tree with leaves on it">
            <a:extLst>
              <a:ext uri="{FF2B5EF4-FFF2-40B4-BE49-F238E27FC236}">
                <a16:creationId xmlns:a16="http://schemas.microsoft.com/office/drawing/2014/main" id="{F2CB2CA8-E9D4-1122-0FA8-1C8F525B833B}"/>
              </a:ext>
            </a:extLst>
          </p:cNvPr>
          <p:cNvPicPr>
            <a:picLocks noChangeAspect="1"/>
          </p:cNvPicPr>
          <p:nvPr/>
        </p:nvPicPr>
        <p:blipFill rotWithShape="1">
          <a:blip r:embed="rId5">
            <a:extLst>
              <a:ext uri="{28A0092B-C50C-407E-A947-70E740481C1C}">
                <a14:useLocalDpi xmlns:a14="http://schemas.microsoft.com/office/drawing/2010/main" val="0"/>
              </a:ext>
            </a:extLst>
          </a:blip>
          <a:srcRect l="8" r="8"/>
          <a:stretch/>
        </p:blipFill>
        <p:spPr>
          <a:xfrm>
            <a:off x="9877846" y="4083218"/>
            <a:ext cx="2151397" cy="2452311"/>
          </a:xfrm>
          <a:prstGeom prst="rect">
            <a:avLst/>
          </a:prstGeom>
        </p:spPr>
      </p:pic>
    </p:spTree>
    <p:extLst>
      <p:ext uri="{BB962C8B-B14F-4D97-AF65-F5344CB8AC3E}">
        <p14:creationId xmlns:p14="http://schemas.microsoft.com/office/powerpoint/2010/main" val="690261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11FE5A9-5AB1-7E19-1429-6695864A5C44}"/>
                  </a:ext>
                </a:extLst>
              </p:cNvPr>
              <p:cNvSpPr>
                <a:spLocks noGrp="1"/>
              </p:cNvSpPr>
              <p:nvPr>
                <p:ph type="title"/>
              </p:nvPr>
            </p:nvSpPr>
            <p:spPr>
              <a:xfrm>
                <a:off x="83820" y="-375920"/>
                <a:ext cx="12024360" cy="7762240"/>
              </a:xfrm>
            </p:spPr>
            <p:txBody>
              <a:bodyPr>
                <a:noAutofit/>
              </a:bodyPr>
              <a:lstStyle/>
              <a:p>
                <a:r>
                  <a:rPr lang="en-US" sz="1400"/>
                  <a:t>To ensure this workflow is highly feasible, cost-effective, and aligned with open-source Digital Public Infrastructure (DPI) standards, we will utilize the following specialized tools:</a:t>
                </a:r>
                <a:br>
                  <a:rPr lang="en-US" sz="1400"/>
                </a:br>
                <a:br>
                  <a:rPr lang="en-US" sz="1400"/>
                </a:br>
                <a:r>
                  <a:rPr lang="en-US" sz="1400" b="1"/>
                  <a:t>1. Edge Computing &amp; </a:t>
                </a:r>
                <a:r>
                  <a:rPr lang="en-US" sz="1400" b="1" err="1"/>
                  <a:t>TinyML</a:t>
                </a:r>
                <a:r>
                  <a:rPr lang="en-US" sz="1400" b="1"/>
                  <a:t> (The Hardware Layer)</a:t>
                </a:r>
                <a:br>
                  <a:rPr lang="en-US" sz="1400" b="1"/>
                </a:br>
                <a:br>
                  <a:rPr lang="en-US" sz="1400" b="1"/>
                </a:br>
                <a:r>
                  <a:rPr lang="en-US" sz="1400" b="1"/>
                  <a:t>Tool:</a:t>
                </a:r>
                <a:r>
                  <a:rPr lang="en-US" sz="1400"/>
                  <a:t> </a:t>
                </a:r>
                <a:r>
                  <a:rPr lang="en-US" sz="1400" b="1"/>
                  <a:t>ESP32-S3 Microcontroller</a:t>
                </a:r>
                <a:r>
                  <a:rPr lang="en-US" sz="1400"/>
                  <a:t> + </a:t>
                </a:r>
                <a:r>
                  <a:rPr lang="en-US" sz="1400" b="1"/>
                  <a:t>Edge Impulse</a:t>
                </a:r>
                <a:br>
                  <a:rPr lang="en-US" sz="1400"/>
                </a:br>
                <a:r>
                  <a:rPr lang="en-US" sz="1400" b="1"/>
                  <a:t>Why it’s the best:</a:t>
                </a:r>
                <a:r>
                  <a:rPr lang="en-US" sz="1400"/>
                  <a:t> The ESP32-S3 (~₹600) has built-in vector instructions specifically designed to accelerate AI workloads. </a:t>
                </a:r>
                <a:r>
                  <a:rPr lang="en-US" sz="1400" b="1"/>
                  <a:t>Edge Impulse</a:t>
                </a:r>
                <a:r>
                  <a:rPr lang="en-US" sz="1400"/>
                  <a:t> is the industry-leading, low-code platform for </a:t>
                </a:r>
                <a:r>
                  <a:rPr lang="en-US" sz="1400" err="1"/>
                  <a:t>TinyML</a:t>
                </a:r>
                <a:r>
                  <a:rPr lang="en-US" sz="1400"/>
                  <a:t>. It allows </a:t>
                </a:r>
                <a:r>
                  <a:rPr lang="en-US" sz="1400" err="1"/>
                  <a:t>B.Tech</a:t>
                </a:r>
                <a:r>
                  <a:rPr lang="en-US" sz="1400"/>
                  <a:t> students to train a model in the cloud and compile it into a highly compressed C++ library (under 50KB) that runs directly on the ESP32 chip, ensuring the anomaly detection survives local Wi-Fi blackouts.</a:t>
                </a:r>
                <a:br>
                  <a:rPr lang="en-US" sz="1400"/>
                </a:br>
                <a:br>
                  <a:rPr lang="en-US" sz="1400"/>
                </a:br>
                <a:r>
                  <a:rPr lang="en-US" sz="1400" b="1"/>
                  <a:t>2. IoT Data Storage &amp; DPI (The Pipeline)</a:t>
                </a:r>
                <a:br>
                  <a:rPr lang="en-US" sz="1400" b="1"/>
                </a:br>
                <a:br>
                  <a:rPr lang="en-US" sz="1400" b="1"/>
                </a:br>
                <a:r>
                  <a:rPr lang="en-US" sz="1400" b="1"/>
                  <a:t>Tool:</a:t>
                </a:r>
                <a:r>
                  <a:rPr lang="en-US" sz="1400"/>
                  <a:t> </a:t>
                </a:r>
                <a:r>
                  <a:rPr lang="en-US" sz="1400" b="1" err="1"/>
                  <a:t>Supabase</a:t>
                </a:r>
                <a:r>
                  <a:rPr lang="en-US" sz="1400"/>
                  <a:t> + </a:t>
                </a:r>
                <a:r>
                  <a:rPr lang="en-US" sz="1400" b="1" err="1"/>
                  <a:t>TimescaleDB</a:t>
                </a:r>
                <a:br>
                  <a:rPr lang="en-US" sz="1400"/>
                </a:br>
                <a:r>
                  <a:rPr lang="en-US" sz="1400" b="1"/>
                  <a:t>Why it’s the best:</a:t>
                </a:r>
                <a:r>
                  <a:rPr lang="en-US" sz="1400"/>
                  <a:t> Traditional databases struggle with continuous, high-speed solar telemetry. </a:t>
                </a:r>
                <a:r>
                  <a:rPr lang="en-US" sz="1400" b="1" err="1"/>
                  <a:t>TimescaleDB</a:t>
                </a:r>
                <a:r>
                  <a:rPr lang="en-US" sz="1400"/>
                  <a:t> is an open-source time-series database built on PostgreSQL, engineered specifically for IoT workloads (like tracking solar voltage every second). </a:t>
                </a:r>
                <a:r>
                  <a:rPr lang="en-US" sz="1400" b="1" err="1"/>
                  <a:t>Supabase</a:t>
                </a:r>
                <a:r>
                  <a:rPr lang="en-US" sz="1400"/>
                  <a:t> provides the open-source backend API, eliminating the need to pay for expensive enterprise AWS/Azure services.</a:t>
                </a:r>
                <a:br>
                  <a:rPr lang="en-US" sz="1400"/>
                </a:br>
                <a:br>
                  <a:rPr lang="en-US" sz="1400"/>
                </a:br>
                <a:r>
                  <a:rPr lang="en-US" sz="1400" b="1"/>
                  <a:t>3. Core AI Engine (Anomaly Detection)</a:t>
                </a:r>
                <a:br>
                  <a:rPr lang="en-US" sz="1400" b="1"/>
                </a:br>
                <a:br>
                  <a:rPr lang="en-US" sz="1400" b="1"/>
                </a:br>
                <a:r>
                  <a:rPr lang="en-US" sz="1400" b="1"/>
                  <a:t>Tool:</a:t>
                </a:r>
                <a:r>
                  <a:rPr lang="en-US" sz="1400"/>
                  <a:t> </a:t>
                </a:r>
                <a:r>
                  <a:rPr lang="en-US" sz="1400" b="1"/>
                  <a:t>PyOD (Python Outlier Detection)</a:t>
                </a:r>
                <a:r>
                  <a:rPr lang="en-US" sz="1400"/>
                  <a:t> library + </a:t>
                </a:r>
                <a:r>
                  <a:rPr lang="en-US" sz="1400" b="1" err="1"/>
                  <a:t>Streamlit</a:t>
                </a:r>
                <a:br>
                  <a:rPr lang="en-US" sz="1400"/>
                </a:br>
                <a:r>
                  <a:rPr lang="en-US" sz="1400" b="1"/>
                  <a:t>Why it’s the best:</a:t>
                </a:r>
                <a:r>
                  <a:rPr lang="en-US" sz="1400"/>
                  <a:t> Instead of writing basic ML from scratch, </a:t>
                </a:r>
                <a:r>
                  <a:rPr lang="en-US" sz="1400" b="1"/>
                  <a:t>PyOD</a:t>
                </a:r>
                <a:r>
                  <a:rPr lang="en-US" sz="1400"/>
                  <a:t> is a comprehensive, scalable Python toolkit specifically built for detecting anomalies in multivariate data. It contains built-in </a:t>
                </a:r>
                <a:r>
                  <a:rPr lang="en-US" sz="1400" i="1"/>
                  <a:t>Isolation Forest</a:t>
                </a:r>
                <a:r>
                  <a:rPr lang="en-US" sz="1400"/>
                  <a:t> algorithms. For the UI, </a:t>
                </a:r>
                <a:r>
                  <a:rPr lang="en-US" sz="1400" b="1" err="1"/>
                  <a:t>Streamlit</a:t>
                </a:r>
                <a:r>
                  <a:rPr lang="en-US" sz="1400"/>
                  <a:t> allows us to deploy this Python model into an interactive, beautiful web dashboard in just hours without needing front-end web development experience.</a:t>
                </a:r>
                <a:br>
                  <a:rPr lang="en-US" sz="1400"/>
                </a:br>
                <a:br>
                  <a:rPr lang="en-US" sz="1400"/>
                </a:br>
                <a:r>
                  <a:rPr lang="en-US" sz="1400" b="1"/>
                  <a:t>4. Meteorological Data (The Context)</a:t>
                </a:r>
                <a:br>
                  <a:rPr lang="en-US" sz="1400" b="1"/>
                </a:br>
                <a:br>
                  <a:rPr lang="en-US" sz="1400" b="1"/>
                </a:br>
                <a:r>
                  <a:rPr lang="en-US" sz="1400" b="1"/>
                  <a:t>Tool:</a:t>
                </a:r>
                <a:r>
                  <a:rPr lang="en-US" sz="1400"/>
                  <a:t> </a:t>
                </a:r>
                <a:r>
                  <a:rPr lang="en-US" sz="1400" b="1"/>
                  <a:t>Open-</a:t>
                </a:r>
                <a:r>
                  <a:rPr lang="en-US" sz="1400" b="1" err="1"/>
                  <a:t>Meteo</a:t>
                </a:r>
                <a:r>
                  <a:rPr lang="en-US" sz="1400" b="1"/>
                  <a:t> API</a:t>
                </a:r>
                <a:br>
                  <a:rPr lang="en-US" sz="1400"/>
                </a:br>
                <a:r>
                  <a:rPr lang="en-US" sz="1400" b="1"/>
                  <a:t>Why it’s the best:</a:t>
                </a:r>
                <a:r>
                  <a:rPr lang="en-US" sz="1400"/>
                  <a:t> Open-</a:t>
                </a:r>
                <a:r>
                  <a:rPr lang="en-US" sz="1400" err="1"/>
                  <a:t>Meteo</a:t>
                </a:r>
                <a:r>
                  <a:rPr lang="en-US" sz="1400"/>
                  <a:t> is a completely open-source, highly accurate weather API that requires no commercial API keys. It provides highly localized irradiance (</a:t>
                </a:r>
                <a:br>
                  <a:rPr lang="en-US" sz="1400"/>
                </a:br>
                <a14:m>
                  <m:oMath xmlns:m="http://schemas.openxmlformats.org/officeDocument/2006/math">
                    <m:r>
                      <a:rPr lang="en-US" sz="1400" i="1">
                        <a:latin typeface="Cambria Math" panose="02040503050406030204" pitchFamily="18" charset="0"/>
                      </a:rPr>
                      <m:t>𝑊</m:t>
                    </m:r>
                    <m:r>
                      <a:rPr lang="en-US" sz="1400">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𝑚</m:t>
                        </m:r>
                      </m:e>
                      <m:sup>
                        <m:r>
                          <a:rPr lang="en-US" sz="1400">
                            <a:latin typeface="Cambria Math" panose="02040503050406030204" pitchFamily="18" charset="0"/>
                          </a:rPr>
                          <m:t>2</m:t>
                        </m:r>
                      </m:sup>
                    </m:sSup>
                  </m:oMath>
                </a14:m>
                <a:r>
                  <a:rPr lang="en-US" sz="1400"/>
                  <a:t>) and 14-day weather forecasts for the city, which is critical for powering our "Dynamic ROI Decision Gate" (knowing when to delay panel cleaning due to upcoming rain).</a:t>
                </a:r>
                <a:br>
                  <a:rPr lang="en-US" sz="1600"/>
                </a:br>
                <a:endParaRPr lang="en-US" sz="1600"/>
              </a:p>
            </p:txBody>
          </p:sp>
        </mc:Choice>
        <mc:Fallback xmlns="">
          <p:sp>
            <p:nvSpPr>
              <p:cNvPr id="2" name="Title 1">
                <a:extLst>
                  <a:ext uri="{FF2B5EF4-FFF2-40B4-BE49-F238E27FC236}">
                    <a16:creationId xmlns:a16="http://schemas.microsoft.com/office/drawing/2014/main" id="{411FE5A9-5AB1-7E19-1429-6695864A5C44}"/>
                  </a:ext>
                </a:extLst>
              </p:cNvPr>
              <p:cNvSpPr>
                <a:spLocks noGrp="1" noRot="1" noChangeAspect="1" noMove="1" noResize="1" noEditPoints="1" noAdjustHandles="1" noChangeArrowheads="1" noChangeShapeType="1" noTextEdit="1"/>
              </p:cNvSpPr>
              <p:nvPr>
                <p:ph type="title"/>
              </p:nvPr>
            </p:nvSpPr>
            <p:spPr>
              <a:xfrm>
                <a:off x="83820" y="-375920"/>
                <a:ext cx="12024360" cy="7762240"/>
              </a:xfrm>
              <a:blipFill>
                <a:blip r:embed="rId2"/>
                <a:stretch>
                  <a:fillRect l="-152" r="-51"/>
                </a:stretch>
              </a:blipFill>
            </p:spPr>
            <p:txBody>
              <a:bodyPr/>
              <a:lstStyle/>
              <a:p>
                <a:r>
                  <a:rPr lang="en-US">
                    <a:noFill/>
                  </a:rPr>
                  <a:t> </a:t>
                </a:r>
              </a:p>
            </p:txBody>
          </p:sp>
        </mc:Fallback>
      </mc:AlternateContent>
    </p:spTree>
    <p:extLst>
      <p:ext uri="{BB962C8B-B14F-4D97-AF65-F5344CB8AC3E}">
        <p14:creationId xmlns:p14="http://schemas.microsoft.com/office/powerpoint/2010/main" val="742951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D4E7E-174A-E30F-E4AD-0A8C5EBCE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479AC-AEF3-B61B-C56E-E1A207992291}"/>
              </a:ext>
            </a:extLst>
          </p:cNvPr>
          <p:cNvSpPr>
            <a:spLocks noGrp="1"/>
          </p:cNvSpPr>
          <p:nvPr>
            <p:ph type="title"/>
          </p:nvPr>
        </p:nvSpPr>
        <p:spPr>
          <a:xfrm>
            <a:off x="83820" y="-264160"/>
            <a:ext cx="12024360" cy="7894320"/>
          </a:xfrm>
        </p:spPr>
        <p:txBody>
          <a:bodyPr>
            <a:noAutofit/>
          </a:bodyPr>
          <a:lstStyle/>
          <a:p>
            <a:r>
              <a:rPr lang="en-US" sz="1600" b="1"/>
              <a:t>5. Conversational AI &amp; Action (The RAG Layer)</a:t>
            </a:r>
            <a:br>
              <a:rPr lang="en-US" sz="1600" b="1"/>
            </a:br>
            <a:br>
              <a:rPr lang="en-US" sz="1600" b="1"/>
            </a:br>
            <a:r>
              <a:rPr lang="en-US" sz="1600" b="1"/>
              <a:t>Tool:</a:t>
            </a:r>
            <a:r>
              <a:rPr lang="en-US" sz="1600"/>
              <a:t> </a:t>
            </a:r>
            <a:r>
              <a:rPr lang="en-US" sz="1600" b="1" err="1"/>
              <a:t>LangChain</a:t>
            </a:r>
            <a:r>
              <a:rPr lang="en-US" sz="1600"/>
              <a:t> + </a:t>
            </a:r>
            <a:r>
              <a:rPr lang="en-US" sz="1600" b="1"/>
              <a:t>Llama 3 (via </a:t>
            </a:r>
            <a:r>
              <a:rPr lang="en-US" sz="1600" b="1" err="1"/>
              <a:t>Groq</a:t>
            </a:r>
            <a:r>
              <a:rPr lang="en-US" sz="1600" b="1"/>
              <a:t> API)</a:t>
            </a:r>
            <a:r>
              <a:rPr lang="en-US" sz="1600"/>
              <a:t> + </a:t>
            </a:r>
            <a:r>
              <a:rPr lang="en-US" sz="1600" b="1"/>
              <a:t>WhatsApp Cloud API</a:t>
            </a:r>
            <a:br>
              <a:rPr lang="en-US" sz="1600"/>
            </a:br>
            <a:r>
              <a:rPr lang="en-US" sz="1600" b="1"/>
              <a:t>Why it’s the best:</a:t>
            </a:r>
            <a:r>
              <a:rPr lang="en-US" sz="1600"/>
              <a:t> To build the GenAI chatbot, we use </a:t>
            </a:r>
            <a:r>
              <a:rPr lang="en-US" sz="1600" b="1" err="1"/>
              <a:t>LangChain</a:t>
            </a:r>
            <a:r>
              <a:rPr lang="en-US" sz="1600"/>
              <a:t> to orchestrate the Retrieval-Augmented Generation (RAG). We run Meta's open-source </a:t>
            </a:r>
            <a:r>
              <a:rPr lang="en-US" sz="1600" b="1"/>
              <a:t>Llama 3</a:t>
            </a:r>
            <a:r>
              <a:rPr lang="en-US" sz="1600"/>
              <a:t> model using the </a:t>
            </a:r>
            <a:r>
              <a:rPr lang="en-US" sz="1600" b="1" err="1"/>
              <a:t>Groq</a:t>
            </a:r>
            <a:r>
              <a:rPr lang="en-US" sz="1600" b="1"/>
              <a:t> API</a:t>
            </a:r>
            <a:r>
              <a:rPr lang="en-US" sz="1600"/>
              <a:t>. </a:t>
            </a:r>
            <a:r>
              <a:rPr lang="en-US" sz="1600" err="1"/>
              <a:t>Groq</a:t>
            </a:r>
            <a:r>
              <a:rPr lang="en-US" sz="1600"/>
              <a:t> uses specialized LPU (Language Processing Unit) chips rather than GPUs, making inference </a:t>
            </a:r>
            <a:r>
              <a:rPr lang="en-US" sz="1600" i="1"/>
              <a:t>blazing fast and highly energy-efficient (low carbon footprint)</a:t>
            </a:r>
            <a:r>
              <a:rPr lang="en-US" sz="1600"/>
              <a:t>—a massive bonus for a sustainability pitch. The output is pushed natively to the staff via the official Meta WhatsApp Cloud API.</a:t>
            </a:r>
            <a:br>
              <a:rPr lang="en-US" sz="1600"/>
            </a:br>
            <a:br>
              <a:rPr lang="en-US" sz="1600"/>
            </a:br>
            <a:r>
              <a:rPr lang="en-US" sz="1600" i="1">
                <a:highlight>
                  <a:srgbClr val="00FF00"/>
                </a:highlight>
                <a:latin typeface="Arial Black" panose="020B0A04020102020204" pitchFamily="34" charset="0"/>
              </a:rPr>
              <a:t>Future-Proofing Mechanisms - </a:t>
            </a:r>
            <a:br>
              <a:rPr lang="en-US" sz="1600"/>
            </a:br>
            <a:br>
              <a:rPr lang="en-US" sz="1600"/>
            </a:br>
            <a:r>
              <a:rPr lang="en-US" sz="1600" b="1"/>
              <a:t>Masterstroke 1: Add "Federated Learning" for Global Scaling</a:t>
            </a:r>
            <a:br>
              <a:rPr lang="en-US" sz="1600" b="1"/>
            </a:br>
            <a:br>
              <a:rPr lang="en-US" sz="1600" b="1"/>
            </a:br>
            <a:r>
              <a:rPr lang="en-US" sz="1600" b="1"/>
              <a:t>The Missing Piece:</a:t>
            </a:r>
            <a:r>
              <a:rPr lang="en-US" sz="1600"/>
              <a:t> If you scale Helio-Twin to 500 different universities across India or the Global South, sending all their raw, private energy data to a central cloud server is extremely expensive and a data-privacy nightmare.</a:t>
            </a:r>
            <a:br>
              <a:rPr lang="en-US" sz="1600"/>
            </a:br>
            <a:r>
              <a:rPr lang="en-US" sz="1600" b="1"/>
              <a:t>The Upgrade:</a:t>
            </a:r>
            <a:r>
              <a:rPr lang="en-US" sz="1600"/>
              <a:t> Mention </a:t>
            </a:r>
            <a:r>
              <a:rPr lang="en-US" sz="1600" b="1"/>
              <a:t>Federated Learning</a:t>
            </a:r>
            <a:r>
              <a:rPr lang="en-US" sz="1600"/>
              <a:t>.</a:t>
            </a:r>
            <a:br>
              <a:rPr lang="en-US" sz="1600"/>
            </a:br>
            <a:r>
              <a:rPr lang="en-US" sz="1600" b="1"/>
              <a:t>How it works:</a:t>
            </a:r>
            <a:r>
              <a:rPr lang="en-US" sz="1600"/>
              <a:t> Instead of sharing raw data, each university campus trains its own AI model locally. Once a week, the campus only uploads the </a:t>
            </a:r>
            <a:r>
              <a:rPr lang="en-US" sz="1600" i="1"/>
              <a:t>learned AI weights</a:t>
            </a:r>
            <a:r>
              <a:rPr lang="en-US" sz="1600"/>
              <a:t> (the math) to a central UN/Open-Source hub.</a:t>
            </a:r>
            <a:br>
              <a:rPr lang="en-US" sz="1600"/>
            </a:br>
            <a:r>
              <a:rPr lang="en-US" sz="1600" b="1"/>
              <a:t>What to write in your submission (Under AI Type or Scalability):</a:t>
            </a:r>
            <a:r>
              <a:rPr lang="en-US" sz="1600"/>
              <a:t> </a:t>
            </a:r>
            <a:r>
              <a:rPr lang="en-US" sz="1600" i="1"/>
              <a:t>"To scale Helio-Twin globally as a Digital Public Good, we will utilize Federated Learning. If our campus in encounters a new type of monsoon cloud anomaly, our local model learns it and shares only the updated algorithmic weights with the global network. This means a university in Kenya instantly gets a smarter AI without ever sharing their private institutional data, ensuring strict Data Sovereignty.“</a:t>
            </a:r>
            <a:br>
              <a:rPr lang="en-US" sz="1600" i="1"/>
            </a:br>
            <a:br>
              <a:rPr lang="en-US" sz="1600"/>
            </a:br>
            <a:r>
              <a:rPr lang="en-US" sz="1600" b="1"/>
              <a:t>Masterstroke 2: Combating "Sensor Drift“</a:t>
            </a:r>
            <a:br>
              <a:rPr lang="en-US" sz="1600" b="1"/>
            </a:br>
            <a:br>
              <a:rPr lang="en-US" sz="1600" b="1"/>
            </a:br>
            <a:r>
              <a:rPr lang="en-US" sz="1600" b="1"/>
              <a:t>The Missing Piece:</a:t>
            </a:r>
            <a:r>
              <a:rPr lang="en-US" sz="1600"/>
              <a:t> AI models assume the hardware is perfect. But over 5 years, the IoT sensors will physically degrade and start reading 5% lower due to heat and wear. A basic AI will constantly trigger "Dust Soiling" alerts, not realizing the sensor itself is dying.</a:t>
            </a:r>
            <a:br>
              <a:rPr lang="en-US" sz="1600"/>
            </a:br>
            <a:r>
              <a:rPr lang="en-US" sz="1600" b="1"/>
              <a:t>The Upgrade:</a:t>
            </a:r>
            <a:r>
              <a:rPr lang="en-US" sz="1600"/>
              <a:t> Add a "Sensor Drift Auto-Calibration" loop.</a:t>
            </a:r>
            <a:br>
              <a:rPr lang="en-US" sz="1600"/>
            </a:br>
            <a:r>
              <a:rPr lang="en-US" sz="1600" b="1"/>
              <a:t>What to write (Under Step 2 of your Workflow):</a:t>
            </a:r>
            <a:r>
              <a:rPr lang="en-US" sz="1600"/>
              <a:t> </a:t>
            </a:r>
            <a:r>
              <a:rPr lang="en-US" sz="1600" i="1"/>
              <a:t>"To ensure decade-long reliability, the Physics-Informed layer includes Sensor Drift tracking. By cross-referencing our hardware voltage with highly calibrated NASA satellite irradiance over months, the AI can detect if the physical IoT sensor is</a:t>
            </a:r>
            <a:br>
              <a:rPr lang="en-US" sz="1600"/>
            </a:br>
            <a:br>
              <a:rPr lang="en-US" sz="1600"/>
            </a:br>
            <a:endParaRPr lang="en-US" sz="1600"/>
          </a:p>
        </p:txBody>
      </p:sp>
    </p:spTree>
    <p:extLst>
      <p:ext uri="{BB962C8B-B14F-4D97-AF65-F5344CB8AC3E}">
        <p14:creationId xmlns:p14="http://schemas.microsoft.com/office/powerpoint/2010/main" val="136232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71EAF-FC91-46EA-4489-5747DDE7E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53274-99A2-3D96-C548-AB297123C61C}"/>
              </a:ext>
            </a:extLst>
          </p:cNvPr>
          <p:cNvSpPr>
            <a:spLocks noGrp="1"/>
          </p:cNvSpPr>
          <p:nvPr>
            <p:ph type="title"/>
          </p:nvPr>
        </p:nvSpPr>
        <p:spPr>
          <a:xfrm>
            <a:off x="83820" y="-264160"/>
            <a:ext cx="12024360" cy="7894320"/>
          </a:xfrm>
        </p:spPr>
        <p:txBody>
          <a:bodyPr>
            <a:noAutofit/>
          </a:bodyPr>
          <a:lstStyle/>
          <a:p>
            <a:r>
              <a:rPr lang="en-US" sz="1600" i="1"/>
              <a:t>degrading, automatically calibrating its baseline to prevent false alarms as the hardware ages."</a:t>
            </a:r>
            <a:r>
              <a:rPr lang="en-US" sz="1600"/>
              <a:t> </a:t>
            </a:r>
            <a:br>
              <a:rPr lang="en-US" sz="1600" b="1"/>
            </a:br>
            <a:br>
              <a:rPr lang="en-US" sz="1600" b="1"/>
            </a:br>
            <a:r>
              <a:rPr lang="en-US" sz="1600" b="1"/>
              <a:t>Masterstroke 3: Behavioral Gamification (The Human Motivation Layer)</a:t>
            </a:r>
            <a:br>
              <a:rPr lang="en-US" sz="1600" b="1"/>
            </a:br>
            <a:br>
              <a:rPr lang="en-US" sz="1600" b="1"/>
            </a:br>
            <a:r>
              <a:rPr lang="en-US" sz="1600" b="1"/>
              <a:t>The Missing Piece:</a:t>
            </a:r>
            <a:r>
              <a:rPr lang="en-US" sz="1600"/>
              <a:t> You built a great WhatsApp bot, but how do you make sure the overworked ground staff actually </a:t>
            </a:r>
            <a:r>
              <a:rPr lang="en-US" sz="1600" i="1"/>
              <a:t>care</a:t>
            </a:r>
            <a:r>
              <a:rPr lang="en-US" sz="1600"/>
              <a:t> about responding to it?</a:t>
            </a:r>
            <a:br>
              <a:rPr lang="en-US" sz="1600"/>
            </a:br>
            <a:br>
              <a:rPr lang="en-US" sz="1600"/>
            </a:br>
            <a:br>
              <a:rPr lang="en-US" sz="1600"/>
            </a:br>
            <a:r>
              <a:rPr lang="en-US" sz="1600" b="1"/>
              <a:t>The Upgrade:</a:t>
            </a:r>
            <a:r>
              <a:rPr lang="en-US" sz="1600"/>
              <a:t> Program the GenAI LLM to gamify their work and connect it directly to carbon savings.</a:t>
            </a:r>
            <a:br>
              <a:rPr lang="en-US" sz="1600"/>
            </a:br>
            <a:r>
              <a:rPr lang="en-US" sz="1600" b="1"/>
              <a:t>What to write (Under Step 4/GenAI Action):</a:t>
            </a:r>
            <a:r>
              <a:rPr lang="en-US" sz="1600"/>
              <a:t> </a:t>
            </a:r>
            <a:r>
              <a:rPr lang="en-US" sz="1600" i="1"/>
              <a:t>"To drive adoption, the RAG LLM integrates behavioral gamification. When maintenance staff clear a fault, the WhatsApp bot does not just send a receipt; it translates their labor into direct climate impact. Example response: 'Great job, User! By resetting Inverter #2 today, you personally saved the campus ₹800 and prevented 12 kg of coal CO₂ emissions. You are currently #1 on the Campus Green Leaderboard for this month!’”</a:t>
            </a:r>
            <a:br>
              <a:rPr lang="en-US" sz="1600" i="1"/>
            </a:br>
            <a:br>
              <a:rPr lang="en-US" sz="1800" b="1" i="1"/>
            </a:br>
            <a:r>
              <a:rPr lang="en-US" sz="1800" b="1" i="1">
                <a:highlight>
                  <a:srgbClr val="00FF00"/>
                </a:highlight>
              </a:rPr>
              <a:t>FUTURE UPGRADES  - </a:t>
            </a:r>
            <a:br>
              <a:rPr lang="en-US" sz="1600" i="1">
                <a:highlight>
                  <a:srgbClr val="00FF00"/>
                </a:highlight>
              </a:rPr>
            </a:br>
            <a:br>
              <a:rPr lang="en-US" sz="1600" i="1"/>
            </a:br>
            <a:r>
              <a:rPr lang="en-US" sz="1600" b="1"/>
              <a:t>Multimodal Edge AI (Vision + Telemetry)</a:t>
            </a:r>
            <a:br>
              <a:rPr lang="en-US" sz="1600" b="1"/>
            </a:br>
            <a:br>
              <a:rPr lang="en-US" sz="1600" b="1"/>
            </a:br>
            <a:r>
              <a:rPr lang="en-US" sz="1600"/>
              <a:t>Instead of just relying on the power dropping to guess if there is dust, we give the AI "eyes.“</a:t>
            </a:r>
            <a:br>
              <a:rPr lang="en-US" sz="1600"/>
            </a:br>
            <a:br>
              <a:rPr lang="en-US" sz="1600"/>
            </a:br>
            <a:r>
              <a:rPr lang="en-US" sz="1600" b="1"/>
              <a:t>1. Update the "Input" Section</a:t>
            </a:r>
            <a:br>
              <a:rPr lang="en-US" sz="1600" b="1"/>
            </a:br>
            <a:r>
              <a:rPr lang="en-US" sz="1600" b="1"/>
              <a:t>Add Visual Data:</a:t>
            </a:r>
            <a:r>
              <a:rPr lang="en-US" sz="1600"/>
              <a:t> Along with the RS485 electrical telemetry and weather APIs, Helio-Twin ingests image data from ultra-low-cost </a:t>
            </a:r>
            <a:r>
              <a:rPr lang="en-US" sz="1600" b="1"/>
              <a:t>ESP32-CAM modules</a:t>
            </a:r>
            <a:r>
              <a:rPr lang="en-US" sz="1600"/>
              <a:t> (costing ~₹400) mounted on the edges of the solar arrays.</a:t>
            </a:r>
            <a:br>
              <a:rPr lang="en-US" sz="1600"/>
            </a:br>
            <a:br>
              <a:rPr lang="en-US" sz="1600"/>
            </a:br>
            <a:r>
              <a:rPr lang="en-US" sz="1600" b="1"/>
              <a:t>2. Update the "Type of AI" Section</a:t>
            </a:r>
            <a:br>
              <a:rPr lang="en-US" sz="1600" b="1"/>
            </a:br>
            <a:r>
              <a:rPr lang="en-US" sz="1600"/>
              <a:t>You are now using a </a:t>
            </a:r>
            <a:r>
              <a:rPr lang="en-US" sz="1600" b="1"/>
              <a:t>Multimodal AI Architecture</a:t>
            </a:r>
            <a:r>
              <a:rPr lang="en-US" sz="1600"/>
              <a:t>:</a:t>
            </a:r>
            <a:br>
              <a:rPr lang="en-US" sz="1600"/>
            </a:br>
            <a:r>
              <a:rPr lang="en-US" sz="1600" b="1"/>
              <a:t>For Electrical Faults (Inverter Trips):</a:t>
            </a:r>
            <a:r>
              <a:rPr lang="en-US" sz="1600"/>
              <a:t> </a:t>
            </a:r>
            <a:r>
              <a:rPr lang="en-US" sz="1600" i="1"/>
              <a:t>Isolation Forest</a:t>
            </a:r>
            <a:r>
              <a:rPr lang="en-US" sz="1600"/>
              <a:t> (Anomaly Detection).</a:t>
            </a:r>
            <a:br>
              <a:rPr lang="en-US" sz="1600"/>
            </a:br>
            <a:r>
              <a:rPr lang="en-US" sz="1600" b="1"/>
              <a:t>For Physical Faults (Dust, Bird Waste, Leaves):</a:t>
            </a:r>
            <a:r>
              <a:rPr lang="en-US" sz="1600"/>
              <a:t> </a:t>
            </a:r>
            <a:r>
              <a:rPr lang="en-US" sz="1600" b="1"/>
              <a:t>YOLO (You Only Look Once) Nano</a:t>
            </a:r>
            <a:r>
              <a:rPr lang="en-US" sz="1600"/>
              <a:t> or </a:t>
            </a:r>
            <a:r>
              <a:rPr lang="en-US" sz="1600" b="1"/>
              <a:t>MobileNetV2</a:t>
            </a:r>
            <a:r>
              <a:rPr lang="en-US" sz="1600"/>
              <a:t> (Computer Vision / Image Classification).</a:t>
            </a:r>
            <a:br>
              <a:rPr lang="en-US" sz="1600"/>
            </a:br>
            <a:br>
              <a:rPr lang="en-US" sz="1600"/>
            </a:br>
            <a:endParaRPr lang="en-US" sz="1600"/>
          </a:p>
        </p:txBody>
      </p:sp>
    </p:spTree>
    <p:extLst>
      <p:ext uri="{BB962C8B-B14F-4D97-AF65-F5344CB8AC3E}">
        <p14:creationId xmlns:p14="http://schemas.microsoft.com/office/powerpoint/2010/main" val="2065727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CBC7-2D9A-69F9-EEB9-6A68D0B37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2E927-A834-921C-E182-38247DA24B89}"/>
              </a:ext>
            </a:extLst>
          </p:cNvPr>
          <p:cNvSpPr>
            <a:spLocks noGrp="1"/>
          </p:cNvSpPr>
          <p:nvPr>
            <p:ph type="title"/>
          </p:nvPr>
        </p:nvSpPr>
        <p:spPr>
          <a:xfrm>
            <a:off x="167640" y="264160"/>
            <a:ext cx="12024360" cy="7934960"/>
          </a:xfrm>
        </p:spPr>
        <p:txBody>
          <a:bodyPr>
            <a:noAutofit/>
          </a:bodyPr>
          <a:lstStyle/>
          <a:p>
            <a:r>
              <a:rPr lang="en-US" sz="1600" b="1"/>
              <a:t>3. Update the "Workflow" (How it processes Bird Waste/Dust)</a:t>
            </a:r>
            <a:br>
              <a:rPr lang="en-US" sz="1600" b="1"/>
            </a:br>
            <a:br>
              <a:rPr lang="en-US" sz="1600" b="1"/>
            </a:br>
            <a:r>
              <a:rPr lang="en-US" sz="1600"/>
              <a:t>Add this specific visual pipeline to your workflow:</a:t>
            </a:r>
            <a:br>
              <a:rPr lang="en-US" sz="1600"/>
            </a:br>
            <a:r>
              <a:rPr lang="en-US" sz="1600" b="1"/>
              <a:t>Capture:</a:t>
            </a:r>
            <a:r>
              <a:rPr lang="en-US" sz="1600"/>
              <a:t> The ESP32-CAM takes a photo of the solar array every 6 hours.</a:t>
            </a:r>
            <a:br>
              <a:rPr lang="en-US" sz="1600"/>
            </a:br>
            <a:r>
              <a:rPr lang="en-US" sz="1600" b="1"/>
              <a:t>Edge Vision Processing:</a:t>
            </a:r>
            <a:r>
              <a:rPr lang="en-US" sz="1600"/>
              <a:t> A compressed YOLO computer vision model runs directly on the ESP32 chip. It scans the image specifically looking for high-contrast pixels (bird droppings) or a brown gradient filter (dust accumulation).</a:t>
            </a:r>
            <a:br>
              <a:rPr lang="en-US" sz="1600"/>
            </a:br>
            <a:r>
              <a:rPr lang="en-US" sz="1600" b="1"/>
              <a:t>Fusion &amp; Verification:</a:t>
            </a:r>
            <a:r>
              <a:rPr lang="en-US" sz="1600"/>
              <a:t> The AI cross-references the camera. </a:t>
            </a:r>
            <a:r>
              <a:rPr lang="en-US" sz="1600" i="1"/>
              <a:t>Vision AI says: "Panel 4 has heavy bird waste." Telemetry AI says: "Panel 4 power output dropped by 8%."</a:t>
            </a:r>
            <a:r>
              <a:rPr lang="en-US" sz="1600"/>
              <a:t> The AI now has 100% confidence.</a:t>
            </a:r>
            <a:br>
              <a:rPr lang="en-US" sz="1600"/>
            </a:br>
            <a:r>
              <a:rPr lang="en-US" sz="1600" b="1"/>
              <a:t>Action:</a:t>
            </a:r>
            <a:r>
              <a:rPr lang="en-US" sz="1600"/>
              <a:t> The GenAI WhatsApp bot texts User: </a:t>
            </a:r>
            <a:r>
              <a:rPr lang="en-US" sz="1600" i="1"/>
              <a:t>"Visual confirmation of heavy bird soiling on Array B. Output is down 8%. Please clean."</a:t>
            </a:r>
            <a:r>
              <a:rPr lang="en-US" sz="1600"/>
              <a:t> (You can even program the bot to send the annotated photo to User's WhatsApp!).</a:t>
            </a:r>
            <a:br>
              <a:rPr lang="en-US" sz="1600"/>
            </a:br>
            <a:br>
              <a:rPr lang="en-US" sz="1600"/>
            </a:br>
            <a:r>
              <a:rPr lang="en-US" sz="1600" b="1"/>
              <a:t>4. Update the "Tools" Section</a:t>
            </a:r>
            <a:br>
              <a:rPr lang="en-US" sz="1600" b="1"/>
            </a:br>
            <a:br>
              <a:rPr lang="en-US" sz="1600" b="1"/>
            </a:br>
            <a:r>
              <a:rPr lang="en-US" sz="1600" b="1"/>
              <a:t>Add ESP32-CAM:</a:t>
            </a:r>
            <a:r>
              <a:rPr lang="en-US" sz="1600"/>
              <a:t> The physical hardware for frugal vision.</a:t>
            </a:r>
            <a:br>
              <a:rPr lang="en-US" sz="1600"/>
            </a:br>
            <a:r>
              <a:rPr lang="en-US" sz="1600" b="1"/>
              <a:t>Add YOLO (Nano version) / Edge Impulse:</a:t>
            </a:r>
            <a:r>
              <a:rPr lang="en-US" sz="1600"/>
              <a:t> The perfect tools for running computer vision on microcontrollers without needing the cloud.</a:t>
            </a:r>
            <a:br>
              <a:rPr lang="en-US" sz="1600"/>
            </a:br>
            <a:br>
              <a:rPr lang="en-US" sz="1600"/>
            </a:br>
            <a:r>
              <a:rPr lang="en-US" sz="1400" b="1"/>
              <a:t>"</a:t>
            </a:r>
            <a:r>
              <a:rPr lang="en-US" sz="1400" b="1">
                <a:highlight>
                  <a:srgbClr val="00FF00"/>
                </a:highlight>
              </a:rPr>
              <a:t>Self-Healing" Material with AI Digital Twin</a:t>
            </a:r>
            <a:br>
              <a:rPr lang="en-US" sz="1400" b="1"/>
            </a:br>
            <a:br>
              <a:rPr lang="en-US" sz="1400" b="1"/>
            </a:br>
            <a:r>
              <a:rPr lang="en-US" sz="1400"/>
              <a:t>Instead of just alerting a human to fix a crack, your system predicts the damage and manages automated mitigation.</a:t>
            </a:r>
            <a:br>
              <a:rPr lang="en-US" sz="1400"/>
            </a:br>
            <a:r>
              <a:rPr lang="en-US" sz="1400" b="1"/>
              <a:t>The Concept:</a:t>
            </a:r>
            <a:r>
              <a:rPr lang="en-US" sz="1400"/>
              <a:t> You pair your software with advanced self-healing polymers or localized liquid-crystal coatings applied to the panels.</a:t>
            </a:r>
            <a:br>
              <a:rPr lang="en-US" sz="1400"/>
            </a:br>
            <a:r>
              <a:rPr lang="en-US" sz="1400" b="1"/>
              <a:t>How it works:</a:t>
            </a:r>
            <a:r>
              <a:rPr lang="en-US" sz="1400"/>
              <a:t> Your AI detects a micro-crack or a heavy scratch from a storm. Instead of sending a technician, the AI triggers a localized electrical micro-current or thermal pulse to the panel, activating the self-healing properties of the coating to seal the crack automatically.</a:t>
            </a:r>
            <a:br>
              <a:rPr lang="en-US" sz="1400"/>
            </a:br>
            <a:r>
              <a:rPr lang="en-US" sz="1400"/>
              <a:t>A closed-loop, autonomous maintenance system that fixes physical damage without human intervention.</a:t>
            </a:r>
            <a:br>
              <a:rPr lang="en-US" sz="1400"/>
            </a:br>
            <a:br>
              <a:rPr lang="en-US" sz="1400"/>
            </a:br>
            <a:r>
              <a:rPr lang="en-US" sz="1400" b="1">
                <a:highlight>
                  <a:srgbClr val="00FF00"/>
                </a:highlight>
              </a:rPr>
              <a:t>Acoustic &amp; Vibration "Listening" AI (Continuous Edge Monitoring)</a:t>
            </a:r>
            <a:br>
              <a:rPr lang="en-US" sz="1400" b="1"/>
            </a:br>
            <a:br>
              <a:rPr lang="en-US" sz="1400" b="1"/>
            </a:br>
            <a:r>
              <a:rPr lang="en-US" sz="1400"/>
              <a:t>Visual AI only sees a problem </a:t>
            </a:r>
            <a:r>
              <a:rPr lang="en-US" sz="1400" i="1"/>
              <a:t>after</a:t>
            </a:r>
            <a:r>
              <a:rPr lang="en-US" sz="1400"/>
              <a:t> it happens. Acoustic AI hears a problem </a:t>
            </a:r>
            <a:r>
              <a:rPr lang="en-US" sz="1400" i="1"/>
              <a:t>as it is forming</a:t>
            </a:r>
            <a:r>
              <a:rPr lang="en-US" sz="1400"/>
              <a:t>.</a:t>
            </a:r>
            <a:br>
              <a:rPr lang="en-US" sz="1400"/>
            </a:br>
            <a:r>
              <a:rPr lang="en-US" sz="1400" b="1"/>
              <a:t>The Concept:</a:t>
            </a:r>
            <a:r>
              <a:rPr lang="en-US" sz="1400"/>
              <a:t> Attaching low-cost, weather-proof contact microphones or piezoelectric sensors to the underside of the panel racks.</a:t>
            </a:r>
            <a:br>
              <a:rPr lang="en-US" sz="1400"/>
            </a:br>
            <a:r>
              <a:rPr lang="en-US" sz="1400" b="1"/>
              <a:t>How it works:</a:t>
            </a:r>
            <a:r>
              <a:rPr lang="en-US" sz="1400"/>
              <a:t> The AI is trained on the acoustic signatures of structural health. It can "hear" a microscopic fracture forming inside the silicon before it becomes a visible crack. It can detect the exact frequency of a loose mounting screw vibrating in the wind, or the sound of internal electrical arcing inside a junction box long before a thermal camera detects a hotspot.</a:t>
            </a:r>
            <a:br>
              <a:rPr lang="en-US" sz="1400"/>
            </a:br>
            <a:r>
              <a:rPr lang="en-US" sz="1400"/>
              <a:t>24/7 continuous, non-visual health monitoring that catches failures at the molecular or mechanical level before they are visible to drones.</a:t>
            </a:r>
            <a:br>
              <a:rPr lang="en-US"/>
            </a:br>
            <a:br>
              <a:rPr lang="en-US" sz="1400"/>
            </a:br>
            <a:br>
              <a:rPr lang="en-US"/>
            </a:br>
            <a:br>
              <a:rPr lang="en-US" sz="1600"/>
            </a:br>
            <a:br>
              <a:rPr lang="en-US" sz="1600"/>
            </a:br>
            <a:br>
              <a:rPr lang="en-US" sz="1600"/>
            </a:br>
            <a:endParaRPr lang="en-US" sz="1600"/>
          </a:p>
        </p:txBody>
      </p:sp>
    </p:spTree>
    <p:extLst>
      <p:ext uri="{BB962C8B-B14F-4D97-AF65-F5344CB8AC3E}">
        <p14:creationId xmlns:p14="http://schemas.microsoft.com/office/powerpoint/2010/main" val="72878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20AEE-6B9B-59C5-FAE3-91A58B2A5FFE}"/>
              </a:ext>
            </a:extLst>
          </p:cNvPr>
          <p:cNvSpPr>
            <a:spLocks noGrp="1"/>
          </p:cNvSpPr>
          <p:nvPr>
            <p:ph type="title"/>
          </p:nvPr>
        </p:nvSpPr>
        <p:spPr>
          <a:xfrm>
            <a:off x="838200" y="2103437"/>
            <a:ext cx="10515600" cy="1325563"/>
          </a:xfrm>
        </p:spPr>
        <p:txBody>
          <a:bodyPr>
            <a:normAutofit fontScale="90000"/>
          </a:bodyPr>
          <a:lstStyle/>
          <a:p>
            <a:pPr algn="ctr"/>
            <a:r>
              <a:rPr lang="en-US" sz="2000" b="1">
                <a:highlight>
                  <a:srgbClr val="00FF00"/>
                </a:highlight>
              </a:rPr>
              <a:t>Bio-Mimetic Dust &amp; Waste Repulsion (Dynamic Deflection):</a:t>
            </a:r>
            <a:br>
              <a:rPr lang="en-US" sz="2000" b="1">
                <a:highlight>
                  <a:srgbClr val="00FF00"/>
                </a:highlight>
              </a:rPr>
            </a:br>
            <a:br>
              <a:rPr lang="en-US" sz="2000" b="1"/>
            </a:br>
            <a:r>
              <a:rPr lang="en-US" sz="2000"/>
              <a:t>Instead of cleaning dust and bird waste after it lands, prevent it from landing using active AI defense.</a:t>
            </a:r>
            <a:br>
              <a:rPr lang="en-US" sz="2000"/>
            </a:br>
            <a:br>
              <a:rPr lang="en-US" sz="2000"/>
            </a:br>
            <a:r>
              <a:rPr lang="en-US" sz="2000" b="1"/>
              <a:t>The Concept:</a:t>
            </a:r>
            <a:r>
              <a:rPr lang="en-US" sz="2000"/>
              <a:t> An AI-controlled, ultra-low-power electrostatic or ultrasonic acoustic wave system embedded in the panel frame.</a:t>
            </a:r>
            <a:br>
              <a:rPr lang="en-US" sz="2000"/>
            </a:br>
            <a:r>
              <a:rPr lang="en-US" sz="2000" b="1"/>
              <a:t>How it works:</a:t>
            </a:r>
            <a:r>
              <a:rPr lang="en-US" sz="2000"/>
              <a:t> Your edge-AI camera detects a dust cloud approaching or birds circling overhead. It instantly activates an optimized, microscopic electrostatic field across the glass surface. This field physically repels incoming dust particles and prevents bird droppings from adhering to the glass, causing them to slide right off.</a:t>
            </a:r>
            <a:br>
              <a:rPr lang="en-US" sz="2000"/>
            </a:br>
            <a:br>
              <a:rPr lang="en-US" sz="2000"/>
            </a:br>
            <a:r>
              <a:rPr lang="en-US" sz="2000"/>
              <a:t>Dynamic, active defense that modifies the physics of the panel surface in real-time based on immediate environmental threats.</a:t>
            </a:r>
            <a:br>
              <a:rPr lang="en-US"/>
            </a:br>
            <a:br>
              <a:rPr lang="en-US"/>
            </a:br>
            <a:br>
              <a:rPr lang="en-US"/>
            </a:br>
            <a:r>
              <a:rPr lang="en-US" u="sng"/>
              <a:t>THANK YOU!</a:t>
            </a:r>
          </a:p>
        </p:txBody>
      </p:sp>
    </p:spTree>
    <p:extLst>
      <p:ext uri="{BB962C8B-B14F-4D97-AF65-F5344CB8AC3E}">
        <p14:creationId xmlns:p14="http://schemas.microsoft.com/office/powerpoint/2010/main" val="132453082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AFC40A-E612-4783-941F-D87CE3AF6A83}">
  <ds:schemaRefs>
    <ds:schemaRef ds:uri="http://schemas.microsoft.com/sharepoint/v3/contenttype/forms"/>
  </ds:schemaRefs>
</ds:datastoreItem>
</file>

<file path=customXml/itemProps2.xml><?xml version="1.0" encoding="utf-8"?>
<ds:datastoreItem xmlns:ds="http://schemas.openxmlformats.org/officeDocument/2006/customXml" ds:itemID="{3E57622D-4D98-4370-AD18-C0E53E0D7E4C}">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86193331-8BD1-4324-8D3C-A2E7BD4CB26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3744</Words>
  <Application>Microsoft Office PowerPoint</Application>
  <PresentationFormat>Widescreen</PresentationFormat>
  <Paragraphs>107</Paragraphs>
  <Slides>13</Slides>
  <Notes>5</Notes>
  <HiddenSlides>0</HiddenSlides>
  <MMClips>0</MMClips>
  <ScaleCrop>false</ScaleCrop>
  <HeadingPairs>
    <vt:vector size="4" baseType="variant">
      <vt:variant>
        <vt:lpstr>Theme</vt:lpstr>
      </vt:variant>
      <vt:variant>
        <vt:i4>3</vt:i4>
      </vt:variant>
      <vt:variant>
        <vt:lpstr>Slide Titles</vt:lpstr>
      </vt:variant>
      <vt:variant>
        <vt:i4>13</vt:i4>
      </vt:variant>
    </vt:vector>
  </HeadingPairs>
  <TitlesOfParts>
    <vt:vector size="16" baseType="lpstr">
      <vt:lpstr>Vapor Trail</vt:lpstr>
      <vt:lpstr>Office Theme</vt:lpstr>
      <vt:lpstr>Parcel</vt:lpstr>
      <vt:lpstr> Assignment 3B: AI-Enabled Workflow for Project Helio-Twin </vt:lpstr>
      <vt:lpstr>01. Identify the AI Use Case </vt:lpstr>
      <vt:lpstr>PowerPoint Presentation</vt:lpstr>
      <vt:lpstr>02. Define Input and Output (With Data Structures) </vt:lpstr>
      <vt:lpstr>03. Define the Type of AI</vt:lpstr>
      <vt:lpstr>PowerPoint Presentation</vt:lpstr>
      <vt:lpstr>PowerPoint Presentation</vt:lpstr>
      <vt:lpstr>PowerPoint Presentation</vt:lpstr>
      <vt:lpstr>To ensure this workflow is highly feasible, cost-effective, and aligned with open-source Digital Public Infrastructure (DPI) standards, we will utilize the following specialized tools:  1. Edge Computing &amp; TinyML (The Hardware Layer)  Tool: ESP32-S3 Microcontroller + Edge Impulse Why it’s the best: The ESP32-S3 (~₹600) has built-in vector instructions specifically designed to accelerate AI workloads. Edge Impulse is the industry-leading, low-code platform for TinyML. It allows B.Tech students to train a model in the cloud and compile it into a highly compressed C++ library (under 50KB) that runs directly on the ESP32 chip, ensuring the anomaly detection survives local Wi-Fi blackouts.  2. IoT Data Storage &amp; DPI (The Pipeline)  Tool: Supabase + TimescaleDB Why it’s the best: Traditional databases struggle with continuous, high-speed solar telemetry. TimescaleDB is an open-source time-series database built on PostgreSQL, engineered specifically for IoT workloads (like tracking solar voltage every second). Supabase provides the open-source backend API, eliminating the need to pay for expensive enterprise AWS/Azure services.  3. Core AI Engine (Anomaly Detection)  Tool: PyOD (Python Outlier Detection) library + Streamlit Why it’s the best: Instead of writing basic ML from scratch, PyOD is a comprehensive, scalable Python toolkit specifically built for detecting anomalies in multivariate data. It contains built-in Isolation Forest algorithms. For the UI, Streamlit allows us to deploy this Python model into an interactive, beautiful web dashboard in just hours without needing front-end web development experience.  4. Meteorological Data (The Context)  Tool: Open-Meteo API Why it’s the best: Open-Meteo is a completely open-source, highly accurate weather API that requires no commercial API keys. It provides highly localized irradiance ( W/m^2) and 14-day weather forecasts for the city, which is critical for powering our "Dynamic ROI Decision Gate" (knowing when to delay panel cleaning due to upcoming rain). </vt:lpstr>
      <vt:lpstr>5. Conversational AI &amp; Action (The RAG Layer)  Tool: LangChain + Llama 3 (via Groq API) + WhatsApp Cloud API Why it’s the best: To build the GenAI chatbot, we use LangChain to orchestrate the Retrieval-Augmented Generation (RAG). We run Meta's open-source Llama 3 model using the Groq API. Groq uses specialized LPU (Language Processing Unit) chips rather than GPUs, making inference blazing fast and highly energy-efficient (low carbon footprint)—a massive bonus for a sustainability pitch. The output is pushed natively to the staff via the official Meta WhatsApp Cloud API.  Future-Proofing Mechanisms -   Masterstroke 1: Add "Federated Learning" for Global Scaling  The Missing Piece: If you scale Helio-Twin to 500 different universities across India or the Global South, sending all their raw, private energy data to a central cloud server is extremely expensive and a data-privacy nightmare. The Upgrade: Mention Federated Learning. How it works: Instead of sharing raw data, each university campus trains its own AI model locally. Once a week, the campus only uploads the learned AI weights (the math) to a central UN/Open-Source hub. What to write in your submission (Under AI Type or Scalability): "To scale Helio-Twin globally as a Digital Public Good, we will utilize Federated Learning. If our campus in encounters a new type of monsoon cloud anomaly, our local model learns it and shares only the updated algorithmic weights with the global network. This means a university in Kenya instantly gets a smarter AI without ever sharing their private institutional data, ensuring strict Data Sovereignty.“  Masterstroke 2: Combating "Sensor Drift“  The Missing Piece: AI models assume the hardware is perfect. But over 5 years, the IoT sensors will physically degrade and start reading 5% lower due to heat and wear. A basic AI will constantly trigger "Dust Soiling" alerts, not realizing the sensor itself is dying. The Upgrade: Add a "Sensor Drift Auto-Calibration" loop. What to write (Under Step 2 of your Workflow): "To ensure decade-long reliability, the Physics-Informed layer includes Sensor Drift tracking. By cross-referencing our hardware voltage with highly calibrated NASA satellite irradiance over months, the AI can detect if the physical IoT sensor is  </vt:lpstr>
      <vt:lpstr>degrading, automatically calibrating its baseline to prevent false alarms as the hardware ages."   Masterstroke 3: Behavioral Gamification (The Human Motivation Layer)  The Missing Piece: You built a great WhatsApp bot, but how do you make sure the overworked ground staff actually care about responding to it?   The Upgrade: Program the GenAI LLM to gamify their work and connect it directly to carbon savings. What to write (Under Step 4/GenAI Action): "To drive adoption, the RAG LLM integrates behavioral gamification. When maintenance staff clear a fault, the WhatsApp bot does not just send a receipt; it translates their labor into direct climate impact. Example response: 'Great job, User! By resetting Inverter #2 today, you personally saved the campus ₹800 and prevented 12 kg of coal CO₂ emissions. You are currently #1 on the Campus Green Leaderboard for this month!’”  FUTURE UPGRADES  -   Multimodal Edge AI (Vision + Telemetry)  Instead of just relying on the power dropping to guess if there is dust, we give the AI "eyes.“  1. Update the "Input" Section Add Visual Data: Along with the RS485 electrical telemetry and weather APIs, Helio-Twin ingests image data from ultra-low-cost ESP32-CAM modules (costing ~₹400) mounted on the edges of the solar arrays.  2. Update the "Type of AI" Section You are now using a Multimodal AI Architecture: For Electrical Faults (Inverter Trips): Isolation Forest (Anomaly Detection). For Physical Faults (Dust, Bird Waste, Leaves): YOLO (You Only Look Once) Nano or MobileNetV2 (Computer Vision / Image Classification).  </vt:lpstr>
      <vt:lpstr>3. Update the "Workflow" (How it processes Bird Waste/Dust)  Add this specific visual pipeline to your workflow: Capture: The ESP32-CAM takes a photo of the solar array every 6 hours. Edge Vision Processing: A compressed YOLO computer vision model runs directly on the ESP32 chip. It scans the image specifically looking for high-contrast pixels (bird droppings) or a brown gradient filter (dust accumulation). Fusion &amp; Verification: The AI cross-references the camera. Vision AI says: "Panel 4 has heavy bird waste." Telemetry AI says: "Panel 4 power output dropped by 8%." The AI now has 100% confidence. Action: The GenAI WhatsApp bot texts User: "Visual confirmation of heavy bird soiling on Array B. Output is down 8%. Please clean." (You can even program the bot to send the annotated photo to User's WhatsApp!).  4. Update the "Tools" Section  Add ESP32-CAM: The physical hardware for frugal vision. Add YOLO (Nano version) / Edge Impulse: The perfect tools for running computer vision on microcontrollers without needing the cloud.  "Self-Healing" Material with AI Digital Twin  Instead of just alerting a human to fix a crack, your system predicts the damage and manages automated mitigation. The Concept: You pair your software with advanced self-healing polymers or localized liquid-crystal coatings applied to the panels. How it works: Your AI detects a micro-crack or a heavy scratch from a storm. Instead of sending a technician, the AI triggers a localized electrical micro-current or thermal pulse to the panel, activating the self-healing properties of the coating to seal the crack automatically. A closed-loop, autonomous maintenance system that fixes physical damage without human intervention.  Acoustic &amp; Vibration "Listening" AI (Continuous Edge Monitoring)  Visual AI only sees a problem after it happens. Acoustic AI hears a problem as it is forming. The Concept: Attaching low-cost, weather-proof contact microphones or piezoelectric sensors to the underside of the panel racks. How it works: The AI is trained on the acoustic signatures of structural health. It can "hear" a microscopic fracture forming inside the silicon before it becomes a visible crack. It can detect the exact frequency of a loose mounting screw vibrating in the wind, or the sound of internal electrical arcing inside a junction box long before a thermal camera detects a hotspot. 24/7 continuous, non-visual health monitoring that catches failures at the molecular or mechanical level before they are visible to drones.      </vt:lpstr>
      <vt:lpstr>Bio-Mimetic Dust &amp; Waste Repulsion (Dynamic Deflection):  Instead of cleaning dust and bird waste after it lands, prevent it from landing using active AI defense.  The Concept: An AI-controlled, ultra-low-power electrostatic or ultrasonic acoustic wave system embedded in the panel frame. How it works: Your edge-AI camera detects a dust cloud approaching or birds circling overhead. It instantly activates an optimized, microscopic electrostatic field across the glass surface. This field physically repels incoming dust particles and prevents bird droppings from adhering to the glass, causing them to slide right off.  Dynamic, active defense that modifies the physics of the panel surface in real-time based on immediate environmental threats.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Satvik Shrivastava</cp:lastModifiedBy>
  <cp:revision>2</cp:revision>
  <dcterms:created xsi:type="dcterms:W3CDTF">2026-06-25T11:23:36Z</dcterms:created>
  <dcterms:modified xsi:type="dcterms:W3CDTF">2026-07-15T11:39:47Z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