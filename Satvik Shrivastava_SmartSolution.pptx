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6233" autoAdjust="0"/>
  </p:normalViewPr>
  <p:slideViewPr>
    <p:cSldViewPr snapToGrid="0" snapToObjects="1">
      <p:cViewPr varScale="1">
        <p:scale>
          <a:sx n="147" d="100"/>
          <a:sy n="147" d="100"/>
        </p:scale>
        <p:origin x="-558" y="5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0CF54E0-47CF-C352-9D13-C8F38711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2525844-2DFA-86F2-C6EC-78DB948B1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37D74C0-7D24-259D-9078-DB989760E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D2412E7-5DEA-1C46-264F-BCA3F570B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0119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3AEEDF-F16E-6226-44B9-33D2C61B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9AE3DF6-0D5E-7DDC-D9A1-666AC3F8D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177C6D5-4DF3-7D49-209F-2ECD99954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2E0F7B-B794-DFC5-A949-53FDC3DFD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94104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491" y="420624"/>
            <a:ext cx="3657600" cy="3657600"/>
          </a:xfrm>
          <a:prstGeom prst="ellipse">
            <a:avLst/>
          </a:prstGeom>
          <a:solidFill>
            <a:srgbClr val="C8E6C9">
              <a:alpha val="18000"/>
            </a:srgbClr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6949440" y="2926080"/>
            <a:ext cx="3657600" cy="3200400"/>
          </a:xfrm>
          <a:prstGeom prst="ellipse">
            <a:avLst/>
          </a:prstGeom>
          <a:solidFill>
            <a:srgbClr val="FFCDD2">
              <a:alpha val="18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-822960"/>
            <a:ext cx="2560320" cy="2560320"/>
          </a:xfrm>
          <a:prstGeom prst="ellipse">
            <a:avLst/>
          </a:prstGeom>
          <a:solidFill>
            <a:srgbClr val="BBDEFB">
              <a:alpha val="12000"/>
            </a:srgbClr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 w="9525">
            <a:solidFill>
              <a:srgbClr val="E2EB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2745"/>
            <a:ext cx="9144000" cy="22860"/>
          </a:xfrm>
          <a:prstGeom prst="rect">
            <a:avLst/>
          </a:prstGeom>
          <a:solidFill>
            <a:srgbClr val="81C784">
              <a:alpha val="5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/>
              <a:t>Project Name: Helio-Twin (Digital Twin &amp; Edge-AI for Solar Resilience)</a:t>
            </a:r>
          </a:p>
          <a:p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Domain: Energy Systems                                                              By – Satvik Shrivastava                                     </a:t>
            </a:r>
            <a:r>
              <a:rPr lang="en-IN" sz="1000" b="1" dirty="0"/>
              <a:t>Target SDGs:</a:t>
            </a:r>
            <a:r>
              <a:rPr lang="en-IN" sz="1000" dirty="0"/>
              <a:t> 7 (Clean Energy), 9 (Innovation), 13 (Climate Action)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54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566928"/>
            <a:ext cx="2688336" cy="4434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566928"/>
            <a:ext cx="59436" cy="44348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922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95144" y="69494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FFDE7"/>
          </a:solidFill>
          <a:ln w="12700">
            <a:solidFill>
              <a:srgbClr val="FFF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6949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30" dirty="0">
                <a:solidFill>
                  <a:srgbClr val="F9A825"/>
                </a:solidFill>
                <a:latin typeface="Calibri" pitchFamily="34" charset="0"/>
                <a:cs typeface="Calibri" pitchFamily="34" charset="-120"/>
              </a:rPr>
              <a:t>PROBLEM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02920" y="102412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Define the problem clearly: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1180289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Printing Quad + Design Studio Plotters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02920" y="1381457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480310"/>
            <a:ext cx="2414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IN" sz="800" i="1" dirty="0">
              <a:latin typeface="Amasis MT Pro Medium" panose="02040604050005020304" pitchFamily="18" charset="0"/>
            </a:endParaRPr>
          </a:p>
          <a:p>
            <a:r>
              <a:rPr lang="en-IN" sz="800" i="1" dirty="0">
                <a:latin typeface="Amasis MT Pro Medium" panose="02040604050005020304" pitchFamily="18" charset="0"/>
              </a:rPr>
              <a:t>Quantifying the Problem:  </a:t>
            </a:r>
          </a:p>
          <a:p>
            <a:endParaRPr lang="en-IN" sz="800" dirty="0"/>
          </a:p>
          <a:p>
            <a:r>
              <a:rPr lang="en-IN" sz="800" i="1" dirty="0"/>
              <a:t>Undetected inverter failures can leave solar arrays offline for weeks, forcing the university to rely on grid electricity and undermining institutional climate commitments.</a:t>
            </a:r>
          </a:p>
          <a:p>
            <a:endParaRPr lang="en-IN" sz="800" i="1" dirty="0">
              <a:latin typeface="Amasis MT Pro Medium" panose="02040604050005020304" pitchFamily="18" charset="0"/>
            </a:endParaRPr>
          </a:p>
          <a:p>
            <a:r>
              <a:rPr lang="en-IN" sz="800" dirty="0"/>
              <a:t>Our university operates approximately 150 kW of rooftop solar capacity. Due to severe dust accumulation and undetected grid-surge trips, we suffer a conservative 15% performance loss. This translates to </a:t>
            </a:r>
            <a:r>
              <a:rPr lang="en-IN" sz="800" b="1" dirty="0"/>
              <a:t>nearly 32,000 kWh of lost clean electricity annually</a:t>
            </a:r>
            <a:r>
              <a:rPr lang="en-IN" sz="800" dirty="0"/>
              <a:t>, costing the institution approximately </a:t>
            </a:r>
            <a:r>
              <a:rPr lang="en-IN" sz="800" b="1" dirty="0"/>
              <a:t>₹2.5 lakh</a:t>
            </a:r>
            <a:r>
              <a:rPr lang="en-IN" sz="800" dirty="0"/>
              <a:t> in wasted utility bills and resulting in massive avoidable carbon emissions.</a:t>
            </a:r>
            <a:endParaRPr lang="en-IN" sz="800" dirty="0">
              <a:latin typeface="Aptos Narrow" panose="020B0004020202020204" pitchFamily="34" charset="0"/>
            </a:endParaRPr>
          </a:p>
          <a:p>
            <a:endParaRPr lang="en-IN" sz="800" dirty="0">
              <a:latin typeface="Aptos Narrow" panose="020B0004020202020204" pitchFamily="34" charset="0"/>
            </a:endParaRPr>
          </a:p>
          <a:p>
            <a:r>
              <a:rPr lang="en-IN" sz="800" dirty="0">
                <a:latin typeface="Aptos Narrow" panose="020B0004020202020204" pitchFamily="34" charset="0"/>
              </a:rPr>
              <a:t>The university’s heavy investment in rooftop solar infrastructure is falling victim to "Ghost Generation." Severe dust/avian soiling and localized grid surges (common in regions like Jabalpur, Indore, Delhi-NCR, Lucknow, U.P. , M.P. , Bihar, Middle East and North Africa (MENA), </a:t>
            </a:r>
            <a:endParaRPr lang="en-US" sz="800" dirty="0">
              <a:latin typeface="Aptos Narrow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08860" y="960120"/>
            <a:ext cx="548640" cy="164592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5144" y="951689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DEFINING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576072" y="3310128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566928"/>
            <a:ext cx="2688336" cy="4434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3227832" y="566928"/>
            <a:ext cx="59436" cy="44348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64922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157216" y="69494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6949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30" dirty="0">
                <a:solidFill>
                  <a:srgbClr val="D32F2F"/>
                </a:solidFill>
                <a:latin typeface="Calibri" pitchFamily="34" charset="0"/>
                <a:cs typeface="Calibri" pitchFamily="34" charset="-120"/>
              </a:rPr>
              <a:t>SYSTEM-GAPS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364992" y="102412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Identify system gaps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1180289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Quadrangles + Decorative Botanical Gardens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364992" y="1381457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4366" y="923544"/>
            <a:ext cx="548640" cy="164592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8364" y="92354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NEED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3364992" y="1424690"/>
            <a:ext cx="2414016" cy="3437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/>
              <a:t>What is currently happening: </a:t>
            </a:r>
            <a:r>
              <a:rPr lang="en-IN" sz="800" dirty="0"/>
              <a:t>O&amp;M (Operations &amp; Management) is entirely reactive and siloed. Systems trip without warning, and cleaning is based on arbitrary schedules rather than data.</a:t>
            </a:r>
          </a:p>
          <a:p>
            <a:r>
              <a:rPr lang="en-IN" sz="800" i="1" dirty="0"/>
              <a:t>Maintenance personnel reported that solar systems are typically inspected only once every few weeks due to manpower limitations.</a:t>
            </a:r>
          </a:p>
          <a:p>
            <a:endParaRPr lang="en-IN" sz="800" i="1" dirty="0"/>
          </a:p>
          <a:p>
            <a:endParaRPr lang="en-IN" sz="800" b="1" dirty="0"/>
          </a:p>
          <a:p>
            <a:endParaRPr lang="en-IN" sz="800" b="1" dirty="0"/>
          </a:p>
          <a:p>
            <a:r>
              <a:rPr lang="en-IN" sz="800" b="1" dirty="0"/>
              <a:t>Baseline Metrics Table:</a:t>
            </a:r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 Metric | Current Situation | Target with Helio-Twin |</a:t>
            </a:r>
            <a:br>
              <a:rPr lang="en-IN" sz="800" dirty="0"/>
            </a:br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Fault Detection Time</a:t>
            </a:r>
            <a:r>
              <a:rPr lang="en-IN" sz="800" dirty="0"/>
              <a:t> :</a:t>
            </a:r>
          </a:p>
          <a:p>
            <a:r>
              <a:rPr lang="en-IN" sz="800" dirty="0"/>
              <a:t>| Weeks (Manual discovery) | &lt; 5 Seconds (Automated) |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Inspection Frequency:</a:t>
            </a:r>
            <a:r>
              <a:rPr lang="en-IN" sz="800" dirty="0"/>
              <a:t> </a:t>
            </a:r>
          </a:p>
          <a:p>
            <a:r>
              <a:rPr lang="en-IN" sz="800" dirty="0"/>
              <a:t>| Once every 2–3 weeks | Continuous 24/7 Monitoring |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Cleaning Schedule:</a:t>
            </a:r>
            <a:r>
              <a:rPr lang="en-IN" sz="800" dirty="0"/>
              <a:t> | Reactive / Guesswork | Predictive (Data-driven) |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Annual Energy Loss:</a:t>
            </a:r>
            <a:r>
              <a:rPr lang="en-IN" sz="800" dirty="0"/>
              <a:t> | 15% to 20% | &lt; 2% |</a:t>
            </a:r>
          </a:p>
          <a:p>
            <a:endParaRPr lang="en-IN" sz="800" i="1" dirty="0"/>
          </a:p>
          <a:p>
            <a:endParaRPr lang="en-US" sz="800" b="1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364992" y="2990088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9904" y="566928"/>
            <a:ext cx="2688336" cy="4434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9904" y="566928"/>
            <a:ext cx="59436" cy="44348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7064" y="64922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891272" y="6949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91272" y="69494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30" dirty="0">
                <a:solidFill>
                  <a:srgbClr val="E65100"/>
                </a:solidFill>
                <a:latin typeface="Calibri" pitchFamily="34" charset="0"/>
                <a:cs typeface="Calibri" pitchFamily="34" charset="-120"/>
              </a:rPr>
              <a:t>SOLUTION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227064" y="102412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Design the solution 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27064" y="1180289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Communal Restrooms, Student Residential Blocks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227064" y="1381457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7" name="Text 55"/>
              <p:cNvSpPr/>
              <p:nvPr/>
            </p:nvSpPr>
            <p:spPr>
              <a:xfrm>
                <a:off x="6227064" y="1463040"/>
                <a:ext cx="2414016" cy="31135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IN" sz="800" b="1" dirty="0"/>
                  <a:t>What is the solution?</a:t>
                </a:r>
                <a:r>
                  <a:rPr lang="en-IN" sz="800" dirty="0"/>
                  <a:t> We are deploying </a:t>
                </a:r>
                <a:r>
                  <a:rPr lang="en-IN" sz="800" b="1" dirty="0"/>
                  <a:t>Helio-Twin</a:t>
                </a:r>
                <a:r>
                  <a:rPr lang="en-IN" sz="800" dirty="0"/>
                  <a:t>, a Physics-Informed Digital Twin and Climate Resilience Platform powered by Edge AI.</a:t>
                </a:r>
              </a:p>
              <a:p>
                <a:endParaRPr lang="en-IN" sz="800" b="1" dirty="0"/>
              </a:p>
              <a:p>
                <a:r>
                  <a:rPr lang="en-IN" sz="800" b="1" dirty="0"/>
                  <a:t>What components are involved?</a:t>
                </a:r>
                <a:endParaRPr lang="en-IN" sz="800" dirty="0"/>
              </a:p>
              <a:p>
                <a:endParaRPr lang="en-IN" sz="800" b="1" dirty="0"/>
              </a:p>
              <a:p>
                <a:r>
                  <a:rPr lang="en-IN" sz="800" b="1" dirty="0"/>
                  <a:t>Secure Edge Layer:</a:t>
                </a:r>
                <a:r>
                  <a:rPr lang="en-IN" sz="800" dirty="0"/>
                  <a:t> IoT gateways retrofitted to legacy inverters and virtual battery assets, secured via </a:t>
                </a:r>
                <a:r>
                  <a:rPr lang="en-IN" sz="800" i="1" dirty="0"/>
                  <a:t>IEC 62443-inspired Zero-Trust architecture</a:t>
                </a:r>
                <a:r>
                  <a:rPr lang="en-IN" sz="800" dirty="0"/>
                  <a:t> (encrypted telemetry, device authentication).</a:t>
                </a:r>
              </a:p>
              <a:p>
                <a:endParaRPr lang="en-IN" sz="800" b="1" dirty="0"/>
              </a:p>
              <a:p>
                <a:r>
                  <a:rPr lang="en-IN" sz="800" b="1" dirty="0"/>
                  <a:t>Physics-Informed AI Engine:</a:t>
                </a:r>
                <a:r>
                  <a:rPr lang="en-IN" sz="800" dirty="0"/>
                  <a:t> Merges Machine Learning with electrical physics equations 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sz="800" i="1"/>
                        <m:t>𝑃</m:t>
                      </m:r>
                      <m:r>
                        <a:rPr lang="en-IN" sz="800"/>
                        <m:t>=</m:t>
                      </m:r>
                      <m:r>
                        <a:rPr lang="en-IN" sz="800" i="1"/>
                        <m:t>𝜂</m:t>
                      </m:r>
                      <m:r>
                        <a:rPr lang="en-IN" sz="800"/>
                        <m:t>×</m:t>
                      </m:r>
                      <m:r>
                        <a:rPr lang="en-IN" sz="800" i="1"/>
                        <m:t>𝐴</m:t>
                      </m:r>
                      <m:r>
                        <a:rPr lang="en-IN" sz="800"/>
                        <m:t>×</m:t>
                      </m:r>
                      <m:r>
                        <a:rPr lang="en-IN" sz="800" i="1"/>
                        <m:t>𝐺</m:t>
                      </m:r>
                    </m:oMath>
                  </m:oMathPara>
                </a14:m>
                <a:endParaRPr lang="en-IN" sz="800" dirty="0"/>
              </a:p>
              <a:p>
                <a:r>
                  <a:rPr lang="en-IN" sz="800" dirty="0"/>
                  <a:t>to eliminate false alarms and ensure predictions obey physical laws.</a:t>
                </a:r>
              </a:p>
              <a:p>
                <a:endParaRPr lang="en-IN" sz="800" b="1" dirty="0"/>
              </a:p>
              <a:p>
                <a:r>
                  <a:rPr lang="en-IN" sz="800" b="1" dirty="0"/>
                  <a:t>Virtual Battery Twin:</a:t>
                </a:r>
                <a:r>
                  <a:rPr lang="en-IN" sz="800" dirty="0"/>
                  <a:t> Intelligent State of Charge (SOC) tracking and Remaining Useful Life (RUL) prediction for battery reserves.</a:t>
                </a:r>
              </a:p>
              <a:p>
                <a:r>
                  <a:rPr lang="en-IN" sz="800" b="1" dirty="0"/>
                  <a:t>Explainable AI (XAI) Module:</a:t>
                </a:r>
                <a:r>
                  <a:rPr lang="en-IN" sz="800" dirty="0"/>
                  <a:t> Uses SHAP values to decode "black box" algorithms, displaying the root-cause probability of faults (e.g., Dust Soiling: 72% | Inverter Failure: 18%).</a:t>
                </a:r>
              </a:p>
              <a:p>
                <a:endParaRPr lang="en-US" sz="700" dirty="0"/>
              </a:p>
            </p:txBody>
          </p:sp>
        </mc:Choice>
        <mc:Fallback>
          <p:sp>
            <p:nvSpPr>
              <p:cNvPr id="57" name="Text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064" y="1463040"/>
                <a:ext cx="2414016" cy="3113532"/>
              </a:xfrm>
              <a:prstGeom prst="rect">
                <a:avLst/>
              </a:prstGeom>
              <a:blipFill>
                <a:blip r:embed="rId3"/>
                <a:stretch>
                  <a:fillRect l="-2778" t="-783" r="-2778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hape 56"/>
          <p:cNvSpPr/>
          <p:nvPr/>
        </p:nvSpPr>
        <p:spPr>
          <a:xfrm>
            <a:off x="7900702" y="968349"/>
            <a:ext cx="548640" cy="164592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27277" y="96835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MODEL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6227064" y="1381457"/>
            <a:ext cx="2414016" cy="269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149340" y="3063240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xmlns="" id="{985DF229-961E-F9A3-861B-9BBFA4670D21}"/>
              </a:ext>
            </a:extLst>
          </p:cNvPr>
          <p:cNvSpPr/>
          <p:nvPr/>
        </p:nvSpPr>
        <p:spPr>
          <a:xfrm>
            <a:off x="502920" y="142646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i="1" dirty="0"/>
              <a:t>Summary:</a:t>
            </a:r>
          </a:p>
          <a:p>
            <a:r>
              <a:rPr lang="en-US" sz="700" b="1" i="1" dirty="0"/>
              <a:t> </a:t>
            </a:r>
            <a:r>
              <a:rPr lang="en-IN" sz="700" dirty="0"/>
              <a:t>Project Helio-Twin is an Edge-AI powered "Digital Twin" designed to rescue degraded rooftop solar infrastructure across academic campuses. By combining frugal IoT architecture with Physics-Informed Machine Learning, the system transitions solar maintenance from manual guesswork to prescriptive intelligence. Built specifically for the Global South, Helio-Twin slashes fault detection time from weeks to seconds, recovering up to 20% of lost renewable energy, automating ESG carbon accounting, and upskilling local electrical staff into "Green Digital Operators."</a:t>
            </a:r>
            <a:endParaRPr lang="en-US" sz="700" dirty="0"/>
          </a:p>
          <a:p>
            <a:pPr marL="0" indent="0">
              <a:buNone/>
            </a:pP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491" y="420624"/>
            <a:ext cx="3657600" cy="3657600"/>
          </a:xfrm>
          <a:prstGeom prst="ellipse">
            <a:avLst/>
          </a:prstGeom>
          <a:solidFill>
            <a:srgbClr val="C8E6C9">
              <a:alpha val="18000"/>
            </a:srgbClr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200400"/>
          </a:xfrm>
          <a:prstGeom prst="ellipse">
            <a:avLst/>
          </a:prstGeom>
          <a:solidFill>
            <a:srgbClr val="FFCDD2">
              <a:alpha val="18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-822960"/>
            <a:ext cx="2560320" cy="2560320"/>
          </a:xfrm>
          <a:prstGeom prst="ellipse">
            <a:avLst/>
          </a:prstGeom>
          <a:solidFill>
            <a:srgbClr val="BBDEFB">
              <a:alpha val="12000"/>
            </a:srgbClr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 w="9525">
            <a:solidFill>
              <a:srgbClr val="E2EB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2745"/>
            <a:ext cx="9144000" cy="22860"/>
          </a:xfrm>
          <a:prstGeom prst="rect">
            <a:avLst/>
          </a:prstGeom>
          <a:solidFill>
            <a:srgbClr val="81C784">
              <a:alpha val="5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smtClean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800" dirty="0" err="1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Satvik</a:t>
            </a: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Shrivastava</a:t>
            </a: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54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566928"/>
            <a:ext cx="2688336" cy="4434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566928"/>
            <a:ext cx="59436" cy="44348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180289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i="1" dirty="0"/>
              <a:t> 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02920" y="1180289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566928"/>
            <a:ext cx="2688336" cy="4434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27832" y="566928"/>
            <a:ext cx="59436" cy="44348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2646" y="743725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5152646" y="7433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30" dirty="0">
                <a:solidFill>
                  <a:srgbClr val="D32F2F"/>
                </a:solidFill>
                <a:latin typeface="Calibri" pitchFamily="34" charset="0"/>
                <a:cs typeface="Calibri" pitchFamily="34" charset="-120"/>
              </a:rPr>
              <a:t>Missing?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364992" y="1180289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42716" y="723089"/>
            <a:ext cx="548640" cy="164592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6237" y="723851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Inefficiency?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3364992" y="123444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800" dirty="0"/>
          </a:p>
          <a:p>
            <a:endParaRPr lang="en-US" sz="800" dirty="0"/>
          </a:p>
          <a:p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364992" y="4462272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9904" y="566928"/>
            <a:ext cx="2688336" cy="443484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9904" y="566928"/>
            <a:ext cx="59436" cy="44348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91272" y="6949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91272" y="69494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30" dirty="0">
                <a:solidFill>
                  <a:srgbClr val="E65100"/>
                </a:solidFill>
                <a:latin typeface="Calibri" pitchFamily="34" charset="0"/>
                <a:cs typeface="Calibri" pitchFamily="34" charset="-120"/>
              </a:rPr>
              <a:t>COMPONENTS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6227064" y="1180289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78232" y="723851"/>
            <a:ext cx="594165" cy="164592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994" y="723851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REQUIREMENTS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6227064" y="1322961"/>
            <a:ext cx="2414016" cy="1503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i="1" dirty="0"/>
              <a:t>What components are involved?</a:t>
            </a:r>
          </a:p>
          <a:p>
            <a:endParaRPr lang="en-US" sz="800" b="1" i="1" dirty="0"/>
          </a:p>
          <a:p>
            <a:r>
              <a:rPr lang="en-IN" sz="800" i="1" dirty="0">
                <a:latin typeface="Aptos" panose="020B0004020202020204" pitchFamily="34" charset="0"/>
              </a:rPr>
              <a:t>By leveraging low-cost edge-computing microcontrollers (ESP32 or Raspberry Pi) and open-source ML models, we achieve enterprise-grade Digital Twin capabilities at a fraction of the cost, making it highly accessible for educational institutions in the Global South.</a:t>
            </a:r>
            <a:endParaRPr lang="en-US" sz="800" b="1" i="1" dirty="0">
              <a:latin typeface="Aptos" panose="020B0004020202020204" pitchFamily="34" charset="0"/>
            </a:endParaRPr>
          </a:p>
          <a:p>
            <a:endParaRPr lang="en-US" sz="800" b="1" dirty="0"/>
          </a:p>
          <a:p>
            <a:r>
              <a:rPr lang="en-IN" sz="800" b="1" dirty="0"/>
              <a:t>Hardware:</a:t>
            </a:r>
            <a:r>
              <a:rPr lang="en-IN" sz="800" dirty="0"/>
              <a:t> Low-cost IoT gateways connected to existing inverters.</a:t>
            </a:r>
          </a:p>
          <a:p>
            <a:r>
              <a:rPr lang="en-IN" sz="800" b="1" dirty="0"/>
              <a:t>AI/ML Engine:</a:t>
            </a:r>
            <a:r>
              <a:rPr lang="en-IN" sz="800" dirty="0"/>
              <a:t> An </a:t>
            </a:r>
            <a:r>
              <a:rPr lang="en-IN" sz="800" i="1" dirty="0"/>
              <a:t>Isolation Forest</a:t>
            </a:r>
            <a:r>
              <a:rPr lang="en-IN" sz="800" dirty="0"/>
              <a:t> algorithm for millisecond anomaly detection (inverter trips) and a </a:t>
            </a:r>
            <a:r>
              <a:rPr lang="en-IN" sz="800" i="1" dirty="0"/>
              <a:t>Predictive Regression</a:t>
            </a:r>
            <a:r>
              <a:rPr lang="en-IN" sz="800" dirty="0"/>
              <a:t> model for Soiling Index calculations.</a:t>
            </a:r>
          </a:p>
          <a:p>
            <a:r>
              <a:rPr lang="en-IN" sz="800" b="1" dirty="0"/>
              <a:t>UI/UX:</a:t>
            </a:r>
            <a:r>
              <a:rPr lang="en-IN" sz="800" dirty="0"/>
              <a:t> A centralized Digital Twin Dashboard for the Facility Management Office, featuring automated WhatsApp/SMS alerts for ground staff.</a:t>
            </a:r>
          </a:p>
          <a:p>
            <a:endParaRPr lang="en-IN" sz="800" dirty="0"/>
          </a:p>
          <a:p>
            <a:endParaRPr lang="en-IN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marL="0" indent="0">
              <a:buNone/>
            </a:pP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227064" y="4462272"/>
            <a:ext cx="24140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14" name="Text 18">
            <a:extLst>
              <a:ext uri="{FF2B5EF4-FFF2-40B4-BE49-F238E27FC236}">
                <a16:creationId xmlns:a16="http://schemas.microsoft.com/office/drawing/2014/main" xmlns="" id="{294B846D-2AB0-6F66-9B1D-8C879C473811}"/>
              </a:ext>
            </a:extLst>
          </p:cNvPr>
          <p:cNvSpPr/>
          <p:nvPr/>
        </p:nvSpPr>
        <p:spPr>
          <a:xfrm>
            <a:off x="539301" y="1177746"/>
            <a:ext cx="2414016" cy="328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/>
              <a:t>Where it occurs: </a:t>
            </a:r>
          </a:p>
          <a:p>
            <a:r>
              <a:rPr lang="en-IN" sz="800" dirty="0"/>
              <a:t>This degradation is actively occurring across the </a:t>
            </a:r>
            <a:r>
              <a:rPr lang="en-IN" sz="800" b="1" dirty="0"/>
              <a:t>New Academic Block and CSE/IT Department, Central Library, and the Ground Floor Sub-Station</a:t>
            </a:r>
            <a:r>
              <a:rPr lang="en-IN" sz="800" dirty="0"/>
              <a:t> distributed rooftops, where extreme summer dust and heavy monsoon storms frequently compromise solar efficiency.</a:t>
            </a:r>
          </a:p>
          <a:p>
            <a:endParaRPr lang="en-US" sz="800" b="1" dirty="0"/>
          </a:p>
          <a:p>
            <a:r>
              <a:rPr lang="en-US" sz="800" b="1" dirty="0"/>
              <a:t>Why it’s important to solve?</a:t>
            </a:r>
          </a:p>
          <a:p>
            <a:r>
              <a:rPr lang="en-IN" sz="800" dirty="0"/>
              <a:t>Recent industry research shows that unmonitored solar systems lose </a:t>
            </a:r>
            <a:r>
              <a:rPr lang="en-IN" sz="800" b="1" dirty="0"/>
              <a:t>15% to 20% of their annual energy yield</a:t>
            </a:r>
            <a:r>
              <a:rPr lang="en-IN" sz="800" dirty="0"/>
              <a:t>. Undetected inverter failures leave solar arrays offline for weeks. Expensive renewable hardware sits idle while the campus pulls baseline energy from the carbon-heavy municipal coal grid. This creates a massive financial deficit and turns institutional sustainability into accidental greenwashing.</a:t>
            </a:r>
          </a:p>
          <a:p>
            <a:endParaRPr lang="en-IN" sz="800" dirty="0"/>
          </a:p>
          <a:p>
            <a:r>
              <a:rPr lang="en-IN" sz="800" b="1" dirty="0"/>
              <a:t>Baseline Metrics Table:</a:t>
            </a:r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 Metric | Current Situation | Target with Helio-Twin |</a:t>
            </a:r>
            <a:br>
              <a:rPr lang="en-IN" sz="800" dirty="0"/>
            </a:br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Fault Detection Time</a:t>
            </a:r>
            <a:r>
              <a:rPr lang="en-IN" sz="800" dirty="0"/>
              <a:t> :</a:t>
            </a:r>
          </a:p>
          <a:p>
            <a:r>
              <a:rPr lang="en-IN" sz="800" dirty="0"/>
              <a:t>| Weeks (Manual discovery) | &lt; 5 Seconds (Automated) |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Inspection Frequency:</a:t>
            </a:r>
            <a:r>
              <a:rPr lang="en-IN" sz="800" dirty="0"/>
              <a:t> </a:t>
            </a:r>
          </a:p>
          <a:p>
            <a:r>
              <a:rPr lang="en-IN" sz="800" dirty="0"/>
              <a:t>| Once every 2–3 weeks | Continuous 24/7 Monitoring |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Cleaning Schedule:</a:t>
            </a:r>
            <a:r>
              <a:rPr lang="en-IN" sz="800" dirty="0"/>
              <a:t> | Reactive / Guesswork | Predictive (Data-driven) |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>| </a:t>
            </a:r>
            <a:r>
              <a:rPr lang="en-IN" sz="800" b="1" dirty="0"/>
              <a:t>Annual Energy Loss:</a:t>
            </a:r>
            <a:r>
              <a:rPr lang="en-IN" sz="800" dirty="0"/>
              <a:t> | 15% to 20% | &lt; 2% |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/>
            </a:r>
            <a:br>
              <a:rPr lang="en-IN" sz="800" dirty="0"/>
            </a:br>
            <a:endParaRPr lang="en-US" sz="800" dirty="0"/>
          </a:p>
          <a:p>
            <a:endParaRPr lang="en-US" sz="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DFE7FA7-0AB1-D40E-5036-50A595CECC78}"/>
              </a:ext>
            </a:extLst>
          </p:cNvPr>
          <p:cNvSpPr txBox="1"/>
          <p:nvPr/>
        </p:nvSpPr>
        <p:spPr>
          <a:xfrm>
            <a:off x="471684" y="701789"/>
            <a:ext cx="2445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latin typeface="Aptos Narrow" panose="020B0004020202020204" pitchFamily="34" charset="0"/>
              </a:rPr>
              <a:t>Southwestern United States etc.) cause undetected inverter trips and heavy efficiency drops.</a:t>
            </a:r>
            <a:endParaRPr lang="en-IN" sz="800" dirty="0"/>
          </a:p>
        </p:txBody>
      </p:sp>
      <p:sp>
        <p:nvSpPr>
          <p:cNvPr id="23" name="Text 35">
            <a:extLst>
              <a:ext uri="{FF2B5EF4-FFF2-40B4-BE49-F238E27FC236}">
                <a16:creationId xmlns:a16="http://schemas.microsoft.com/office/drawing/2014/main" xmlns="" id="{41302985-29B9-FD19-9885-199A1BC3276B}"/>
              </a:ext>
            </a:extLst>
          </p:cNvPr>
          <p:cNvSpPr/>
          <p:nvPr/>
        </p:nvSpPr>
        <p:spPr>
          <a:xfrm>
            <a:off x="3392424" y="1338085"/>
            <a:ext cx="2414016" cy="329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800" b="1" i="1" dirty="0"/>
              <a:t>What is inefficient or missing</a:t>
            </a:r>
            <a:r>
              <a:rPr lang="en-IN" sz="800" b="1" dirty="0"/>
              <a:t>?</a:t>
            </a:r>
          </a:p>
          <a:p>
            <a:endParaRPr lang="en-IN" sz="800" b="1" dirty="0"/>
          </a:p>
          <a:p>
            <a:r>
              <a:rPr lang="en-IN" sz="800" b="1" dirty="0"/>
              <a:t>Blind Operations:</a:t>
            </a:r>
            <a:r>
              <a:rPr lang="en-IN" sz="800" dirty="0"/>
              <a:t> Legacy inverters lack a Digital Public Infrastructure (DPI) telemetry layer.</a:t>
            </a:r>
          </a:p>
          <a:p>
            <a:endParaRPr lang="en-IN" sz="800" dirty="0"/>
          </a:p>
          <a:p>
            <a:r>
              <a:rPr lang="en-IN" sz="800" b="1" dirty="0"/>
              <a:t>No Predictive Resilience:</a:t>
            </a:r>
            <a:r>
              <a:rPr lang="en-IN" sz="800" dirty="0"/>
              <a:t> The system cannot anticipate weather risks (incoming dust storms/monsoons) to alter operations.</a:t>
            </a:r>
          </a:p>
          <a:p>
            <a:endParaRPr lang="en-IN" sz="800" dirty="0"/>
          </a:p>
          <a:p>
            <a:r>
              <a:rPr lang="en-IN" sz="800" b="1" dirty="0"/>
              <a:t>No Decision Support:</a:t>
            </a:r>
            <a:r>
              <a:rPr lang="en-IN" sz="800" dirty="0"/>
              <a:t> Maintenance relies entirely on overburdened human memory and physical walks, creating a single point of failure in operations.</a:t>
            </a:r>
          </a:p>
          <a:p>
            <a:endParaRPr lang="en-IN" sz="800" dirty="0"/>
          </a:p>
          <a:p>
            <a:r>
              <a:rPr lang="en-IN" sz="800" i="1" dirty="0">
                <a:latin typeface="Amasis MT Pro Medium" panose="02040604050005020304" pitchFamily="18" charset="0"/>
              </a:rPr>
              <a:t>Black-Box Vulnerability</a:t>
            </a:r>
            <a:r>
              <a:rPr lang="en-IN" sz="800" i="1" dirty="0"/>
              <a:t>:</a:t>
            </a:r>
            <a:r>
              <a:rPr lang="en-IN" sz="800" dirty="0"/>
              <a:t> Current systems lack Explainable AI (XAI) and Zero-Trust Cybersecurity, making the grid vulnerable and untrustworthy.</a:t>
            </a:r>
          </a:p>
          <a:p>
            <a:endParaRPr lang="en-IN" sz="800" dirty="0"/>
          </a:p>
          <a:p>
            <a:r>
              <a:rPr lang="en-IN" sz="800" dirty="0"/>
              <a:t>The campus lacks a </a:t>
            </a:r>
            <a:r>
              <a:rPr lang="en-IN" sz="800" b="1" dirty="0"/>
              <a:t>Digital Public Infrastructure (DPI)</a:t>
            </a:r>
            <a:r>
              <a:rPr lang="en-IN" sz="800" dirty="0"/>
              <a:t> layer for its environmental data. Without telemetry, a grid surge caused by a monsoon storm will trip an inverter, leaving the campus running on fossil fuels for weeks before human staff even realizes the system is offline. Furthermore, panel cleaning schedules are based</a:t>
            </a:r>
          </a:p>
          <a:p>
            <a:r>
              <a:rPr lang="en-IN" sz="800" dirty="0"/>
              <a:t>on guesswork, not real-time soiling data.</a:t>
            </a:r>
          </a:p>
          <a:p>
            <a:endParaRPr lang="en-IN" sz="800" dirty="0"/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/>
            </a:r>
            <a:br>
              <a:rPr lang="en-IN" sz="800" dirty="0"/>
            </a:br>
            <a:endParaRPr lang="en-US" sz="7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3050B60F-2C95-6D5F-DE20-ED75AAA44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75" y="3539442"/>
            <a:ext cx="839725" cy="143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57400"/>
            <a:ext cx="2926080" cy="2926080"/>
          </a:xfrm>
          <a:prstGeom prst="ellipse">
            <a:avLst/>
          </a:prstGeom>
          <a:solidFill>
            <a:srgbClr val="FFCDD2">
              <a:alpha val="16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2926080" cy="2926080"/>
          </a:xfrm>
          <a:prstGeom prst="ellipse">
            <a:avLst/>
          </a:prstGeom>
          <a:solidFill>
            <a:srgbClr val="C8E6C9">
              <a:alpha val="16000"/>
            </a:srgbClr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4023360"/>
            <a:ext cx="2194560" cy="1828800"/>
          </a:xfrm>
          <a:prstGeom prst="ellipse">
            <a:avLst/>
          </a:prstGeom>
          <a:solidFill>
            <a:srgbClr val="E8EAF6">
              <a:alpha val="14000"/>
            </a:srgbClr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 w="9525">
            <a:solidFill>
              <a:srgbClr val="E2EB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2745"/>
            <a:ext cx="9144000" cy="22860"/>
          </a:xfrm>
          <a:prstGeom prst="rect">
            <a:avLst/>
          </a:prstGeom>
          <a:solidFill>
            <a:srgbClr val="81C784">
              <a:alpha val="5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/>
              <a:t>By – </a:t>
            </a:r>
            <a:r>
              <a:rPr lang="en-US" sz="1000" dirty="0" err="1" smtClean="0"/>
              <a:t>Satvik</a:t>
            </a:r>
            <a:r>
              <a:rPr lang="en-US" sz="1000" dirty="0" smtClean="0"/>
              <a:t> </a:t>
            </a:r>
            <a:r>
              <a:rPr lang="en-US" sz="1000" dirty="0" err="1" smtClean="0"/>
              <a:t>Shrivastava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54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566928"/>
            <a:ext cx="4114800" cy="3202862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566927"/>
            <a:ext cx="64008" cy="374566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658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42416" y="685800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68580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30" dirty="0">
                <a:solidFill>
                  <a:srgbClr val="D32F2F"/>
                </a:solidFill>
                <a:latin typeface="Calibri" pitchFamily="34" charset="0"/>
                <a:cs typeface="Calibri" pitchFamily="34" charset="-120"/>
              </a:rPr>
              <a:t>WORKFLOW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30352" y="98755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Design the solution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108953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02920" y="1206230"/>
            <a:ext cx="37856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502920" y="1252728"/>
            <a:ext cx="822198" cy="248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800" b="1" dirty="0"/>
              <a:t>Physical Layer:</a:t>
            </a:r>
          </a:p>
          <a:p>
            <a:pPr algn="ctr"/>
            <a:r>
              <a:rPr lang="en-IN" sz="800" dirty="0"/>
              <a:t>Solar panels </a:t>
            </a:r>
          </a:p>
          <a:p>
            <a:pPr algn="ctr"/>
            <a:r>
              <a:rPr lang="en-IN" sz="800" dirty="0"/>
              <a:t>Inverters </a:t>
            </a:r>
          </a:p>
          <a:p>
            <a:pPr algn="ctr"/>
            <a:r>
              <a:rPr lang="en-IN" sz="800" dirty="0"/>
              <a:t>Sensors </a:t>
            </a:r>
          </a:p>
          <a:p>
            <a:pPr algn="ctr"/>
            <a:endParaRPr lang="en-IN" sz="800" dirty="0"/>
          </a:p>
          <a:p>
            <a:pPr algn="ctr"/>
            <a:r>
              <a:rPr lang="en-IN" sz="800" b="1" dirty="0"/>
              <a:t>Edge Layer:</a:t>
            </a:r>
          </a:p>
          <a:p>
            <a:pPr algn="ctr"/>
            <a:r>
              <a:rPr lang="en-IN" sz="800" dirty="0"/>
              <a:t>ESP32/Raspberry Pi </a:t>
            </a:r>
          </a:p>
          <a:p>
            <a:pPr algn="ctr"/>
            <a:endParaRPr lang="en-IN" sz="800" dirty="0"/>
          </a:p>
          <a:p>
            <a:pPr algn="ctr"/>
            <a:r>
              <a:rPr lang="en-IN" sz="800" b="1" dirty="0"/>
              <a:t>AI Layer:</a:t>
            </a:r>
          </a:p>
          <a:p>
            <a:pPr algn="ctr"/>
            <a:r>
              <a:rPr lang="en-IN" sz="800" dirty="0"/>
              <a:t>Isolation Forest </a:t>
            </a:r>
          </a:p>
          <a:p>
            <a:pPr algn="ctr"/>
            <a:r>
              <a:rPr lang="en-IN" sz="800" dirty="0"/>
              <a:t>Regression </a:t>
            </a:r>
          </a:p>
          <a:p>
            <a:pPr algn="ctr"/>
            <a:r>
              <a:rPr lang="en-IN" sz="800" dirty="0"/>
              <a:t>Forecasting </a:t>
            </a:r>
          </a:p>
          <a:p>
            <a:pPr algn="ctr"/>
            <a:endParaRPr lang="en-IN" sz="800" dirty="0"/>
          </a:p>
          <a:p>
            <a:pPr algn="ctr"/>
            <a:r>
              <a:rPr lang="en-IN" sz="800" b="1" dirty="0"/>
              <a:t>Application Layer:</a:t>
            </a:r>
          </a:p>
          <a:p>
            <a:pPr algn="ctr"/>
            <a:r>
              <a:rPr lang="en-IN" sz="800" dirty="0"/>
              <a:t>Dashboard </a:t>
            </a:r>
          </a:p>
          <a:p>
            <a:pPr algn="ctr"/>
            <a:r>
              <a:rPr lang="en-IN" sz="800" dirty="0"/>
              <a:t>WhatsApp alerts </a:t>
            </a:r>
          </a:p>
          <a:p>
            <a:pPr algn="ctr"/>
            <a:endParaRPr lang="en-IN" sz="800" dirty="0"/>
          </a:p>
          <a:p>
            <a:pPr algn="ctr"/>
            <a:r>
              <a:rPr lang="en-IN" sz="800" b="1" dirty="0"/>
              <a:t>Decision Layer:</a:t>
            </a:r>
          </a:p>
          <a:p>
            <a:pPr algn="ctr"/>
            <a:r>
              <a:rPr lang="en-IN" sz="800" dirty="0"/>
              <a:t>Maintenance recommendations</a:t>
            </a:r>
          </a:p>
          <a:p>
            <a:pPr algn="ctr"/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108960" y="679964"/>
            <a:ext cx="566928" cy="164592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9816" y="683393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WHY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4663440" y="566927"/>
            <a:ext cx="4114800" cy="3552635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566928"/>
            <a:ext cx="64008" cy="44979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658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340096" y="685800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68580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30" dirty="0">
                <a:solidFill>
                  <a:srgbClr val="D32F2F"/>
                </a:solidFill>
                <a:latin typeface="Calibri" pitchFamily="34" charset="0"/>
                <a:cs typeface="Calibri" pitchFamily="34" charset="-120"/>
              </a:rPr>
              <a:t>INFO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828032" y="98755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Define the data flow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116128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834518" y="1285089"/>
            <a:ext cx="37856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4518" y="1344167"/>
            <a:ext cx="3785616" cy="323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800" b="1" dirty="0"/>
              <a:t>What data will be collected?</a:t>
            </a:r>
          </a:p>
          <a:p>
            <a:endParaRPr lang="en-IN" sz="800" dirty="0"/>
          </a:p>
          <a:p>
            <a:pPr lvl="1"/>
            <a:r>
              <a:rPr lang="en-IN" sz="800" i="1" dirty="0"/>
              <a:t>System Data:</a:t>
            </a:r>
            <a:r>
              <a:rPr lang="en-IN" sz="800" dirty="0"/>
              <a:t> High-frequency Kilowatt-hours (kWh), string voltage, and current (via Inverter APIs).</a:t>
            </a:r>
          </a:p>
          <a:p>
            <a:pPr lvl="1"/>
            <a:endParaRPr lang="en-IN" sz="800" dirty="0"/>
          </a:p>
          <a:p>
            <a:pPr lvl="1"/>
            <a:r>
              <a:rPr lang="en-IN" sz="800" i="1" dirty="0"/>
              <a:t>Geospatial Data:</a:t>
            </a:r>
            <a:r>
              <a:rPr lang="en-IN" sz="800" dirty="0"/>
              <a:t> Real-time solar irradiance (W/m²) and humidity via open-source satellite APIs (e.g., NASA POWER or local weather stations).</a:t>
            </a:r>
          </a:p>
          <a:p>
            <a:pPr lvl="1"/>
            <a:endParaRPr lang="en-IN" sz="800" dirty="0"/>
          </a:p>
          <a:p>
            <a:r>
              <a:rPr lang="en-IN" sz="800" b="1" dirty="0"/>
              <a:t>How will it be used?</a:t>
            </a:r>
          </a:p>
          <a:p>
            <a:r>
              <a:rPr lang="en-IN" sz="800" dirty="0"/>
              <a:t> The Digital Twin runs continuous simulations. If it is a bright, sunny day (high irradiance) but the AI detects a 0 kWh output, it instantly knows the inverter has tripped. If output slowly degrades by 18% over a month despite clear skies, the AI identifies dust accumulation.</a:t>
            </a:r>
          </a:p>
          <a:p>
            <a:endParaRPr lang="en-IN" sz="800" dirty="0"/>
          </a:p>
          <a:p>
            <a:r>
              <a:rPr lang="en-IN" sz="800" b="1" dirty="0"/>
              <a:t>What decisions will it enable?</a:t>
            </a:r>
          </a:p>
          <a:p>
            <a:endParaRPr lang="en-IN" sz="800" b="1" dirty="0"/>
          </a:p>
          <a:p>
            <a:r>
              <a:rPr lang="en-IN" sz="800" b="1" dirty="0"/>
              <a:t>Micro-Decision (Fault Alert):</a:t>
            </a:r>
            <a:r>
              <a:rPr lang="en-IN" sz="800" dirty="0"/>
              <a:t> Slashes the Mean Time To Detect (MTTD) from "weeks" to "seconds," instantly notifying staff: </a:t>
            </a:r>
            <a:r>
              <a:rPr lang="en-IN" sz="800" i="1" dirty="0"/>
              <a:t>"Inverter #2 Tripped. Reset required.“</a:t>
            </a:r>
          </a:p>
          <a:p>
            <a:endParaRPr lang="en-IN" sz="800" b="1" i="1" dirty="0"/>
          </a:p>
          <a:p>
            <a:r>
              <a:rPr lang="en-IN" sz="800" b="1" dirty="0"/>
              <a:t>Macro-Decision (Predictive Maintenance):</a:t>
            </a:r>
            <a:r>
              <a:rPr lang="en-IN" sz="800" dirty="0"/>
              <a:t> The AI dynamically calculates the cost of lost energy versus the cost of cleaning </a:t>
            </a:r>
            <a:r>
              <a:rPr lang="en-IN" sz="800" dirty="0" err="1"/>
              <a:t>labor</a:t>
            </a:r>
            <a:r>
              <a:rPr lang="en-IN" sz="800" dirty="0"/>
              <a:t>. It triggers a cleaning ticket </a:t>
            </a:r>
            <a:r>
              <a:rPr lang="en-IN" sz="800" i="1" dirty="0"/>
              <a:t>only</a:t>
            </a:r>
            <a:r>
              <a:rPr lang="en-IN" sz="800" dirty="0"/>
              <a:t> when the energy loss is more expensive than hiring the cleaning staff.</a:t>
            </a:r>
          </a:p>
          <a:p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36224" y="717195"/>
            <a:ext cx="566928" cy="164592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5181" y="72195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HOW</a:t>
            </a:r>
            <a:endParaRPr lang="en-US" sz="5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023BE827-0D0B-45B2-D5CC-A23263C1EC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810"/>
          <a:stretch>
            <a:fillRect/>
          </a:stretch>
        </p:blipFill>
        <p:spPr>
          <a:xfrm>
            <a:off x="1454286" y="1215862"/>
            <a:ext cx="2914371" cy="6896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xmlns="" id="{AE4292F1-E5FA-742F-B0AA-F4013C93A6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437"/>
          <a:stretch>
            <a:fillRect/>
          </a:stretch>
        </p:blipFill>
        <p:spPr>
          <a:xfrm>
            <a:off x="882205" y="3769789"/>
            <a:ext cx="3246311" cy="13043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7E441F2E-F8D2-2CDF-B0B2-0010397BD01F}"/>
              </a:ext>
            </a:extLst>
          </p:cNvPr>
          <p:cNvSpPr txBox="1"/>
          <p:nvPr/>
        </p:nvSpPr>
        <p:spPr>
          <a:xfrm>
            <a:off x="1695148" y="2400408"/>
            <a:ext cx="2620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800" i="1" dirty="0"/>
              <a:t>Incoming telemetry is validated, cleaned, and time-synchronized before AI processing to ensure reliable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52B8058-E93B-3ABC-5917-87EE35DA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D1E04EBD-24A2-67B0-190D-2FBD4137D7CD}"/>
              </a:ext>
            </a:extLst>
          </p:cNvPr>
          <p:cNvSpPr/>
          <p:nvPr/>
        </p:nvSpPr>
        <p:spPr>
          <a:xfrm>
            <a:off x="0" y="2057400"/>
            <a:ext cx="2926080" cy="2926080"/>
          </a:xfrm>
          <a:prstGeom prst="ellipse">
            <a:avLst/>
          </a:prstGeom>
          <a:solidFill>
            <a:srgbClr val="FFCDD2">
              <a:alpha val="16000"/>
            </a:srgbClr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849E88A8-61A6-02EA-3F0F-5B8F418AED72}"/>
              </a:ext>
            </a:extLst>
          </p:cNvPr>
          <p:cNvSpPr/>
          <p:nvPr/>
        </p:nvSpPr>
        <p:spPr>
          <a:xfrm>
            <a:off x="7132320" y="-640080"/>
            <a:ext cx="2926080" cy="2926080"/>
          </a:xfrm>
          <a:prstGeom prst="ellipse">
            <a:avLst/>
          </a:prstGeom>
          <a:solidFill>
            <a:srgbClr val="C8E6C9">
              <a:alpha val="16000"/>
            </a:srgbClr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xmlns="" id="{1A4D1A60-9821-D23A-BDEA-F12B0A4E6590}"/>
              </a:ext>
            </a:extLst>
          </p:cNvPr>
          <p:cNvSpPr/>
          <p:nvPr/>
        </p:nvSpPr>
        <p:spPr>
          <a:xfrm>
            <a:off x="4389120" y="4023360"/>
            <a:ext cx="2194560" cy="1828800"/>
          </a:xfrm>
          <a:prstGeom prst="ellipse">
            <a:avLst/>
          </a:prstGeom>
          <a:solidFill>
            <a:srgbClr val="E8EAF6">
              <a:alpha val="14000"/>
            </a:srgbClr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xmlns="" id="{E1665977-8395-6690-122A-C12B571DD5BF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 w="9525">
            <a:solidFill>
              <a:srgbClr val="E2EBF3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7F2B7ADE-1B98-291D-4F06-BBADBE86B900}"/>
              </a:ext>
            </a:extLst>
          </p:cNvPr>
          <p:cNvSpPr/>
          <p:nvPr/>
        </p:nvSpPr>
        <p:spPr>
          <a:xfrm>
            <a:off x="0" y="472745"/>
            <a:ext cx="9144000" cy="22860"/>
          </a:xfrm>
          <a:prstGeom prst="rect">
            <a:avLst/>
          </a:prstGeom>
          <a:solidFill>
            <a:srgbClr val="81C784">
              <a:alpha val="5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CFBF31F6-F85B-5911-EED3-E10E7A67D723}"/>
              </a:ext>
            </a:extLst>
          </p:cNvPr>
          <p:cNvSpPr/>
          <p:nvPr/>
        </p:nvSpPr>
        <p:spPr>
          <a:xfrm>
            <a:off x="365760" y="54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/>
              <a:t>By – </a:t>
            </a:r>
            <a:r>
              <a:rPr lang="en-US" sz="1000" dirty="0" err="1" smtClean="0"/>
              <a:t>Satvik</a:t>
            </a:r>
            <a:r>
              <a:rPr lang="en-US" sz="1000" dirty="0" smtClean="0"/>
              <a:t> </a:t>
            </a:r>
            <a:r>
              <a:rPr lang="en-US" sz="1000" dirty="0" err="1" smtClean="0"/>
              <a:t>Shrivastava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0848A779-9397-50FF-D01A-4D0BC526F4E3}"/>
              </a:ext>
            </a:extLst>
          </p:cNvPr>
          <p:cNvSpPr/>
          <p:nvPr/>
        </p:nvSpPr>
        <p:spPr>
          <a:xfrm>
            <a:off x="8001000" y="54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xmlns="" id="{488C6CC1-9006-8924-CD0F-8ADE94BFEDAF}"/>
              </a:ext>
            </a:extLst>
          </p:cNvPr>
          <p:cNvSpPr/>
          <p:nvPr/>
        </p:nvSpPr>
        <p:spPr>
          <a:xfrm>
            <a:off x="365760" y="566928"/>
            <a:ext cx="4114800" cy="3202862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xmlns="" id="{55538973-4FC9-8A32-259C-D22C9019E826}"/>
              </a:ext>
            </a:extLst>
          </p:cNvPr>
          <p:cNvSpPr/>
          <p:nvPr/>
        </p:nvSpPr>
        <p:spPr>
          <a:xfrm>
            <a:off x="365760" y="566927"/>
            <a:ext cx="64008" cy="374566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xmlns="" id="{3EAD831D-0E25-31BF-52E3-6844E6FD3B4A}"/>
              </a:ext>
            </a:extLst>
          </p:cNvPr>
          <p:cNvSpPr/>
          <p:nvPr/>
        </p:nvSpPr>
        <p:spPr>
          <a:xfrm>
            <a:off x="530352" y="658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xmlns="" id="{4D44ABB7-39FC-BDB2-81F8-3008C44CDDF6}"/>
              </a:ext>
            </a:extLst>
          </p:cNvPr>
          <p:cNvSpPr/>
          <p:nvPr/>
        </p:nvSpPr>
        <p:spPr>
          <a:xfrm>
            <a:off x="1042416" y="685800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xmlns="" id="{2A5B4E75-BDC5-3DD3-693D-10DB1476DBF6}"/>
              </a:ext>
            </a:extLst>
          </p:cNvPr>
          <p:cNvSpPr/>
          <p:nvPr/>
        </p:nvSpPr>
        <p:spPr>
          <a:xfrm>
            <a:off x="1042416" y="68580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30" dirty="0">
                <a:solidFill>
                  <a:srgbClr val="D32F2F"/>
                </a:solidFill>
                <a:latin typeface="Calibri" pitchFamily="34" charset="0"/>
                <a:cs typeface="Calibri" pitchFamily="34" charset="-120"/>
              </a:rPr>
              <a:t>COST?</a:t>
            </a:r>
            <a:endParaRPr lang="en-US" sz="6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xmlns="" id="{D0A64ECD-7E32-2371-FE2E-39439165A00A}"/>
              </a:ext>
            </a:extLst>
          </p:cNvPr>
          <p:cNvSpPr/>
          <p:nvPr/>
        </p:nvSpPr>
        <p:spPr>
          <a:xfrm>
            <a:off x="530352" y="98755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Define the Data-flow and Decision Intelligence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xmlns="" id="{11C06692-0713-C09B-086B-7B8ABCFA37F2}"/>
              </a:ext>
            </a:extLst>
          </p:cNvPr>
          <p:cNvSpPr/>
          <p:nvPr/>
        </p:nvSpPr>
        <p:spPr>
          <a:xfrm>
            <a:off x="502920" y="1108953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xmlns="" id="{29CC1F62-1924-3B90-650E-C7B401218204}"/>
              </a:ext>
            </a:extLst>
          </p:cNvPr>
          <p:cNvSpPr/>
          <p:nvPr/>
        </p:nvSpPr>
        <p:spPr>
          <a:xfrm>
            <a:off x="502920" y="1206230"/>
            <a:ext cx="37856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xmlns="" id="{6A5F1CAD-9556-681A-9D7A-E11F7DA83D92}"/>
              </a:ext>
            </a:extLst>
          </p:cNvPr>
          <p:cNvSpPr/>
          <p:nvPr/>
        </p:nvSpPr>
        <p:spPr>
          <a:xfrm>
            <a:off x="502920" y="1252728"/>
            <a:ext cx="3913632" cy="248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800" dirty="0"/>
              <a:t>Live inverter telemetry, battery health metrics, and forecasted meteorological data (irradiance, heatwaves, cloud cover).</a:t>
            </a:r>
          </a:p>
          <a:p>
            <a:endParaRPr lang="en-IN" sz="800" b="1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800" dirty="0"/>
              <a:t>The data feeds a highly advanced simulation and decision-support matrix.</a:t>
            </a:r>
          </a:p>
          <a:p>
            <a:endParaRPr lang="en-IN" sz="800" i="1" dirty="0"/>
          </a:p>
          <a:p>
            <a:r>
              <a:rPr lang="en-IN" sz="800" b="1" i="1" dirty="0"/>
              <a:t>What decisions will it enable?</a:t>
            </a:r>
          </a:p>
          <a:p>
            <a:endParaRPr lang="en-IN" sz="800" b="1" dirty="0"/>
          </a:p>
          <a:p>
            <a:r>
              <a:rPr lang="en-IN" sz="800" b="1" dirty="0"/>
              <a:t>Prescriptive AI (Maintenance):</a:t>
            </a:r>
            <a:r>
              <a:rPr lang="en-IN" sz="800" dirty="0"/>
              <a:t> Instead of "Alert: Dirty Panel," the AI calculates: </a:t>
            </a:r>
            <a:r>
              <a:rPr lang="en-IN" sz="800" i="1" dirty="0"/>
              <a:t>"Action: Clean Array B. Cost: ₹500. Expected Savings: ₹2,700. ROI Positive.“</a:t>
            </a:r>
          </a:p>
          <a:p>
            <a:endParaRPr lang="en-IN" sz="800" b="1" i="1" dirty="0"/>
          </a:p>
          <a:p>
            <a:r>
              <a:rPr lang="en-IN" sz="800" b="1" dirty="0"/>
              <a:t>Extreme Weather Risk Forecasting:</a:t>
            </a:r>
            <a:r>
              <a:rPr lang="en-IN" sz="800" dirty="0"/>
              <a:t> Anticipates a 60% irradiance drop from a monsoon or grid instability from a heatwave, automatically recommending battery reserve charging.</a:t>
            </a:r>
          </a:p>
          <a:p>
            <a:endParaRPr lang="en-IN" sz="800" b="1" dirty="0"/>
          </a:p>
          <a:p>
            <a:r>
              <a:rPr lang="en-IN" sz="800" b="1" dirty="0"/>
              <a:t>Scenario Simulation ("What-If" Engine):</a:t>
            </a:r>
            <a:r>
              <a:rPr lang="en-IN" sz="800" dirty="0"/>
              <a:t> Allows facility managers to simulate stress tests: </a:t>
            </a:r>
            <a:r>
              <a:rPr lang="en-IN" sz="800" i="1" dirty="0"/>
              <a:t>"What if campus demand rises 25% while Inverter #2 fails?“</a:t>
            </a:r>
          </a:p>
          <a:p>
            <a:endParaRPr lang="en-IN" sz="800" i="1" dirty="0"/>
          </a:p>
          <a:p>
            <a:r>
              <a:rPr lang="en-IN" sz="800" dirty="0"/>
              <a:t>Macro-Decision (Automated Carbon Accounting): The Digital Twin converts recovered kWh directly into 'Kilograms of CO2 Avoided' based on the local grid's carbon intensity. This provides transparent, audit-ready data for the university’s annual ESG reports and Scope 2 emission reductions</a:t>
            </a:r>
          </a:p>
          <a:p>
            <a:endParaRPr lang="en-IN" sz="800" dirty="0"/>
          </a:p>
          <a:p>
            <a:endParaRPr lang="en-IN" sz="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xmlns="" id="{3F279C68-8BEE-31A7-6705-49EC56B897B8}"/>
              </a:ext>
            </a:extLst>
          </p:cNvPr>
          <p:cNvSpPr/>
          <p:nvPr/>
        </p:nvSpPr>
        <p:spPr>
          <a:xfrm>
            <a:off x="4663440" y="566927"/>
            <a:ext cx="4114800" cy="3952686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xmlns="" id="{955DA91D-D01B-89C9-6233-C96159C57BE1}"/>
              </a:ext>
            </a:extLst>
          </p:cNvPr>
          <p:cNvSpPr/>
          <p:nvPr/>
        </p:nvSpPr>
        <p:spPr>
          <a:xfrm>
            <a:off x="4663440" y="566928"/>
            <a:ext cx="64008" cy="44979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xmlns="" id="{306913DA-A9BD-6987-B65D-B757A8471530}"/>
              </a:ext>
            </a:extLst>
          </p:cNvPr>
          <p:cNvSpPr/>
          <p:nvPr/>
        </p:nvSpPr>
        <p:spPr>
          <a:xfrm>
            <a:off x="4828032" y="658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xmlns="" id="{29B59FA4-7FB2-4DF7-F9DE-FE3A9C4D7C14}"/>
              </a:ext>
            </a:extLst>
          </p:cNvPr>
          <p:cNvSpPr/>
          <p:nvPr/>
        </p:nvSpPr>
        <p:spPr>
          <a:xfrm>
            <a:off x="4828032" y="98755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Define the Data flow and Decision Intelligence</a:t>
            </a: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xmlns="" id="{DBF2D8CF-39A5-3788-CF17-4E2C608252D4}"/>
              </a:ext>
            </a:extLst>
          </p:cNvPr>
          <p:cNvSpPr/>
          <p:nvPr/>
        </p:nvSpPr>
        <p:spPr>
          <a:xfrm>
            <a:off x="4828032" y="116128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xmlns="" id="{E44D46FC-D355-7DB1-5B9A-E072EDE13270}"/>
              </a:ext>
            </a:extLst>
          </p:cNvPr>
          <p:cNvSpPr/>
          <p:nvPr/>
        </p:nvSpPr>
        <p:spPr>
          <a:xfrm>
            <a:off x="4834518" y="1285089"/>
            <a:ext cx="37856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xmlns="" id="{7E4DF653-608C-4CC7-910B-48EE3AC75FF9}"/>
              </a:ext>
            </a:extLst>
          </p:cNvPr>
          <p:cNvSpPr/>
          <p:nvPr/>
        </p:nvSpPr>
        <p:spPr>
          <a:xfrm>
            <a:off x="629602" y="4129746"/>
            <a:ext cx="875348" cy="355385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xmlns="" id="{426B7791-C2F3-9EAE-0FB9-E721A2499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68901368"/>
              </p:ext>
            </p:extLst>
          </p:nvPr>
        </p:nvGraphicFramePr>
        <p:xfrm>
          <a:off x="1909762" y="3648047"/>
          <a:ext cx="2238376" cy="1542894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871538">
                  <a:extLst>
                    <a:ext uri="{9D8B030D-6E8A-4147-A177-3AD203B41FA5}">
                      <a16:colId xmlns:a16="http://schemas.microsoft.com/office/drawing/2014/main" xmlns="" val="486358261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xmlns="" val="2696043286"/>
                    </a:ext>
                  </a:extLst>
                </a:gridCol>
              </a:tblGrid>
              <a:tr h="151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Prototype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88958893"/>
                  </a:ext>
                </a:extLst>
              </a:tr>
              <a:tr h="151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NASA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₹0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7302886"/>
                  </a:ext>
                </a:extLst>
              </a:tr>
              <a:tr h="238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Python libraries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₹0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95518594"/>
                  </a:ext>
                </a:extLst>
              </a:tr>
              <a:tr h="151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Streamlit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₹0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5006619"/>
                  </a:ext>
                </a:extLst>
              </a:tr>
              <a:tr h="151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Firebase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₹0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8684874"/>
                  </a:ext>
                </a:extLst>
              </a:tr>
              <a:tr h="151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ESP32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₹500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9670695"/>
                  </a:ext>
                </a:extLst>
              </a:tr>
              <a:tr h="238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RS485 converter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₹300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1990810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829E756E-C3FB-A870-9FBC-73DBDC4872AA}"/>
              </a:ext>
            </a:extLst>
          </p:cNvPr>
          <p:cNvSpPr txBox="1"/>
          <p:nvPr/>
        </p:nvSpPr>
        <p:spPr>
          <a:xfrm>
            <a:off x="4803838" y="1280161"/>
            <a:ext cx="380981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/>
              <a:t>Divided implementation into phases.</a:t>
            </a:r>
          </a:p>
          <a:p>
            <a:pPr>
              <a:buNone/>
            </a:pPr>
            <a:endParaRPr lang="en-IN" sz="800" b="1" dirty="0"/>
          </a:p>
          <a:p>
            <a:pPr algn="ctr">
              <a:buNone/>
            </a:pPr>
            <a:r>
              <a:rPr lang="en-IN" sz="800" b="1" dirty="0"/>
              <a:t>Phase 1: Prototype (0-2 months)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Simulated inverter dataset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NASA POWER API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</a:t>
            </a:r>
            <a:r>
              <a:rPr lang="en-IN" sz="800" dirty="0" err="1"/>
              <a:t>Streamlit</a:t>
            </a:r>
            <a:r>
              <a:rPr lang="en-IN" sz="800" dirty="0"/>
              <a:t> dashboard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AI models </a:t>
            </a:r>
          </a:p>
          <a:p>
            <a:pPr algn="ctr">
              <a:buNone/>
            </a:pPr>
            <a:r>
              <a:rPr lang="en-IN" sz="800" dirty="0"/>
              <a:t>Cost: ₹0–₹1000</a:t>
            </a:r>
          </a:p>
          <a:p>
            <a:pPr algn="ctr">
              <a:buNone/>
            </a:pPr>
            <a:r>
              <a:rPr lang="en-IN" sz="800" dirty="0"/>
              <a:t/>
            </a:r>
            <a:br>
              <a:rPr lang="en-IN" sz="800" dirty="0"/>
            </a:br>
            <a:r>
              <a:rPr lang="en-IN" sz="800" b="1" dirty="0"/>
              <a:t>Phase 2: Pilot Deployment (3-6 months)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One building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One inverter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One gateway </a:t>
            </a:r>
          </a:p>
          <a:p>
            <a:pPr algn="ctr">
              <a:buNone/>
            </a:pPr>
            <a:r>
              <a:rPr lang="en-IN" sz="800" dirty="0"/>
              <a:t>Cost: ₹3000–₹5000</a:t>
            </a:r>
          </a:p>
          <a:p>
            <a:pPr algn="ctr">
              <a:buNone/>
            </a:pPr>
            <a:r>
              <a:rPr lang="en-IN" sz="800" dirty="0"/>
              <a:t/>
            </a:r>
            <a:br>
              <a:rPr lang="en-IN" sz="800" dirty="0"/>
            </a:br>
            <a:r>
              <a:rPr lang="en-IN" sz="800" b="1" dirty="0"/>
              <a:t>Phase 3: Campus Scale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Multiple buildings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800" dirty="0"/>
              <a:t> Central monitoring </a:t>
            </a:r>
          </a:p>
          <a:p>
            <a:pPr algn="ctr">
              <a:buNone/>
            </a:pPr>
            <a:endParaRPr lang="en-IN" sz="800" b="1" dirty="0"/>
          </a:p>
          <a:p>
            <a:pPr algn="ctr">
              <a:buNone/>
            </a:pPr>
            <a:r>
              <a:rPr lang="en-IN" sz="800" b="1" dirty="0"/>
              <a:t>Include a cost table</a:t>
            </a:r>
          </a:p>
          <a:p>
            <a:pPr algn="ctr">
              <a:buNone/>
            </a:pPr>
            <a:r>
              <a:rPr lang="en-IN" sz="800" dirty="0"/>
              <a:t>Total:</a:t>
            </a:r>
          </a:p>
          <a:p>
            <a:pPr algn="ctr">
              <a:buNone/>
            </a:pPr>
            <a:r>
              <a:rPr lang="en-IN" sz="800" dirty="0"/>
              <a:t>Approximately ₹800-₹1000 for proof-of-concept.</a:t>
            </a:r>
          </a:p>
          <a:p>
            <a:pPr algn="ctr">
              <a:buNone/>
            </a:pPr>
            <a:endParaRPr lang="en-IN" sz="800" dirty="0"/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IN" sz="800" dirty="0"/>
              <a:t>If live inverter telemetry is unavailable during the prototype stage, historical and simulated datasets will be used.</a:t>
            </a: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xmlns="" id="{0CFBD9E4-51F4-049E-A44E-6520F80744FA}"/>
              </a:ext>
            </a:extLst>
          </p:cNvPr>
          <p:cNvSpPr/>
          <p:nvPr/>
        </p:nvSpPr>
        <p:spPr>
          <a:xfrm>
            <a:off x="583597" y="4224947"/>
            <a:ext cx="97250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30" dirty="0">
                <a:solidFill>
                  <a:srgbClr val="D32F2F"/>
                </a:solidFill>
                <a:latin typeface="Calibri" pitchFamily="34" charset="0"/>
                <a:cs typeface="Calibri" pitchFamily="34" charset="-120"/>
              </a:rPr>
              <a:t>Does not necessarily represent the actual prototype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xmlns="" val="390444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7E1EC41-A6E0-B644-D6E0-A0CC2F16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D3AF3F51-4328-878B-7160-ED8DF5312293}"/>
              </a:ext>
            </a:extLst>
          </p:cNvPr>
          <p:cNvSpPr/>
          <p:nvPr/>
        </p:nvSpPr>
        <p:spPr>
          <a:xfrm>
            <a:off x="0" y="2057400"/>
            <a:ext cx="2926080" cy="2926080"/>
          </a:xfrm>
          <a:prstGeom prst="ellipse">
            <a:avLst/>
          </a:prstGeom>
          <a:solidFill>
            <a:srgbClr val="FFCDD2">
              <a:alpha val="16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CA1BE940-D2BB-AD26-375A-D15FB6422DF8}"/>
              </a:ext>
            </a:extLst>
          </p:cNvPr>
          <p:cNvSpPr/>
          <p:nvPr/>
        </p:nvSpPr>
        <p:spPr>
          <a:xfrm>
            <a:off x="7132320" y="-640080"/>
            <a:ext cx="2926080" cy="2926080"/>
          </a:xfrm>
          <a:prstGeom prst="ellipse">
            <a:avLst/>
          </a:prstGeom>
          <a:solidFill>
            <a:srgbClr val="C8E6C9">
              <a:alpha val="16000"/>
            </a:srgbClr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xmlns="" id="{3400C590-20E9-B705-6059-E2ED90F41643}"/>
              </a:ext>
            </a:extLst>
          </p:cNvPr>
          <p:cNvSpPr/>
          <p:nvPr/>
        </p:nvSpPr>
        <p:spPr>
          <a:xfrm>
            <a:off x="4389120" y="4023360"/>
            <a:ext cx="2194560" cy="1828800"/>
          </a:xfrm>
          <a:prstGeom prst="ellipse">
            <a:avLst/>
          </a:prstGeom>
          <a:solidFill>
            <a:srgbClr val="E8EAF6">
              <a:alpha val="14000"/>
            </a:srgbClr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xmlns="" id="{A9EBDDEC-6221-7CA3-0569-F3771811BFF9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 w="9525">
            <a:solidFill>
              <a:srgbClr val="E2EBF3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65536947-714D-EF42-64F4-A2D7C01C6455}"/>
              </a:ext>
            </a:extLst>
          </p:cNvPr>
          <p:cNvSpPr/>
          <p:nvPr/>
        </p:nvSpPr>
        <p:spPr>
          <a:xfrm>
            <a:off x="0" y="472745"/>
            <a:ext cx="9144000" cy="22860"/>
          </a:xfrm>
          <a:prstGeom prst="rect">
            <a:avLst/>
          </a:prstGeom>
          <a:solidFill>
            <a:srgbClr val="81C784">
              <a:alpha val="5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A052B90D-0C8C-2862-A9E2-54D9C7BAE08D}"/>
              </a:ext>
            </a:extLst>
          </p:cNvPr>
          <p:cNvSpPr/>
          <p:nvPr/>
        </p:nvSpPr>
        <p:spPr>
          <a:xfrm>
            <a:off x="365760" y="54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/>
              <a:t>By – </a:t>
            </a:r>
            <a:r>
              <a:rPr lang="en-US" sz="1000" dirty="0" err="1" smtClean="0"/>
              <a:t>Satvik</a:t>
            </a:r>
            <a:r>
              <a:rPr lang="en-US" sz="1000" dirty="0" smtClean="0"/>
              <a:t> </a:t>
            </a:r>
            <a:r>
              <a:rPr lang="en-US" sz="1000" dirty="0" err="1" smtClean="0"/>
              <a:t>Shrivastava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06039AFC-42E8-4284-8680-6A48AD956DEC}"/>
              </a:ext>
            </a:extLst>
          </p:cNvPr>
          <p:cNvSpPr/>
          <p:nvPr/>
        </p:nvSpPr>
        <p:spPr>
          <a:xfrm>
            <a:off x="8001000" y="54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xmlns="" id="{A4077CA0-CF7F-1DEB-8533-58D2DF7CC30C}"/>
              </a:ext>
            </a:extLst>
          </p:cNvPr>
          <p:cNvSpPr/>
          <p:nvPr/>
        </p:nvSpPr>
        <p:spPr>
          <a:xfrm>
            <a:off x="365760" y="566928"/>
            <a:ext cx="4114800" cy="381699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xmlns="" id="{F3028AFE-FB6C-8347-2980-55D96376D36E}"/>
              </a:ext>
            </a:extLst>
          </p:cNvPr>
          <p:cNvSpPr/>
          <p:nvPr/>
        </p:nvSpPr>
        <p:spPr>
          <a:xfrm>
            <a:off x="365760" y="566927"/>
            <a:ext cx="64008" cy="374566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xmlns="" id="{7BFF64F0-C298-116A-574C-C922A80C5FB1}"/>
              </a:ext>
            </a:extLst>
          </p:cNvPr>
          <p:cNvSpPr/>
          <p:nvPr/>
        </p:nvSpPr>
        <p:spPr>
          <a:xfrm>
            <a:off x="530352" y="658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xmlns="" id="{2E30983D-250B-095E-EA7B-FAFB298DD97B}"/>
              </a:ext>
            </a:extLst>
          </p:cNvPr>
          <p:cNvSpPr/>
          <p:nvPr/>
        </p:nvSpPr>
        <p:spPr>
          <a:xfrm>
            <a:off x="1042416" y="685800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xmlns="" id="{69DEAB50-7A6E-1119-B67E-8F07D90D78E5}"/>
              </a:ext>
            </a:extLst>
          </p:cNvPr>
          <p:cNvSpPr/>
          <p:nvPr/>
        </p:nvSpPr>
        <p:spPr>
          <a:xfrm>
            <a:off x="1042416" y="68580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30" dirty="0">
                <a:solidFill>
                  <a:srgbClr val="D32F2F"/>
                </a:solidFill>
                <a:latin typeface="Calibri" pitchFamily="34" charset="0"/>
                <a:cs typeface="Calibri" pitchFamily="34" charset="-120"/>
              </a:rPr>
              <a:t>Impact</a:t>
            </a:r>
            <a:endParaRPr lang="en-US" sz="6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xmlns="" id="{22A93767-690C-7A89-2F18-D868839A2356}"/>
              </a:ext>
            </a:extLst>
          </p:cNvPr>
          <p:cNvSpPr/>
          <p:nvPr/>
        </p:nvSpPr>
        <p:spPr>
          <a:xfrm>
            <a:off x="530352" y="98755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Expected Impact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xmlns="" id="{6B3AD856-853F-0F74-AF88-D8FCDCD5B990}"/>
              </a:ext>
            </a:extLst>
          </p:cNvPr>
          <p:cNvSpPr/>
          <p:nvPr/>
        </p:nvSpPr>
        <p:spPr>
          <a:xfrm>
            <a:off x="502920" y="1108953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xmlns="" id="{26314496-680F-021D-E621-DF461B8D57C8}"/>
              </a:ext>
            </a:extLst>
          </p:cNvPr>
          <p:cNvSpPr/>
          <p:nvPr/>
        </p:nvSpPr>
        <p:spPr>
          <a:xfrm>
            <a:off x="502920" y="1206230"/>
            <a:ext cx="37856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xmlns="" id="{C8A27161-4B1B-E06E-14B7-4452F87B4358}"/>
              </a:ext>
            </a:extLst>
          </p:cNvPr>
          <p:cNvSpPr/>
          <p:nvPr/>
        </p:nvSpPr>
        <p:spPr>
          <a:xfrm>
            <a:off x="502920" y="1252728"/>
            <a:ext cx="3913632" cy="248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800" b="1" i="1" dirty="0"/>
              <a:t>What improvement will it bring?</a:t>
            </a:r>
          </a:p>
          <a:p>
            <a:endParaRPr lang="en-IN" sz="800" b="1" dirty="0"/>
          </a:p>
          <a:p>
            <a:r>
              <a:rPr lang="en-IN" sz="800" dirty="0"/>
              <a:t> It mathematically eliminates "Ghost Generation," recovering up to 20% of lost clean energy capacity. It also aligns with India's MNRE (Ministry of New and Renewable Energy) push for mandatory Remote Monitoring Systems (RMS) in smart grids.</a:t>
            </a:r>
          </a:p>
          <a:p>
            <a:endParaRPr lang="en-IN" sz="800" dirty="0"/>
          </a:p>
          <a:p>
            <a:r>
              <a:rPr lang="en-IN" sz="800" b="1" dirty="0"/>
              <a:t>Who will benefit?</a:t>
            </a:r>
          </a:p>
          <a:p>
            <a:endParaRPr lang="en-IN" sz="800" b="1" dirty="0"/>
          </a:p>
          <a:p>
            <a:r>
              <a:rPr lang="en-IN" sz="800" b="1" dirty="0"/>
              <a:t>Environmental (Planet):</a:t>
            </a:r>
            <a:r>
              <a:rPr lang="en-IN" sz="800" dirty="0"/>
              <a:t> Maximizes the university's green energy offset, explicitly advancing SDG 13.</a:t>
            </a:r>
          </a:p>
          <a:p>
            <a:endParaRPr lang="en-IN" sz="800" b="1" dirty="0"/>
          </a:p>
          <a:p>
            <a:r>
              <a:rPr lang="en-IN" sz="800" b="1" dirty="0"/>
              <a:t>Economic (Profit):</a:t>
            </a:r>
            <a:r>
              <a:rPr lang="en-IN" sz="800" dirty="0"/>
              <a:t> Delivers a provable, rapid ROI by eliminating unnecessary utility grid purchases and optimizing cleaning budgets.</a:t>
            </a:r>
          </a:p>
          <a:p>
            <a:endParaRPr lang="en-IN" sz="800" b="1" dirty="0"/>
          </a:p>
          <a:p>
            <a:r>
              <a:rPr lang="en-IN" sz="800" b="1" dirty="0"/>
              <a:t>Social (People - The "Green Skills" Factor):</a:t>
            </a:r>
            <a:r>
              <a:rPr lang="en-IN" sz="800" dirty="0"/>
              <a:t> This is the ultimate Just Transition. We upskill maintenance staff (like Vijay) from reactive physical </a:t>
            </a:r>
            <a:r>
              <a:rPr lang="en-IN" sz="800" dirty="0" err="1"/>
              <a:t>laborers</a:t>
            </a:r>
            <a:r>
              <a:rPr lang="en-IN" sz="800" dirty="0"/>
              <a:t> to proactive "Digital Twin Operators." Furthermore, the dashboard acts as a "Living Lab" for CS students to study Applied AI on their own campus.</a:t>
            </a:r>
          </a:p>
          <a:p>
            <a:endParaRPr lang="en-IN" sz="800" b="1" dirty="0"/>
          </a:p>
          <a:p>
            <a:r>
              <a:rPr lang="en-IN" sz="800" b="1" dirty="0"/>
              <a:t>The Global Education Sector:</a:t>
            </a:r>
            <a:r>
              <a:rPr lang="en-IN" sz="800" dirty="0"/>
              <a:t> Once validated on our campus, the 'Helio-Twin' ML algorithms and dashboard blueprints will be packaged as an Open-Source Digital Public Good (DPG) on GitHub. Any under-resourced university globally can download and deploy the system, scaling our local solution into a global green-skills standard.</a:t>
            </a:r>
          </a:p>
          <a:p>
            <a:r>
              <a:rPr lang="en-IN" sz="800" dirty="0"/>
              <a:t/>
            </a:r>
            <a:br>
              <a:rPr lang="en-IN" sz="800" dirty="0"/>
            </a:br>
            <a:r>
              <a:rPr lang="en-IN" sz="800" dirty="0"/>
              <a:t/>
            </a:r>
            <a:br>
              <a:rPr lang="en-IN" sz="800" dirty="0"/>
            </a:br>
            <a:endParaRPr lang="en-IN" sz="800" dirty="0"/>
          </a:p>
          <a:p>
            <a:endParaRPr lang="en-IN" sz="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xmlns="" id="{CDBB4054-1AEF-4548-56F9-4A386DB33E33}"/>
              </a:ext>
            </a:extLst>
          </p:cNvPr>
          <p:cNvSpPr/>
          <p:nvPr/>
        </p:nvSpPr>
        <p:spPr>
          <a:xfrm>
            <a:off x="4663440" y="566927"/>
            <a:ext cx="4114800" cy="4334638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BF3"/>
            </a:solidFill>
            <a:prstDash val="solid"/>
          </a:ln>
          <a:effectLst>
            <a:outerShdw blurRad="177800" dist="25400" dir="8100000" algn="bl" rotWithShape="0">
              <a:srgbClr val="BDD0E8">
                <a:alpha val="28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xmlns="" id="{A175792B-FCB3-60F3-7BE9-825AC974476E}"/>
              </a:ext>
            </a:extLst>
          </p:cNvPr>
          <p:cNvSpPr/>
          <p:nvPr/>
        </p:nvSpPr>
        <p:spPr>
          <a:xfrm>
            <a:off x="4663440" y="566928"/>
            <a:ext cx="64008" cy="44979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xmlns="" id="{046C2BCA-0A11-6368-2E87-D1D839796796}"/>
              </a:ext>
            </a:extLst>
          </p:cNvPr>
          <p:cNvSpPr/>
          <p:nvPr/>
        </p:nvSpPr>
        <p:spPr>
          <a:xfrm>
            <a:off x="4828032" y="658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xmlns="" id="{EE373B18-F3E4-1506-0A29-B0C4685C260F}"/>
              </a:ext>
            </a:extLst>
          </p:cNvPr>
          <p:cNvSpPr/>
          <p:nvPr/>
        </p:nvSpPr>
        <p:spPr>
          <a:xfrm>
            <a:off x="4828032" y="98755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cs typeface="Calibri" pitchFamily="34" charset="-120"/>
              </a:rPr>
              <a:t>Expected Impact</a:t>
            </a: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xmlns="" id="{5A5F331B-C0DF-CE80-E9B0-72E88F933B38}"/>
              </a:ext>
            </a:extLst>
          </p:cNvPr>
          <p:cNvSpPr/>
          <p:nvPr/>
        </p:nvSpPr>
        <p:spPr>
          <a:xfrm>
            <a:off x="4828032" y="116128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xmlns="" id="{7324858D-4EF6-D834-EB81-14FC3EFC616F}"/>
              </a:ext>
            </a:extLst>
          </p:cNvPr>
          <p:cNvSpPr/>
          <p:nvPr/>
        </p:nvSpPr>
        <p:spPr>
          <a:xfrm>
            <a:off x="4834518" y="1285089"/>
            <a:ext cx="3785616" cy="0"/>
          </a:xfrm>
          <a:prstGeom prst="line">
            <a:avLst/>
          </a:prstGeom>
          <a:noFill/>
          <a:ln w="6350">
            <a:solidFill>
              <a:srgbClr val="EBF1F8"/>
            </a:solidFill>
            <a:prstDash val="solid"/>
          </a:ln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79DB79EC-8D54-649D-DF0F-37A62C44C120}"/>
              </a:ext>
            </a:extLst>
          </p:cNvPr>
          <p:cNvSpPr txBox="1"/>
          <p:nvPr/>
        </p:nvSpPr>
        <p:spPr>
          <a:xfrm>
            <a:off x="4803838" y="1367819"/>
            <a:ext cx="380981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800" dirty="0"/>
              <a:t>Shifts the campus from reactive maintenance to </a:t>
            </a:r>
            <a:r>
              <a:rPr lang="en-IN" sz="800" b="1" dirty="0"/>
              <a:t>Prescriptive Decision Intelligence</a:t>
            </a:r>
            <a:r>
              <a:rPr lang="en-IN" sz="800" dirty="0"/>
              <a:t>. By extending the Remaining Useful Life (RUL) of components and preventing downtime, it maximizes the institution's financial and ecological investments.</a:t>
            </a:r>
          </a:p>
          <a:p>
            <a:endParaRPr lang="en-IN" sz="800" b="1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800" b="1" dirty="0"/>
              <a:t>Global ESG Reporting:</a:t>
            </a:r>
            <a:r>
              <a:rPr lang="en-IN" sz="800" dirty="0"/>
              <a:t> The built-in </a:t>
            </a:r>
            <a:r>
              <a:rPr lang="en-IN" sz="800" b="1" dirty="0"/>
              <a:t>Automated Carbon MRV Engine</a:t>
            </a:r>
            <a:r>
              <a:rPr lang="en-IN" sz="800" dirty="0"/>
              <a:t> (Monitoring, Reporting, Verification) automatically translates recovered kWh into auditable metrics (e.g., "697 kg CO₂ Avoided, 31 Trees Equivalent"), ready for institutional ESG reports.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N" sz="800" b="1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800" b="1" dirty="0"/>
              <a:t>The Wider Digital Ecosystem (DPI):</a:t>
            </a:r>
            <a:r>
              <a:rPr lang="en-IN" sz="800" dirty="0"/>
              <a:t> The platform features a </a:t>
            </a:r>
            <a:r>
              <a:rPr lang="en-IN" sz="800" b="1" dirty="0"/>
              <a:t>Green DPI API</a:t>
            </a:r>
            <a:r>
              <a:rPr lang="en-IN" sz="800" dirty="0"/>
              <a:t> (Open Environmental Data Exchange). By exposing endpoints like GET /</a:t>
            </a:r>
            <a:r>
              <a:rPr lang="en-IN" sz="800" dirty="0" err="1"/>
              <a:t>solar_forecast</a:t>
            </a:r>
            <a:r>
              <a:rPr lang="en-IN" sz="800" dirty="0"/>
              <a:t> and GET /carbon, other local municipalities, researchers, or grid operators can interoperate with our data, fully aligning with UNEP's vision for open environmental digital goods.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N" sz="800" b="1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800" b="1" dirty="0"/>
              <a:t>The Local Workforce:</a:t>
            </a:r>
            <a:r>
              <a:rPr lang="en-IN" sz="800" dirty="0"/>
              <a:t> Upskills campus electricians to interact with trustworthy, explainable AI, establishing a scalable blueprint for the "Green Jobs for Youth" transition.</a:t>
            </a:r>
          </a:p>
          <a:p>
            <a:pPr>
              <a:buNone/>
            </a:pPr>
            <a:endParaRPr lang="en-IN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F9FE1206-F44E-271B-487B-C48597C0F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74345"/>
            <a:ext cx="2926080" cy="119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475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611</Words>
  <Application>Microsoft Office PowerPoint</Application>
  <PresentationFormat>On-screen Show (16:9)</PresentationFormat>
  <Paragraphs>224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Sustainability Audit</dc:title>
  <dc:subject>PptxGenJS Presentation</dc:subject>
  <dc:creator>PptxGenJS</dc:creator>
  <cp:lastModifiedBy>MIRACLE COMPUTERS</cp:lastModifiedBy>
  <cp:revision>21</cp:revision>
  <dcterms:created xsi:type="dcterms:W3CDTF">2026-06-08T09:40:43Z</dcterms:created>
  <dcterms:modified xsi:type="dcterms:W3CDTF">2026-06-22T16:26:48Z</dcterms:modified>
</cp:coreProperties>
</file>