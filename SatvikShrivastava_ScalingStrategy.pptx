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E6A2007E-F306-48FE-BCF8-7FD0C15A1A9C}" type="datetimeFigureOut">
              <a:rPr lang="en-US" smtClean="0"/>
              <a:t>7/15/2026</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AB9DC57F-322D-4CFF-93AF-00018E99C1C8}" type="slidenum">
              <a:rPr lang="en-US" smtClean="0"/>
              <a:t>‹#›</a:t>
            </a:fld>
            <a:endParaRPr lang="en-US"/>
          </a:p>
        </p:txBody>
      </p:sp>
    </p:spTree>
    <p:extLst>
      <p:ext uri="{BB962C8B-B14F-4D97-AF65-F5344CB8AC3E}">
        <p14:creationId xmlns:p14="http://schemas.microsoft.com/office/powerpoint/2010/main" val="46890479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A2007E-F306-48FE-BCF8-7FD0C15A1A9C}" type="datetimeFigureOut">
              <a:rPr lang="en-US" smtClean="0"/>
              <a:t>7/15/2026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9DC57F-322D-4CFF-93AF-00018E99C1C8}" type="slidenum">
              <a:rPr lang="en-US" smtClean="0"/>
              <a:t>‹#›</a:t>
            </a:fld>
            <a:endParaRPr lang="en-US"/>
          </a:p>
        </p:txBody>
      </p:sp>
    </p:spTree>
    <p:extLst>
      <p:ext uri="{BB962C8B-B14F-4D97-AF65-F5344CB8AC3E}">
        <p14:creationId xmlns:p14="http://schemas.microsoft.com/office/powerpoint/2010/main" val="2627466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E6A2007E-F306-48FE-BCF8-7FD0C15A1A9C}" type="datetimeFigureOut">
              <a:rPr lang="en-US" smtClean="0"/>
              <a:t>7/15/2026</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AB9DC57F-322D-4CFF-93AF-00018E99C1C8}" type="slidenum">
              <a:rPr lang="en-US" smtClean="0"/>
              <a:t>‹#›</a:t>
            </a:fld>
            <a:endParaRPr lang="en-US"/>
          </a:p>
        </p:txBody>
      </p:sp>
    </p:spTree>
    <p:extLst>
      <p:ext uri="{BB962C8B-B14F-4D97-AF65-F5344CB8AC3E}">
        <p14:creationId xmlns:p14="http://schemas.microsoft.com/office/powerpoint/2010/main" val="93418336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A2007E-F306-48FE-BCF8-7FD0C15A1A9C}"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9DC57F-322D-4CFF-93AF-00018E99C1C8}" type="slidenum">
              <a:rPr lang="en-US" smtClean="0"/>
              <a:t>‹#›</a:t>
            </a:fld>
            <a:endParaRPr lang="en-US"/>
          </a:p>
        </p:txBody>
      </p:sp>
    </p:spTree>
    <p:extLst>
      <p:ext uri="{BB962C8B-B14F-4D97-AF65-F5344CB8AC3E}">
        <p14:creationId xmlns:p14="http://schemas.microsoft.com/office/powerpoint/2010/main" val="1510024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A2007E-F306-48FE-BCF8-7FD0C15A1A9C}" type="datetimeFigureOut">
              <a:rPr lang="en-US" smtClean="0"/>
              <a:t>7/15/2026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9DC57F-322D-4CFF-93AF-00018E99C1C8}" type="slidenum">
              <a:rPr lang="en-US" smtClean="0"/>
              <a:t>‹#›</a:t>
            </a:fld>
            <a:endParaRPr lang="en-US"/>
          </a:p>
        </p:txBody>
      </p:sp>
    </p:spTree>
    <p:extLst>
      <p:ext uri="{BB962C8B-B14F-4D97-AF65-F5344CB8AC3E}">
        <p14:creationId xmlns:p14="http://schemas.microsoft.com/office/powerpoint/2010/main" val="2351842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A2007E-F306-48FE-BCF8-7FD0C15A1A9C}" type="datetimeFigureOut">
              <a:rPr lang="en-US" smtClean="0"/>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9DC57F-322D-4CFF-93AF-00018E99C1C8}" type="slidenum">
              <a:rPr lang="en-US" smtClean="0"/>
              <a:t>‹#›</a:t>
            </a:fld>
            <a:endParaRPr lang="en-US"/>
          </a:p>
        </p:txBody>
      </p:sp>
    </p:spTree>
    <p:extLst>
      <p:ext uri="{BB962C8B-B14F-4D97-AF65-F5344CB8AC3E}">
        <p14:creationId xmlns:p14="http://schemas.microsoft.com/office/powerpoint/2010/main" val="298996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A2007E-F306-48FE-BCF8-7FD0C15A1A9C}" type="datetimeFigureOut">
              <a:rPr lang="en-US" smtClean="0"/>
              <a:t>7/15/2026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9DC57F-322D-4CFF-93AF-00018E99C1C8}" type="slidenum">
              <a:rPr lang="en-US" smtClean="0"/>
              <a:t>‹#›</a:t>
            </a:fld>
            <a:endParaRPr lang="en-US"/>
          </a:p>
        </p:txBody>
      </p:sp>
    </p:spTree>
    <p:extLst>
      <p:ext uri="{BB962C8B-B14F-4D97-AF65-F5344CB8AC3E}">
        <p14:creationId xmlns:p14="http://schemas.microsoft.com/office/powerpoint/2010/main" val="3816643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E6A2007E-F306-48FE-BCF8-7FD0C15A1A9C}" type="datetimeFigureOut">
              <a:rPr lang="en-US" smtClean="0"/>
              <a:t>7/15/2026</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AB9DC57F-322D-4CFF-93AF-00018E99C1C8}"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01132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E6A2007E-F306-48FE-BCF8-7FD0C15A1A9C}" type="datetimeFigureOut">
              <a:rPr lang="en-US" smtClean="0"/>
              <a:t>7/15/2026</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AB9DC57F-322D-4CFF-93AF-00018E99C1C8}"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06098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A2007E-F306-48FE-BCF8-7FD0C15A1A9C}"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9DC57F-322D-4CFF-93AF-00018E99C1C8}" type="slidenum">
              <a:rPr lang="en-US" smtClean="0"/>
              <a:t>‹#›</a:t>
            </a:fld>
            <a:endParaRPr lang="en-US"/>
          </a:p>
        </p:txBody>
      </p:sp>
    </p:spTree>
    <p:extLst>
      <p:ext uri="{BB962C8B-B14F-4D97-AF65-F5344CB8AC3E}">
        <p14:creationId xmlns:p14="http://schemas.microsoft.com/office/powerpoint/2010/main" val="4862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A2007E-F306-48FE-BCF8-7FD0C15A1A9C}"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9DC57F-322D-4CFF-93AF-00018E99C1C8}" type="slidenum">
              <a:rPr lang="en-US" smtClean="0"/>
              <a:t>‹#›</a:t>
            </a:fld>
            <a:endParaRPr lang="en-US"/>
          </a:p>
        </p:txBody>
      </p:sp>
    </p:spTree>
    <p:extLst>
      <p:ext uri="{BB962C8B-B14F-4D97-AF65-F5344CB8AC3E}">
        <p14:creationId xmlns:p14="http://schemas.microsoft.com/office/powerpoint/2010/main" val="2264732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E6A2007E-F306-48FE-BCF8-7FD0C15A1A9C}" type="datetimeFigureOut">
              <a:rPr lang="en-US" smtClean="0"/>
              <a:t>7/15/2026</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AB9DC57F-322D-4CFF-93AF-00018E99C1C8}" type="slidenum">
              <a:rPr lang="en-US" smtClean="0"/>
              <a:t>‹#›</a:t>
            </a:fld>
            <a:endParaRPr lang="en-US"/>
          </a:p>
        </p:txBody>
      </p:sp>
    </p:spTree>
    <p:extLst>
      <p:ext uri="{BB962C8B-B14F-4D97-AF65-F5344CB8AC3E}">
        <p14:creationId xmlns:p14="http://schemas.microsoft.com/office/powerpoint/2010/main" val="19752265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4E1EF-5549-EFCD-9FA2-F4A450B932F8}"/>
              </a:ext>
            </a:extLst>
          </p:cNvPr>
          <p:cNvSpPr>
            <a:spLocks noGrp="1"/>
          </p:cNvSpPr>
          <p:nvPr>
            <p:ph type="ctrTitle"/>
          </p:nvPr>
        </p:nvSpPr>
        <p:spPr>
          <a:xfrm>
            <a:off x="1561707" y="1489379"/>
            <a:ext cx="9068586" cy="2590800"/>
          </a:xfrm>
        </p:spPr>
        <p:txBody>
          <a:bodyPr/>
          <a:lstStyle/>
          <a:p>
            <a:r>
              <a:rPr lang="en-US" sz="4000" dirty="0"/>
              <a:t>Assignment 4B: Solution Scaling &amp; Implementation Strategy</a:t>
            </a:r>
          </a:p>
        </p:txBody>
      </p:sp>
      <p:sp>
        <p:nvSpPr>
          <p:cNvPr id="3" name="Subtitle 2">
            <a:extLst>
              <a:ext uri="{FF2B5EF4-FFF2-40B4-BE49-F238E27FC236}">
                <a16:creationId xmlns:a16="http://schemas.microsoft.com/office/drawing/2014/main" id="{76130032-35F8-F3B1-FA42-8968545BB42B}"/>
              </a:ext>
            </a:extLst>
          </p:cNvPr>
          <p:cNvSpPr>
            <a:spLocks noGrp="1"/>
          </p:cNvSpPr>
          <p:nvPr>
            <p:ph type="subTitle" idx="1"/>
          </p:nvPr>
        </p:nvSpPr>
        <p:spPr>
          <a:xfrm>
            <a:off x="1559445" y="3851578"/>
            <a:ext cx="9070848" cy="457201"/>
          </a:xfrm>
        </p:spPr>
        <p:txBody>
          <a:bodyPr>
            <a:noAutofit/>
          </a:bodyPr>
          <a:lstStyle/>
          <a:p>
            <a:r>
              <a:rPr lang="en-US" sz="3200" dirty="0">
                <a:latin typeface="Bahnschrift SemiBold SemiConden" panose="020B0502040204020203" pitchFamily="34" charset="0"/>
              </a:rPr>
              <a:t>By Satvik Shrivastava </a:t>
            </a:r>
          </a:p>
        </p:txBody>
      </p:sp>
    </p:spTree>
    <p:extLst>
      <p:ext uri="{BB962C8B-B14F-4D97-AF65-F5344CB8AC3E}">
        <p14:creationId xmlns:p14="http://schemas.microsoft.com/office/powerpoint/2010/main" val="2040530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77343-7D69-956C-CF86-707183C14611}"/>
              </a:ext>
            </a:extLst>
          </p:cNvPr>
          <p:cNvSpPr>
            <a:spLocks noGrp="1"/>
          </p:cNvSpPr>
          <p:nvPr>
            <p:ph type="title"/>
          </p:nvPr>
        </p:nvSpPr>
        <p:spPr>
          <a:xfrm>
            <a:off x="270386" y="239471"/>
            <a:ext cx="11243187" cy="1371600"/>
          </a:xfrm>
        </p:spPr>
        <p:txBody>
          <a:bodyPr>
            <a:normAutofit fontScale="90000"/>
          </a:bodyPr>
          <a:lstStyle/>
          <a:p>
            <a:r>
              <a:rPr lang="en-US" b="1" dirty="0"/>
              <a:t> </a:t>
            </a:r>
            <a:r>
              <a:rPr lang="en-US" sz="2700" b="1" dirty="0"/>
              <a:t>01 Target Users (Stakeholder Alignment &amp; Business Case) :</a:t>
            </a:r>
            <a:br>
              <a:rPr lang="en-US" dirty="0"/>
            </a:br>
            <a:endParaRPr lang="en-US" dirty="0"/>
          </a:p>
        </p:txBody>
      </p:sp>
      <p:sp>
        <p:nvSpPr>
          <p:cNvPr id="3" name="Content Placeholder 2">
            <a:extLst>
              <a:ext uri="{FF2B5EF4-FFF2-40B4-BE49-F238E27FC236}">
                <a16:creationId xmlns:a16="http://schemas.microsoft.com/office/drawing/2014/main" id="{5455DEC7-7154-7C78-30D1-09C49ABCAC5E}"/>
              </a:ext>
            </a:extLst>
          </p:cNvPr>
          <p:cNvSpPr>
            <a:spLocks noGrp="1"/>
          </p:cNvSpPr>
          <p:nvPr>
            <p:ph idx="1"/>
          </p:nvPr>
        </p:nvSpPr>
        <p:spPr>
          <a:xfrm>
            <a:off x="496528" y="1139558"/>
            <a:ext cx="11243187" cy="5280908"/>
          </a:xfrm>
        </p:spPr>
        <p:txBody>
          <a:bodyPr>
            <a:normAutofit fontScale="92500" lnSpcReduction="10000"/>
          </a:bodyPr>
          <a:lstStyle/>
          <a:p>
            <a:pPr>
              <a:buFont typeface="Wingdings" panose="05000000000000000000" pitchFamily="2" charset="2"/>
              <a:buChar char="q"/>
            </a:pPr>
            <a:r>
              <a:rPr lang="en-US" b="1" dirty="0"/>
              <a:t>Headline:</a:t>
            </a:r>
            <a:r>
              <a:rPr lang="en-US" dirty="0"/>
              <a:t> Transitioning from Reactive Maintenance to Predictive Asset Management</a:t>
            </a:r>
          </a:p>
          <a:p>
            <a:pPr>
              <a:buFont typeface="Wingdings" panose="05000000000000000000" pitchFamily="2" charset="2"/>
              <a:buChar char="q"/>
            </a:pPr>
            <a:r>
              <a:rPr lang="en-US" b="1" dirty="0"/>
              <a:t>The Business Case</a:t>
            </a:r>
            <a:br>
              <a:rPr lang="en-US" dirty="0"/>
            </a:br>
            <a:r>
              <a:rPr lang="en-US" dirty="0"/>
              <a:t>Based on a representative 150 </a:t>
            </a:r>
            <a:r>
              <a:rPr lang="en-US" dirty="0" err="1"/>
              <a:t>kWp</a:t>
            </a:r>
            <a:r>
              <a:rPr lang="en-US" dirty="0"/>
              <a:t> university rooftop (experiencing 15–20% operational losses), Helio-Twin can recover ~30,000 kWh annually.</a:t>
            </a:r>
          </a:p>
          <a:p>
            <a:pPr>
              <a:buFont typeface="Wingdings" panose="05000000000000000000" pitchFamily="2" charset="2"/>
              <a:buChar char="q"/>
            </a:pPr>
            <a:r>
              <a:rPr lang="en-US" b="1" dirty="0"/>
              <a:t>Demonstrated Benefit:</a:t>
            </a:r>
            <a:r>
              <a:rPr lang="en-US" dirty="0"/>
              <a:t> ~₹2.5 lakh in avoided utility </a:t>
            </a:r>
            <a:r>
              <a:rPr lang="en-US" dirty="0" err="1"/>
              <a:t>OpEx</a:t>
            </a:r>
            <a:r>
              <a:rPr lang="en-US" dirty="0"/>
              <a:t> and 21 </a:t>
            </a:r>
            <a:r>
              <a:rPr lang="en-US" dirty="0" err="1"/>
              <a:t>tonnes</a:t>
            </a:r>
            <a:r>
              <a:rPr lang="en-US" dirty="0"/>
              <a:t> of </a:t>
            </a:r>
            <a:r>
              <a:rPr lang="en-US" dirty="0" err="1"/>
              <a:t>CO₂e</a:t>
            </a:r>
            <a:r>
              <a:rPr lang="en-US" dirty="0"/>
              <a:t> offset.</a:t>
            </a:r>
          </a:p>
          <a:p>
            <a:pPr>
              <a:buFont typeface="Wingdings" panose="05000000000000000000" pitchFamily="2" charset="2"/>
              <a:buChar char="q"/>
            </a:pPr>
            <a:r>
              <a:rPr lang="en-US" b="1" dirty="0"/>
              <a:t>Differentiated Value Proposition:</a:t>
            </a:r>
            <a:r>
              <a:rPr lang="en-US" dirty="0"/>
              <a:t> Delivers enterprise-inspired predictive maintenance capabilities using open-source Digital Public Infrastructure (DPI), reducing implementation costs while maintaining core functionality for educational institutions in the Global South.</a:t>
            </a:r>
          </a:p>
          <a:p>
            <a:pPr>
              <a:buFont typeface="Wingdings" panose="05000000000000000000" pitchFamily="2" charset="2"/>
              <a:buChar char="q"/>
            </a:pPr>
            <a:r>
              <a:rPr lang="en-US" b="1" dirty="0"/>
              <a:t>Stakeholder Engagement Strategy</a:t>
            </a:r>
            <a:br>
              <a:rPr lang="en-US" dirty="0"/>
            </a:br>
            <a:r>
              <a:rPr lang="en-US" dirty="0"/>
              <a:t>| Stakeholder | Engagement Method | Success KPI |</a:t>
            </a:r>
            <a:br>
              <a:rPr lang="en-US" dirty="0"/>
            </a:br>
            <a:br>
              <a:rPr lang="en-US" dirty="0"/>
            </a:br>
            <a:r>
              <a:rPr lang="en-US" dirty="0"/>
              <a:t>| </a:t>
            </a:r>
            <a:r>
              <a:rPr lang="en-US" b="1" dirty="0"/>
              <a:t>Maintenance</a:t>
            </a:r>
            <a:r>
              <a:rPr lang="en-US" dirty="0"/>
              <a:t> | Training &amp; GenAI gamification | </a:t>
            </a:r>
            <a:r>
              <a:rPr lang="en-US" b="1" dirty="0"/>
              <a:t>≥70% reduction in unnecessary inspection climbs</a:t>
            </a:r>
            <a:r>
              <a:rPr lang="en-US" dirty="0"/>
              <a:t> |</a:t>
            </a:r>
            <a:br>
              <a:rPr lang="en-US" dirty="0"/>
            </a:br>
            <a:r>
              <a:rPr lang="en-US" dirty="0"/>
              <a:t>| </a:t>
            </a:r>
            <a:r>
              <a:rPr lang="en-US" b="1" dirty="0"/>
              <a:t>Facility Mgr.</a:t>
            </a:r>
            <a:r>
              <a:rPr lang="en-US" dirty="0"/>
              <a:t> | Weekly KPI dashboard | Faster issue resolution |</a:t>
            </a:r>
            <a:br>
              <a:rPr lang="en-US" dirty="0"/>
            </a:br>
            <a:r>
              <a:rPr lang="en-US" dirty="0"/>
              <a:t>| </a:t>
            </a:r>
            <a:r>
              <a:rPr lang="en-US" b="1" dirty="0"/>
              <a:t>Finance</a:t>
            </a:r>
            <a:r>
              <a:rPr lang="en-US" dirty="0"/>
              <a:t> | Quarterly ROI reports | Annual </a:t>
            </a:r>
            <a:r>
              <a:rPr lang="en-US" dirty="0" err="1"/>
              <a:t>OpEx</a:t>
            </a:r>
            <a:r>
              <a:rPr lang="en-US" dirty="0"/>
              <a:t> savings achieved |</a:t>
            </a:r>
            <a:br>
              <a:rPr lang="en-US" dirty="0"/>
            </a:br>
            <a:r>
              <a:rPr lang="en-US" dirty="0"/>
              <a:t>| </a:t>
            </a:r>
            <a:r>
              <a:rPr lang="en-US" b="1" dirty="0"/>
              <a:t>ESG Office</a:t>
            </a:r>
            <a:r>
              <a:rPr lang="en-US" dirty="0"/>
              <a:t> | Automated GHG reports | Audit-ready compliance |</a:t>
            </a:r>
          </a:p>
          <a:p>
            <a:pPr>
              <a:buFont typeface="Wingdings" panose="05000000000000000000" pitchFamily="2" charset="2"/>
              <a:buChar char="q"/>
            </a:pPr>
            <a:r>
              <a:rPr lang="en-US" b="1" dirty="0"/>
              <a:t>🌍 Broader Societal Impact</a:t>
            </a:r>
            <a:br>
              <a:rPr lang="en-US" dirty="0"/>
            </a:br>
            <a:r>
              <a:rPr lang="en-US" dirty="0"/>
              <a:t>Higher renewable energy utilization • Reduced institutional emissions • Green workforce development • Open-source Digital Public Infrastructure (DPI)</a:t>
            </a:r>
          </a:p>
          <a:p>
            <a:endParaRPr lang="en-US" dirty="0"/>
          </a:p>
        </p:txBody>
      </p:sp>
    </p:spTree>
    <p:extLst>
      <p:ext uri="{BB962C8B-B14F-4D97-AF65-F5344CB8AC3E}">
        <p14:creationId xmlns:p14="http://schemas.microsoft.com/office/powerpoint/2010/main" val="514163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25BD9C-0A8C-BA70-5A72-3AA4676785EF}"/>
              </a:ext>
            </a:extLst>
          </p:cNvPr>
          <p:cNvSpPr>
            <a:spLocks noGrp="1"/>
          </p:cNvSpPr>
          <p:nvPr>
            <p:ph idx="1"/>
          </p:nvPr>
        </p:nvSpPr>
        <p:spPr>
          <a:xfrm>
            <a:off x="1066800" y="746268"/>
            <a:ext cx="10058400" cy="3931920"/>
          </a:xfrm>
        </p:spPr>
        <p:txBody>
          <a:bodyPr/>
          <a:lstStyle/>
          <a:p>
            <a:pPr>
              <a:buFont typeface="Wingdings" panose="05000000000000000000" pitchFamily="2" charset="2"/>
              <a:buChar char="q"/>
            </a:pPr>
            <a:r>
              <a:rPr lang="en-US" i="1" dirty="0"/>
              <a:t>To ensure institutional adoption, Helio-Twin cannot be positioned merely as a technological upgrade; it must be presented as an operational enabler. The business case relies on measurable financial and environmental returns, effectively turning a sunk maintenance cost into a self-funding asset. However, long-term operational success depends on sustained user adoption rather than technical capability alone. Therefore, our stakeholder engagement strategy actively maps specific engagement methods to measurable success criteria for each group—from the maintenance technician concerned with physical safety to the ESG officer requiring audit-ready carbon data</a:t>
            </a:r>
            <a:endParaRPr lang="en-US" dirty="0"/>
          </a:p>
        </p:txBody>
      </p:sp>
    </p:spTree>
    <p:extLst>
      <p:ext uri="{BB962C8B-B14F-4D97-AF65-F5344CB8AC3E}">
        <p14:creationId xmlns:p14="http://schemas.microsoft.com/office/powerpoint/2010/main" val="3224418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81317D8-2A04-BACC-4478-209E6F1B1FFD}"/>
              </a:ext>
            </a:extLst>
          </p:cNvPr>
          <p:cNvGraphicFramePr>
            <a:graphicFrameLocks noGrp="1"/>
          </p:cNvGraphicFramePr>
          <p:nvPr>
            <p:ph idx="1"/>
            <p:extLst>
              <p:ext uri="{D42A27DB-BD31-4B8C-83A1-F6EECF244321}">
                <p14:modId xmlns:p14="http://schemas.microsoft.com/office/powerpoint/2010/main" val="2694179384"/>
              </p:ext>
            </p:extLst>
          </p:nvPr>
        </p:nvGraphicFramePr>
        <p:xfrm>
          <a:off x="381965" y="4112759"/>
          <a:ext cx="11470512" cy="2444270"/>
        </p:xfrm>
        <a:graphic>
          <a:graphicData uri="http://schemas.openxmlformats.org/drawingml/2006/table">
            <a:tbl>
              <a:tblPr/>
              <a:tblGrid>
                <a:gridCol w="3823504">
                  <a:extLst>
                    <a:ext uri="{9D8B030D-6E8A-4147-A177-3AD203B41FA5}">
                      <a16:colId xmlns:a16="http://schemas.microsoft.com/office/drawing/2014/main" val="1075005585"/>
                    </a:ext>
                  </a:extLst>
                </a:gridCol>
                <a:gridCol w="3823504">
                  <a:extLst>
                    <a:ext uri="{9D8B030D-6E8A-4147-A177-3AD203B41FA5}">
                      <a16:colId xmlns:a16="http://schemas.microsoft.com/office/drawing/2014/main" val="1345777664"/>
                    </a:ext>
                  </a:extLst>
                </a:gridCol>
                <a:gridCol w="3823504">
                  <a:extLst>
                    <a:ext uri="{9D8B030D-6E8A-4147-A177-3AD203B41FA5}">
                      <a16:colId xmlns:a16="http://schemas.microsoft.com/office/drawing/2014/main" val="2355564760"/>
                    </a:ext>
                  </a:extLst>
                </a:gridCol>
              </a:tblGrid>
              <a:tr h="488854">
                <a:tc>
                  <a:txBody>
                    <a:bodyPr/>
                    <a:lstStyle/>
                    <a:p>
                      <a:pPr>
                        <a:lnSpc>
                          <a:spcPts val="1575"/>
                        </a:lnSpc>
                        <a:buNone/>
                      </a:pPr>
                      <a:r>
                        <a:rPr lang="en-US" sz="1400" b="1">
                          <a:effectLst/>
                          <a:latin typeface="Inter"/>
                        </a:rPr>
                        <a:t>Feature</a:t>
                      </a:r>
                    </a:p>
                  </a:txBody>
                  <a:tcPr anchor="ctr">
                    <a:lnL>
                      <a:noFill/>
                    </a:lnL>
                    <a:lnR>
                      <a:noFill/>
                    </a:lnR>
                    <a:lnT>
                      <a:noFill/>
                    </a:lnT>
                    <a:lnB>
                      <a:noFill/>
                    </a:lnB>
                    <a:noFill/>
                  </a:tcPr>
                </a:tc>
                <a:tc>
                  <a:txBody>
                    <a:bodyPr/>
                    <a:lstStyle/>
                    <a:p>
                      <a:pPr>
                        <a:lnSpc>
                          <a:spcPts val="1575"/>
                        </a:lnSpc>
                        <a:buNone/>
                      </a:pPr>
                      <a:r>
                        <a:rPr lang="en-US" sz="1400" b="1" dirty="0">
                          <a:effectLst/>
                          <a:latin typeface="Inter"/>
                        </a:rPr>
                        <a:t>Conventional Enterprise Solutions</a:t>
                      </a:r>
                    </a:p>
                  </a:txBody>
                  <a:tcPr anchor="ctr">
                    <a:lnL>
                      <a:noFill/>
                    </a:lnL>
                    <a:lnR>
                      <a:noFill/>
                    </a:lnR>
                    <a:lnT>
                      <a:noFill/>
                    </a:lnT>
                    <a:lnB>
                      <a:noFill/>
                    </a:lnB>
                    <a:noFill/>
                  </a:tcPr>
                </a:tc>
                <a:tc>
                  <a:txBody>
                    <a:bodyPr/>
                    <a:lstStyle/>
                    <a:p>
                      <a:pPr>
                        <a:lnSpc>
                          <a:spcPts val="1575"/>
                        </a:lnSpc>
                        <a:buNone/>
                      </a:pPr>
                      <a:r>
                        <a:rPr lang="en-US" sz="1400" b="1">
                          <a:effectLst/>
                          <a:latin typeface="Inter"/>
                        </a:rPr>
                        <a:t>Project Helio-Twin</a:t>
                      </a:r>
                    </a:p>
                  </a:txBody>
                  <a:tcPr anchor="ctr">
                    <a:lnL>
                      <a:noFill/>
                    </a:lnL>
                    <a:lnR>
                      <a:noFill/>
                    </a:lnR>
                    <a:lnT>
                      <a:noFill/>
                    </a:lnT>
                    <a:lnB>
                      <a:noFill/>
                    </a:lnB>
                    <a:noFill/>
                  </a:tcPr>
                </a:tc>
                <a:extLst>
                  <a:ext uri="{0D108BD9-81ED-4DB2-BD59-A6C34878D82A}">
                    <a16:rowId xmlns:a16="http://schemas.microsoft.com/office/drawing/2014/main" val="1949982688"/>
                  </a:ext>
                </a:extLst>
              </a:tr>
              <a:tr h="488854">
                <a:tc>
                  <a:txBody>
                    <a:bodyPr/>
                    <a:lstStyle/>
                    <a:p>
                      <a:pPr>
                        <a:lnSpc>
                          <a:spcPts val="1575"/>
                        </a:lnSpc>
                        <a:buNone/>
                      </a:pPr>
                      <a:r>
                        <a:rPr lang="en-US" sz="1400" b="1">
                          <a:effectLst/>
                          <a:latin typeface="Inter"/>
                        </a:rPr>
                        <a:t>Focus</a:t>
                      </a:r>
                      <a:endParaRPr lang="en-US" sz="1400" b="0">
                        <a:effectLst/>
                        <a:latin typeface="Inter"/>
                      </a:endParaRPr>
                    </a:p>
                  </a:txBody>
                  <a:tcPr anchor="ctr">
                    <a:lnL>
                      <a:noFill/>
                    </a:lnL>
                    <a:lnR>
                      <a:noFill/>
                    </a:lnR>
                    <a:lnT>
                      <a:noFill/>
                    </a:lnT>
                    <a:lnB>
                      <a:noFill/>
                    </a:lnB>
                    <a:noFill/>
                  </a:tcPr>
                </a:tc>
                <a:tc>
                  <a:txBody>
                    <a:bodyPr/>
                    <a:lstStyle/>
                    <a:p>
                      <a:pPr>
                        <a:lnSpc>
                          <a:spcPts val="1575"/>
                        </a:lnSpc>
                        <a:buNone/>
                      </a:pPr>
                      <a:r>
                        <a:rPr lang="en-US" sz="1400" b="0" dirty="0">
                          <a:effectLst/>
                          <a:latin typeface="Inter"/>
                        </a:rPr>
                        <a:t>Enterprise &amp; Utility-Scale</a:t>
                      </a:r>
                    </a:p>
                  </a:txBody>
                  <a:tcPr anchor="ctr">
                    <a:lnL>
                      <a:noFill/>
                    </a:lnL>
                    <a:lnR>
                      <a:noFill/>
                    </a:lnR>
                    <a:lnT>
                      <a:noFill/>
                    </a:lnT>
                    <a:lnB>
                      <a:noFill/>
                    </a:lnB>
                    <a:noFill/>
                  </a:tcPr>
                </a:tc>
                <a:tc>
                  <a:txBody>
                    <a:bodyPr/>
                    <a:lstStyle/>
                    <a:p>
                      <a:pPr>
                        <a:lnSpc>
                          <a:spcPts val="1575"/>
                        </a:lnSpc>
                        <a:buNone/>
                      </a:pPr>
                      <a:r>
                        <a:rPr lang="en-US" sz="1400" b="0">
                          <a:effectLst/>
                          <a:latin typeface="Inter"/>
                        </a:rPr>
                        <a:t>Campus &amp; Institutional</a:t>
                      </a:r>
                    </a:p>
                  </a:txBody>
                  <a:tcPr anchor="ctr">
                    <a:lnL>
                      <a:noFill/>
                    </a:lnL>
                    <a:lnR>
                      <a:noFill/>
                    </a:lnR>
                    <a:lnT>
                      <a:noFill/>
                    </a:lnT>
                    <a:lnB>
                      <a:noFill/>
                    </a:lnB>
                    <a:noFill/>
                  </a:tcPr>
                </a:tc>
                <a:extLst>
                  <a:ext uri="{0D108BD9-81ED-4DB2-BD59-A6C34878D82A}">
                    <a16:rowId xmlns:a16="http://schemas.microsoft.com/office/drawing/2014/main" val="2482504215"/>
                  </a:ext>
                </a:extLst>
              </a:tr>
              <a:tr h="488854">
                <a:tc>
                  <a:txBody>
                    <a:bodyPr/>
                    <a:lstStyle/>
                    <a:p>
                      <a:pPr>
                        <a:lnSpc>
                          <a:spcPts val="1575"/>
                        </a:lnSpc>
                        <a:buNone/>
                      </a:pPr>
                      <a:r>
                        <a:rPr lang="en-US" sz="1400" b="1">
                          <a:effectLst/>
                          <a:latin typeface="Inter"/>
                        </a:rPr>
                        <a:t>Architecture</a:t>
                      </a:r>
                      <a:endParaRPr lang="en-US" sz="1400" b="0">
                        <a:effectLst/>
                        <a:latin typeface="Inter"/>
                      </a:endParaRPr>
                    </a:p>
                  </a:txBody>
                  <a:tcPr anchor="ctr">
                    <a:lnL>
                      <a:noFill/>
                    </a:lnL>
                    <a:lnR>
                      <a:noFill/>
                    </a:lnR>
                    <a:lnT>
                      <a:noFill/>
                    </a:lnT>
                    <a:lnB>
                      <a:noFill/>
                    </a:lnB>
                    <a:noFill/>
                  </a:tcPr>
                </a:tc>
                <a:tc>
                  <a:txBody>
                    <a:bodyPr/>
                    <a:lstStyle/>
                    <a:p>
                      <a:pPr>
                        <a:lnSpc>
                          <a:spcPts val="1575"/>
                        </a:lnSpc>
                        <a:buNone/>
                      </a:pPr>
                      <a:r>
                        <a:rPr lang="en-US" sz="1400" b="0">
                          <a:effectLst/>
                          <a:latin typeface="Inter"/>
                        </a:rPr>
                        <a:t>Proprietary &amp; Closed</a:t>
                      </a:r>
                    </a:p>
                  </a:txBody>
                  <a:tcPr anchor="ctr">
                    <a:lnL>
                      <a:noFill/>
                    </a:lnL>
                    <a:lnR>
                      <a:noFill/>
                    </a:lnR>
                    <a:lnT>
                      <a:noFill/>
                    </a:lnT>
                    <a:lnB>
                      <a:noFill/>
                    </a:lnB>
                    <a:noFill/>
                  </a:tcPr>
                </a:tc>
                <a:tc>
                  <a:txBody>
                    <a:bodyPr/>
                    <a:lstStyle/>
                    <a:p>
                      <a:pPr>
                        <a:lnSpc>
                          <a:spcPts val="1575"/>
                        </a:lnSpc>
                        <a:buNone/>
                      </a:pPr>
                      <a:r>
                        <a:rPr lang="en-US" sz="1400" b="0">
                          <a:effectLst/>
                          <a:latin typeface="Inter"/>
                        </a:rPr>
                        <a:t>Open-Source (DPI)</a:t>
                      </a:r>
                    </a:p>
                  </a:txBody>
                  <a:tcPr anchor="ctr">
                    <a:lnL>
                      <a:noFill/>
                    </a:lnL>
                    <a:lnR>
                      <a:noFill/>
                    </a:lnR>
                    <a:lnT>
                      <a:noFill/>
                    </a:lnT>
                    <a:lnB>
                      <a:noFill/>
                    </a:lnB>
                    <a:noFill/>
                  </a:tcPr>
                </a:tc>
                <a:extLst>
                  <a:ext uri="{0D108BD9-81ED-4DB2-BD59-A6C34878D82A}">
                    <a16:rowId xmlns:a16="http://schemas.microsoft.com/office/drawing/2014/main" val="3914606328"/>
                  </a:ext>
                </a:extLst>
              </a:tr>
              <a:tr h="488854">
                <a:tc>
                  <a:txBody>
                    <a:bodyPr/>
                    <a:lstStyle/>
                    <a:p>
                      <a:pPr>
                        <a:lnSpc>
                          <a:spcPts val="1575"/>
                        </a:lnSpc>
                        <a:buNone/>
                      </a:pPr>
                      <a:r>
                        <a:rPr lang="en-US" sz="1400" b="1">
                          <a:effectLst/>
                          <a:latin typeface="Inter"/>
                        </a:rPr>
                        <a:t>Cost</a:t>
                      </a:r>
                      <a:endParaRPr lang="en-US" sz="1400" b="0">
                        <a:effectLst/>
                        <a:latin typeface="Inter"/>
                      </a:endParaRPr>
                    </a:p>
                  </a:txBody>
                  <a:tcPr anchor="ctr">
                    <a:lnL>
                      <a:noFill/>
                    </a:lnL>
                    <a:lnR>
                      <a:noFill/>
                    </a:lnR>
                    <a:lnT>
                      <a:noFill/>
                    </a:lnT>
                    <a:lnB>
                      <a:noFill/>
                    </a:lnB>
                    <a:noFill/>
                  </a:tcPr>
                </a:tc>
                <a:tc>
                  <a:txBody>
                    <a:bodyPr/>
                    <a:lstStyle/>
                    <a:p>
                      <a:pPr>
                        <a:lnSpc>
                          <a:spcPts val="1575"/>
                        </a:lnSpc>
                        <a:buNone/>
                      </a:pPr>
                      <a:r>
                        <a:rPr lang="en-US" sz="1400" b="0">
                          <a:effectLst/>
                          <a:latin typeface="Inter"/>
                        </a:rPr>
                        <a:t>High CapEx</a:t>
                      </a:r>
                    </a:p>
                  </a:txBody>
                  <a:tcPr anchor="ctr">
                    <a:lnL>
                      <a:noFill/>
                    </a:lnL>
                    <a:lnR>
                      <a:noFill/>
                    </a:lnR>
                    <a:lnT>
                      <a:noFill/>
                    </a:lnT>
                    <a:lnB>
                      <a:noFill/>
                    </a:lnB>
                    <a:noFill/>
                  </a:tcPr>
                </a:tc>
                <a:tc>
                  <a:txBody>
                    <a:bodyPr/>
                    <a:lstStyle/>
                    <a:p>
                      <a:pPr>
                        <a:lnSpc>
                          <a:spcPts val="1575"/>
                        </a:lnSpc>
                        <a:buNone/>
                      </a:pPr>
                      <a:r>
                        <a:rPr lang="en-US" sz="1400" b="0">
                          <a:effectLst/>
                          <a:latin typeface="Inter"/>
                        </a:rPr>
                        <a:t>Low-Cost / Frugal IoT</a:t>
                      </a:r>
                    </a:p>
                  </a:txBody>
                  <a:tcPr anchor="ctr">
                    <a:lnL>
                      <a:noFill/>
                    </a:lnL>
                    <a:lnR>
                      <a:noFill/>
                    </a:lnR>
                    <a:lnT>
                      <a:noFill/>
                    </a:lnT>
                    <a:lnB>
                      <a:noFill/>
                    </a:lnB>
                    <a:noFill/>
                  </a:tcPr>
                </a:tc>
                <a:extLst>
                  <a:ext uri="{0D108BD9-81ED-4DB2-BD59-A6C34878D82A}">
                    <a16:rowId xmlns:a16="http://schemas.microsoft.com/office/drawing/2014/main" val="92089353"/>
                  </a:ext>
                </a:extLst>
              </a:tr>
              <a:tr h="488854">
                <a:tc>
                  <a:txBody>
                    <a:bodyPr/>
                    <a:lstStyle/>
                    <a:p>
                      <a:pPr>
                        <a:lnSpc>
                          <a:spcPts val="1575"/>
                        </a:lnSpc>
                        <a:buNone/>
                      </a:pPr>
                      <a:r>
                        <a:rPr lang="en-US" sz="1400" b="1">
                          <a:effectLst/>
                          <a:latin typeface="Inter"/>
                        </a:rPr>
                        <a:t>User Interface</a:t>
                      </a:r>
                      <a:endParaRPr lang="en-US" sz="1400" b="0">
                        <a:effectLst/>
                        <a:latin typeface="Inter"/>
                      </a:endParaRPr>
                    </a:p>
                  </a:txBody>
                  <a:tcPr anchor="ctr">
                    <a:lnL>
                      <a:noFill/>
                    </a:lnL>
                    <a:lnR>
                      <a:noFill/>
                    </a:lnR>
                    <a:lnT>
                      <a:noFill/>
                    </a:lnT>
                    <a:lnB>
                      <a:noFill/>
                    </a:lnB>
                    <a:noFill/>
                  </a:tcPr>
                </a:tc>
                <a:tc>
                  <a:txBody>
                    <a:bodyPr/>
                    <a:lstStyle/>
                    <a:p>
                      <a:pPr>
                        <a:lnSpc>
                          <a:spcPts val="1575"/>
                        </a:lnSpc>
                        <a:buNone/>
                      </a:pPr>
                      <a:r>
                        <a:rPr lang="en-US" sz="1400" b="0">
                          <a:effectLst/>
                          <a:latin typeface="Inter"/>
                        </a:rPr>
                        <a:t>Dashboard-Heavy</a:t>
                      </a:r>
                    </a:p>
                  </a:txBody>
                  <a:tcPr anchor="ctr">
                    <a:lnL>
                      <a:noFill/>
                    </a:lnL>
                    <a:lnR>
                      <a:noFill/>
                    </a:lnR>
                    <a:lnT>
                      <a:noFill/>
                    </a:lnT>
                    <a:lnB>
                      <a:noFill/>
                    </a:lnB>
                    <a:noFill/>
                  </a:tcPr>
                </a:tc>
                <a:tc>
                  <a:txBody>
                    <a:bodyPr/>
                    <a:lstStyle/>
                    <a:p>
                      <a:pPr>
                        <a:lnSpc>
                          <a:spcPts val="1575"/>
                        </a:lnSpc>
                        <a:buNone/>
                      </a:pPr>
                      <a:r>
                        <a:rPr lang="en-US" sz="1400" b="0" dirty="0">
                          <a:effectLst/>
                          <a:latin typeface="Inter"/>
                        </a:rPr>
                        <a:t>WhatsApp-First (GenAI)</a:t>
                      </a:r>
                    </a:p>
                  </a:txBody>
                  <a:tcPr anchor="ctr">
                    <a:lnL>
                      <a:noFill/>
                    </a:lnL>
                    <a:lnR>
                      <a:noFill/>
                    </a:lnR>
                    <a:lnT>
                      <a:noFill/>
                    </a:lnT>
                    <a:lnB>
                      <a:noFill/>
                    </a:lnB>
                    <a:noFill/>
                  </a:tcPr>
                </a:tc>
                <a:extLst>
                  <a:ext uri="{0D108BD9-81ED-4DB2-BD59-A6C34878D82A}">
                    <a16:rowId xmlns:a16="http://schemas.microsoft.com/office/drawing/2014/main" val="767646877"/>
                  </a:ext>
                </a:extLst>
              </a:tr>
            </a:tbl>
          </a:graphicData>
        </a:graphic>
      </p:graphicFrame>
      <p:sp>
        <p:nvSpPr>
          <p:cNvPr id="6" name="TextBox 5">
            <a:extLst>
              <a:ext uri="{FF2B5EF4-FFF2-40B4-BE49-F238E27FC236}">
                <a16:creationId xmlns:a16="http://schemas.microsoft.com/office/drawing/2014/main" id="{B6943804-E596-0F13-D40D-55186219A1A6}"/>
              </a:ext>
            </a:extLst>
          </p:cNvPr>
          <p:cNvSpPr txBox="1"/>
          <p:nvPr/>
        </p:nvSpPr>
        <p:spPr>
          <a:xfrm>
            <a:off x="250785" y="329416"/>
            <a:ext cx="11690430" cy="3783343"/>
          </a:xfrm>
          <a:prstGeom prst="rect">
            <a:avLst/>
          </a:prstGeom>
          <a:noFill/>
        </p:spPr>
        <p:txBody>
          <a:bodyPr wrap="square">
            <a:spAutoFit/>
          </a:bodyPr>
          <a:lstStyle/>
          <a:p>
            <a:pPr marL="0" marR="0" indent="0" algn="l">
              <a:buNone/>
            </a:pPr>
            <a:r>
              <a:rPr lang="en-US" sz="1600" b="1" i="0" dirty="0">
                <a:effectLst/>
                <a:latin typeface="Inter"/>
              </a:rPr>
              <a:t>02. Define the Value Proposition &amp; Case for Adoption:</a:t>
            </a:r>
          </a:p>
          <a:p>
            <a:pPr marL="0" marR="0" indent="0" algn="l">
              <a:buNone/>
            </a:pPr>
            <a:endParaRPr lang="en-US" sz="1600" b="1" i="0" dirty="0">
              <a:effectLst/>
              <a:latin typeface="Inter"/>
            </a:endParaRPr>
          </a:p>
          <a:p>
            <a:pPr indent="0" algn="l">
              <a:lnSpc>
                <a:spcPts val="1575"/>
              </a:lnSpc>
              <a:spcAft>
                <a:spcPts val="1350"/>
              </a:spcAft>
              <a:buNone/>
            </a:pPr>
            <a:r>
              <a:rPr lang="en-US" sz="1600" b="0" i="0" dirty="0">
                <a:effectLst/>
                <a:latin typeface="Inter"/>
              </a:rPr>
              <a:t>To drive institutional buy-in, Helio-Twin’s value proposition shifts the strategic narrative from procuring a new software tool to </a:t>
            </a:r>
            <a:r>
              <a:rPr lang="en-US" sz="1600" b="1" i="0" dirty="0">
                <a:effectLst/>
                <a:latin typeface="Inter"/>
              </a:rPr>
              <a:t>maximizing the value of existing solar infrastructure.</a:t>
            </a:r>
            <a:r>
              <a:rPr lang="en-US" sz="1600" b="0" i="0" dirty="0">
                <a:effectLst/>
                <a:latin typeface="Inter"/>
              </a:rPr>
              <a:t> By leveraging frugal IoT and AI, the solution transforms a passive, degrading solar array into an intelligent, self-optimizing energy asset.</a:t>
            </a:r>
          </a:p>
          <a:p>
            <a:pPr marL="0" marR="0" indent="0" algn="l">
              <a:buNone/>
            </a:pPr>
            <a:r>
              <a:rPr lang="en-US" sz="1600" b="1" i="0" dirty="0">
                <a:effectLst/>
                <a:latin typeface="Inter"/>
              </a:rPr>
              <a:t>1. Value Delivered</a:t>
            </a:r>
          </a:p>
          <a:p>
            <a:pPr indent="0" algn="l">
              <a:lnSpc>
                <a:spcPts val="1575"/>
              </a:lnSpc>
              <a:spcAft>
                <a:spcPts val="1350"/>
              </a:spcAft>
              <a:buNone/>
            </a:pPr>
            <a:r>
              <a:rPr lang="en-US" sz="1600" b="0" i="0" dirty="0">
                <a:effectLst/>
                <a:latin typeface="Inter"/>
              </a:rPr>
              <a:t>Industry studies consistently show that predictive maintenance reduces downtime and improves asset utilization, making condition-based monitoring an increasingly preferred operational strategy. Helio-Twin operationalizes this across three dimensions:</a:t>
            </a:r>
          </a:p>
          <a:p>
            <a:pPr indent="0" algn="l">
              <a:lnSpc>
                <a:spcPts val="1575"/>
              </a:lnSpc>
              <a:spcAft>
                <a:spcPts val="525"/>
              </a:spcAft>
              <a:buFont typeface="Arial" panose="020B0604020202020204" pitchFamily="34" charset="0"/>
              <a:buChar char="•"/>
            </a:pPr>
            <a:r>
              <a:rPr lang="en-US" sz="1600" b="1" i="0" dirty="0">
                <a:effectLst/>
                <a:latin typeface="Inter"/>
              </a:rPr>
              <a:t>Financial:</a:t>
            </a:r>
            <a:r>
              <a:rPr lang="en-US" sz="1600" b="0" i="0" dirty="0">
                <a:effectLst/>
                <a:latin typeface="Inter"/>
              </a:rPr>
              <a:t> Based on a representative 150 </a:t>
            </a:r>
            <a:r>
              <a:rPr lang="en-US" sz="1600" b="0" i="0" dirty="0" err="1">
                <a:effectLst/>
                <a:latin typeface="Inter"/>
              </a:rPr>
              <a:t>kWp</a:t>
            </a:r>
            <a:r>
              <a:rPr lang="en-US" sz="1600" b="0" i="0" dirty="0">
                <a:effectLst/>
                <a:latin typeface="Inter"/>
              </a:rPr>
              <a:t> university rooftop experiencing approximately 15–20% operational losses, Helio-Twin has the potential to recover nearly 30,000 kWh annually. This equates to projected financial benefits of approximately </a:t>
            </a:r>
            <a:r>
              <a:rPr lang="en-US" sz="1600" b="1" i="0" dirty="0">
                <a:effectLst/>
                <a:latin typeface="Inter"/>
              </a:rPr>
              <a:t>₹2.5 lakh in avoided utility expenditure</a:t>
            </a:r>
            <a:r>
              <a:rPr lang="en-US" sz="1600" b="0" i="0" dirty="0">
                <a:effectLst/>
                <a:latin typeface="Inter"/>
              </a:rPr>
              <a:t> per year.</a:t>
            </a:r>
          </a:p>
          <a:p>
            <a:pPr indent="0" algn="l">
              <a:lnSpc>
                <a:spcPts val="1575"/>
              </a:lnSpc>
              <a:spcAft>
                <a:spcPts val="525"/>
              </a:spcAft>
              <a:buFont typeface="Arial" panose="020B0604020202020204" pitchFamily="34" charset="0"/>
              <a:buChar char="•"/>
            </a:pPr>
            <a:r>
              <a:rPr lang="en-US" sz="1600" b="1" i="0" dirty="0">
                <a:effectLst/>
                <a:latin typeface="Inter"/>
              </a:rPr>
              <a:t>Operational:</a:t>
            </a:r>
            <a:r>
              <a:rPr lang="en-US" sz="1600" b="0" i="0" dirty="0">
                <a:effectLst/>
                <a:latin typeface="Inter"/>
              </a:rPr>
              <a:t> It slashes the Mean Time to Detect (MTTD) faults from weeks to </a:t>
            </a:r>
            <a:r>
              <a:rPr lang="en-US" sz="1600" b="1" i="0" dirty="0">
                <a:effectLst/>
                <a:latin typeface="Inter"/>
              </a:rPr>
              <a:t>&lt; 1 minute</a:t>
            </a:r>
            <a:r>
              <a:rPr lang="en-US" sz="1600" b="0" i="0" dirty="0">
                <a:effectLst/>
                <a:latin typeface="Inter"/>
              </a:rPr>
              <a:t>, transitioning the campus from calendar-based to condition-based predictive maintenance.</a:t>
            </a:r>
          </a:p>
          <a:p>
            <a:pPr indent="0" algn="l">
              <a:lnSpc>
                <a:spcPts val="1575"/>
              </a:lnSpc>
              <a:spcAft>
                <a:spcPts val="525"/>
              </a:spcAft>
              <a:buFont typeface="Arial" panose="020B0604020202020204" pitchFamily="34" charset="0"/>
              <a:buChar char="•"/>
            </a:pPr>
            <a:r>
              <a:rPr lang="en-US" sz="1600" b="1" i="0" dirty="0">
                <a:effectLst/>
                <a:latin typeface="Inter"/>
              </a:rPr>
              <a:t>Environmental:</a:t>
            </a:r>
            <a:r>
              <a:rPr lang="en-US" sz="1600" b="0" i="0" dirty="0">
                <a:effectLst/>
                <a:latin typeface="Inter"/>
              </a:rPr>
              <a:t> It automates the generation of audit-ready carbon offset reports (projected at ~21 </a:t>
            </a:r>
            <a:r>
              <a:rPr lang="en-US" sz="1600" b="0" i="0" dirty="0" err="1">
                <a:effectLst/>
                <a:latin typeface="Inter"/>
              </a:rPr>
              <a:t>tonnes</a:t>
            </a:r>
            <a:r>
              <a:rPr lang="en-US" sz="1600" b="0" i="0" dirty="0">
                <a:effectLst/>
                <a:latin typeface="Inter"/>
              </a:rPr>
              <a:t> of </a:t>
            </a:r>
            <a:r>
              <a:rPr lang="en-US" sz="1600" b="0" i="0" dirty="0" err="1">
                <a:effectLst/>
                <a:latin typeface="Inter"/>
              </a:rPr>
              <a:t>CO₂e</a:t>
            </a:r>
            <a:r>
              <a:rPr lang="en-US" sz="1600" b="0" i="0" dirty="0">
                <a:effectLst/>
                <a:latin typeface="Inter"/>
              </a:rPr>
              <a:t> annually), supporting compliance with GHG Protocol Scope 2 accounting standards.</a:t>
            </a:r>
          </a:p>
        </p:txBody>
      </p:sp>
    </p:spTree>
    <p:extLst>
      <p:ext uri="{BB962C8B-B14F-4D97-AF65-F5344CB8AC3E}">
        <p14:creationId xmlns:p14="http://schemas.microsoft.com/office/powerpoint/2010/main" val="3396900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E3D9E6-7771-E245-4161-94CC7FCAD092}"/>
              </a:ext>
            </a:extLst>
          </p:cNvPr>
          <p:cNvSpPr>
            <a:spLocks noGrp="1"/>
          </p:cNvSpPr>
          <p:nvPr>
            <p:ph idx="1"/>
          </p:nvPr>
        </p:nvSpPr>
        <p:spPr>
          <a:xfrm>
            <a:off x="244997" y="162046"/>
            <a:ext cx="11702005" cy="6469090"/>
          </a:xfrm>
        </p:spPr>
        <p:txBody>
          <a:bodyPr>
            <a:noAutofit/>
          </a:bodyPr>
          <a:lstStyle/>
          <a:p>
            <a:pPr marL="0" indent="0">
              <a:buNone/>
            </a:pPr>
            <a:r>
              <a:rPr lang="en-US" sz="1400" b="1" dirty="0">
                <a:latin typeface="Inter"/>
              </a:rPr>
              <a:t>2. Why Users Adopt</a:t>
            </a:r>
          </a:p>
          <a:p>
            <a:pPr indent="0">
              <a:lnSpc>
                <a:spcPts val="1575"/>
              </a:lnSpc>
              <a:spcAft>
                <a:spcPts val="1350"/>
              </a:spcAft>
              <a:buNone/>
            </a:pPr>
            <a:r>
              <a:rPr lang="en-US" sz="1400" dirty="0">
                <a:latin typeface="Inter"/>
              </a:rPr>
              <a:t>Organizations frequently reject sustainable technologies if they require heavy </a:t>
            </a:r>
            <a:r>
              <a:rPr lang="en-US" sz="1400" dirty="0" err="1">
                <a:latin typeface="Inter"/>
              </a:rPr>
              <a:t>CapEx</a:t>
            </a:r>
            <a:r>
              <a:rPr lang="en-US" sz="1400" dirty="0">
                <a:latin typeface="Inter"/>
              </a:rPr>
              <a:t>, steep learning curves, or infrastructure replacement. Helio-Twin is strategically designed to reduce these adoption barriers across technology, economics, and people.</a:t>
            </a:r>
          </a:p>
          <a:p>
            <a:pPr indent="0">
              <a:lnSpc>
                <a:spcPts val="1575"/>
              </a:lnSpc>
              <a:spcAft>
                <a:spcPts val="1350"/>
              </a:spcAft>
              <a:buNone/>
            </a:pPr>
            <a:r>
              <a:rPr lang="en-US" sz="1400" b="1" dirty="0">
                <a:latin typeface="Inter"/>
              </a:rPr>
              <a:t>A. Technology (Competitive Differentiation)</a:t>
            </a:r>
            <a:br>
              <a:rPr lang="en-US" sz="1400" dirty="0">
                <a:latin typeface="Inter"/>
              </a:rPr>
            </a:br>
            <a:r>
              <a:rPr lang="en-US" sz="1400" dirty="0">
                <a:latin typeface="Inter"/>
              </a:rPr>
              <a:t>While Helio-Twin mirrors the predictive maintenance philosophy of commercial platforms (e.g., Schneider Electric), it is uniquely engineered for the Global South:</a:t>
            </a:r>
          </a:p>
          <a:p>
            <a:pPr indent="0">
              <a:lnSpc>
                <a:spcPts val="1575"/>
              </a:lnSpc>
              <a:spcAft>
                <a:spcPts val="1350"/>
              </a:spcAft>
              <a:buNone/>
            </a:pPr>
            <a:r>
              <a:rPr lang="en-US" sz="1400" b="1" dirty="0">
                <a:latin typeface="Inter"/>
              </a:rPr>
              <a:t>B. Economics (Procurement Friction)</a:t>
            </a:r>
            <a:br>
              <a:rPr lang="en-US" sz="1400" dirty="0">
                <a:latin typeface="Inter"/>
              </a:rPr>
            </a:br>
            <a:r>
              <a:rPr lang="en-US" sz="1400" dirty="0">
                <a:latin typeface="Inter"/>
              </a:rPr>
              <a:t>Decision-makers are incentivized to adopt the system because it aligns with conservative university procurement realities:</a:t>
            </a:r>
          </a:p>
          <a:p>
            <a:pPr indent="0">
              <a:lnSpc>
                <a:spcPts val="1575"/>
              </a:lnSpc>
              <a:spcAft>
                <a:spcPts val="525"/>
              </a:spcAft>
              <a:buFont typeface="Arial" panose="020B0604020202020204" pitchFamily="34" charset="0"/>
              <a:buChar char="•"/>
            </a:pPr>
            <a:r>
              <a:rPr lang="en-US" sz="1400" b="1" dirty="0">
                <a:latin typeface="Inter"/>
              </a:rPr>
              <a:t>Zero Rip-and-Replace:</a:t>
            </a:r>
            <a:r>
              <a:rPr lang="en-US" sz="1400" dirty="0">
                <a:latin typeface="Inter"/>
              </a:rPr>
              <a:t> Seamlessly retrofits onto existing legacy RS485 string inverters.</a:t>
            </a:r>
          </a:p>
          <a:p>
            <a:pPr indent="0">
              <a:lnSpc>
                <a:spcPts val="1575"/>
              </a:lnSpc>
              <a:spcAft>
                <a:spcPts val="525"/>
              </a:spcAft>
              <a:buFont typeface="Arial" panose="020B0604020202020204" pitchFamily="34" charset="0"/>
              <a:buChar char="•"/>
            </a:pPr>
            <a:r>
              <a:rPr lang="en-US" sz="1400" b="1" dirty="0">
                <a:latin typeface="Inter"/>
              </a:rPr>
              <a:t>Rapid Deployment:</a:t>
            </a:r>
            <a:r>
              <a:rPr lang="en-US" sz="1400" dirty="0">
                <a:latin typeface="Inter"/>
              </a:rPr>
              <a:t> Requires &lt; 1 day of installation effort per 50 kW inverter.</a:t>
            </a:r>
          </a:p>
          <a:p>
            <a:pPr indent="0">
              <a:lnSpc>
                <a:spcPts val="1575"/>
              </a:lnSpc>
              <a:spcAft>
                <a:spcPts val="525"/>
              </a:spcAft>
              <a:buFont typeface="Arial" panose="020B0604020202020204" pitchFamily="34" charset="0"/>
              <a:buChar char="•"/>
            </a:pPr>
            <a:r>
              <a:rPr lang="en-US" sz="1400" b="1" dirty="0">
                <a:latin typeface="Inter"/>
              </a:rPr>
              <a:t>Accelerated Payback:</a:t>
            </a:r>
            <a:r>
              <a:rPr lang="en-US" sz="1400" dirty="0">
                <a:latin typeface="Inter"/>
              </a:rPr>
              <a:t> Expected to achieve ROI in &lt; 12 to 18 months, projected to be largely funded by recovered utility savings.</a:t>
            </a:r>
          </a:p>
          <a:p>
            <a:pPr indent="0">
              <a:lnSpc>
                <a:spcPts val="1575"/>
              </a:lnSpc>
              <a:spcAft>
                <a:spcPts val="1350"/>
              </a:spcAft>
              <a:buNone/>
            </a:pPr>
            <a:r>
              <a:rPr lang="en-US" sz="1400" b="1" dirty="0">
                <a:latin typeface="Inter"/>
              </a:rPr>
              <a:t>C. People (Human Adoption)</a:t>
            </a:r>
            <a:br>
              <a:rPr lang="en-US" sz="1400" dirty="0">
                <a:latin typeface="Inter"/>
              </a:rPr>
            </a:br>
            <a:r>
              <a:rPr lang="en-US" sz="1400" dirty="0">
                <a:latin typeface="Inter"/>
              </a:rPr>
              <a:t>Long-term operational success depends on sustained user adoption rather than technical capability alone. Helio-Twin is designed to encourage adoption by addressing direct human factors:</a:t>
            </a:r>
          </a:p>
          <a:p>
            <a:pPr indent="0">
              <a:lnSpc>
                <a:spcPts val="1575"/>
              </a:lnSpc>
              <a:spcAft>
                <a:spcPts val="525"/>
              </a:spcAft>
              <a:buFont typeface="Arial" panose="020B0604020202020204" pitchFamily="34" charset="0"/>
              <a:buChar char="•"/>
            </a:pPr>
            <a:r>
              <a:rPr lang="en-US" sz="1400" b="1" dirty="0">
                <a:latin typeface="Inter"/>
              </a:rPr>
              <a:t>Minimal Learning Curve:</a:t>
            </a:r>
            <a:r>
              <a:rPr lang="en-US" sz="1400" dirty="0">
                <a:latin typeface="Inter"/>
              </a:rPr>
              <a:t> Ground staff interact with a RAG GenAI WhatsApp bot in their native language, bypassing the need to navigate complex software.</a:t>
            </a:r>
          </a:p>
          <a:p>
            <a:pPr indent="0">
              <a:lnSpc>
                <a:spcPts val="1575"/>
              </a:lnSpc>
              <a:spcAft>
                <a:spcPts val="525"/>
              </a:spcAft>
              <a:buFont typeface="Arial" panose="020B0604020202020204" pitchFamily="34" charset="0"/>
              <a:buChar char="•"/>
            </a:pPr>
            <a:r>
              <a:rPr lang="en-US" sz="1400" b="1" dirty="0">
                <a:latin typeface="Inter"/>
              </a:rPr>
              <a:t>Improved Occupational Safety:</a:t>
            </a:r>
            <a:r>
              <a:rPr lang="en-US" sz="1400" dirty="0">
                <a:latin typeface="Inter"/>
              </a:rPr>
              <a:t> Prescriptive AI fault localization reduces unnecessary, hazardous physical roof climbs.</a:t>
            </a:r>
          </a:p>
          <a:p>
            <a:pPr indent="0">
              <a:lnSpc>
                <a:spcPts val="1575"/>
              </a:lnSpc>
              <a:spcAft>
                <a:spcPts val="525"/>
              </a:spcAft>
              <a:buFont typeface="Arial" panose="020B0604020202020204" pitchFamily="34" charset="0"/>
              <a:buChar char="•"/>
            </a:pPr>
            <a:r>
              <a:rPr lang="en-US" sz="1400" b="1" dirty="0">
                <a:latin typeface="Inter"/>
              </a:rPr>
              <a:t>Green Skills Upskilling:</a:t>
            </a:r>
            <a:r>
              <a:rPr lang="en-US" sz="1400" dirty="0">
                <a:latin typeface="Inter"/>
              </a:rPr>
              <a:t> Behavioral gamification (e.g., </a:t>
            </a:r>
            <a:r>
              <a:rPr lang="en-US" sz="1400" i="1" dirty="0">
                <a:latin typeface="Inter"/>
              </a:rPr>
              <a:t>"You saved 12 kg of CO₂ today"</a:t>
            </a:r>
            <a:r>
              <a:rPr lang="en-US" sz="1400" dirty="0">
                <a:latin typeface="Inter"/>
              </a:rPr>
              <a:t>) translates daily maintenance tasks into recognizable climate action, sustaining workforce engagement. </a:t>
            </a:r>
          </a:p>
          <a:p>
            <a:pPr indent="0">
              <a:lnSpc>
                <a:spcPts val="1575"/>
              </a:lnSpc>
              <a:spcAft>
                <a:spcPts val="525"/>
              </a:spcAft>
              <a:buNone/>
            </a:pPr>
            <a:r>
              <a:rPr lang="en-US" sz="1400" dirty="0">
                <a:latin typeface="Inter"/>
              </a:rPr>
              <a:t>Helio-Twin combines low implementation cost, compatibility with existing infrastructure, minimal user training, and measurable operational benefits, creating a compelling case for systemic institutional adoption.</a:t>
            </a:r>
          </a:p>
          <a:p>
            <a:pPr indent="0">
              <a:lnSpc>
                <a:spcPts val="1575"/>
              </a:lnSpc>
              <a:spcAft>
                <a:spcPts val="525"/>
              </a:spcAft>
              <a:buNone/>
            </a:pPr>
            <a:endParaRPr lang="en-US" sz="1600" dirty="0">
              <a:latin typeface="Inter"/>
            </a:endParaRPr>
          </a:p>
          <a:p>
            <a:endParaRPr lang="en-US" sz="1600" dirty="0"/>
          </a:p>
        </p:txBody>
      </p:sp>
    </p:spTree>
    <p:extLst>
      <p:ext uri="{BB962C8B-B14F-4D97-AF65-F5344CB8AC3E}">
        <p14:creationId xmlns:p14="http://schemas.microsoft.com/office/powerpoint/2010/main" val="3893743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C3ECD-A59D-2ED6-BB45-046D7CB0A3C7}"/>
              </a:ext>
            </a:extLst>
          </p:cNvPr>
          <p:cNvSpPr>
            <a:spLocks noGrp="1"/>
          </p:cNvSpPr>
          <p:nvPr>
            <p:ph type="title"/>
          </p:nvPr>
        </p:nvSpPr>
        <p:spPr>
          <a:xfrm>
            <a:off x="557514" y="218282"/>
            <a:ext cx="10058400" cy="1209355"/>
          </a:xfrm>
        </p:spPr>
        <p:txBody>
          <a:bodyPr>
            <a:normAutofit/>
          </a:bodyPr>
          <a:lstStyle/>
          <a:p>
            <a:r>
              <a:rPr lang="en-US" sz="2200" b="1" dirty="0"/>
              <a:t>03 How Will We Scale? (Multi-Dimensional Growth)</a:t>
            </a:r>
            <a:br>
              <a:rPr lang="en-US" b="1" dirty="0"/>
            </a:br>
            <a:endParaRPr lang="en-US" dirty="0"/>
          </a:p>
        </p:txBody>
      </p:sp>
      <p:sp>
        <p:nvSpPr>
          <p:cNvPr id="3" name="Content Placeholder 2">
            <a:extLst>
              <a:ext uri="{FF2B5EF4-FFF2-40B4-BE49-F238E27FC236}">
                <a16:creationId xmlns:a16="http://schemas.microsoft.com/office/drawing/2014/main" id="{B47C03DF-15C7-5763-1BE1-0B83CDDDD6F3}"/>
              </a:ext>
            </a:extLst>
          </p:cNvPr>
          <p:cNvSpPr>
            <a:spLocks noGrp="1"/>
          </p:cNvSpPr>
          <p:nvPr>
            <p:ph idx="1"/>
          </p:nvPr>
        </p:nvSpPr>
        <p:spPr>
          <a:xfrm>
            <a:off x="256572" y="822959"/>
            <a:ext cx="11700076" cy="5816759"/>
          </a:xfrm>
        </p:spPr>
        <p:txBody>
          <a:bodyPr>
            <a:normAutofit/>
          </a:bodyPr>
          <a:lstStyle/>
          <a:p>
            <a:pPr>
              <a:buFont typeface="Wingdings" panose="05000000000000000000" pitchFamily="2" charset="2"/>
              <a:buChar char="q"/>
            </a:pPr>
            <a:r>
              <a:rPr lang="en-US" b="1" dirty="0"/>
              <a:t>Headline:</a:t>
            </a:r>
            <a:r>
              <a:rPr lang="en-US" dirty="0"/>
              <a:t> Sustainable Growth Through Standardized Frameworks</a:t>
            </a:r>
          </a:p>
          <a:p>
            <a:pPr>
              <a:buFont typeface="Wingdings" panose="05000000000000000000" pitchFamily="2" charset="2"/>
              <a:buChar char="§"/>
            </a:pPr>
            <a:r>
              <a:rPr lang="en-US" i="1" dirty="0"/>
              <a:t>(Visual Process Flow)</a:t>
            </a:r>
            <a:br>
              <a:rPr lang="en-US" dirty="0"/>
            </a:br>
            <a:r>
              <a:rPr lang="en-US" dirty="0"/>
              <a:t>⚙️ </a:t>
            </a:r>
            <a:r>
              <a:rPr lang="en-US" b="1" dirty="0"/>
              <a:t>Operational</a:t>
            </a:r>
            <a:r>
              <a:rPr lang="en-US" dirty="0"/>
              <a:t> ➔ 🏢 </a:t>
            </a:r>
            <a:r>
              <a:rPr lang="en-US" b="1" dirty="0"/>
              <a:t>Organizational</a:t>
            </a:r>
            <a:r>
              <a:rPr lang="en-US" dirty="0"/>
              <a:t> ➔ 💻 </a:t>
            </a:r>
            <a:r>
              <a:rPr lang="en-US" b="1" dirty="0"/>
              <a:t>Technology</a:t>
            </a:r>
            <a:r>
              <a:rPr lang="en-US" dirty="0"/>
              <a:t> ➔ 💰 </a:t>
            </a:r>
            <a:r>
              <a:rPr lang="en-US" b="1" dirty="0"/>
              <a:t>Financial</a:t>
            </a:r>
            <a:endParaRPr lang="en-US" dirty="0"/>
          </a:p>
          <a:p>
            <a:pPr>
              <a:buFont typeface="Wingdings" panose="05000000000000000000" pitchFamily="2" charset="2"/>
              <a:buChar char="§"/>
            </a:pPr>
            <a:r>
              <a:rPr lang="en-US" dirty="0"/>
              <a:t>⚙️ </a:t>
            </a:r>
            <a:r>
              <a:rPr lang="en-US" b="1" dirty="0"/>
              <a:t>Operational (Deployment Velocity)</a:t>
            </a:r>
            <a:endParaRPr lang="en-US" dirty="0"/>
          </a:p>
          <a:p>
            <a:pPr lvl="1"/>
            <a:r>
              <a:rPr lang="en-US" i="1" dirty="0"/>
              <a:t>Method:</a:t>
            </a:r>
            <a:r>
              <a:rPr lang="en-US" dirty="0"/>
              <a:t> "Helio-Twin in a Box" (Pre-configured IoT kits).</a:t>
            </a:r>
          </a:p>
          <a:p>
            <a:pPr lvl="1"/>
            <a:r>
              <a:rPr lang="en-US" i="1" dirty="0"/>
              <a:t>Outcome:</a:t>
            </a:r>
            <a:r>
              <a:rPr lang="en-US" dirty="0"/>
              <a:t> Reduces installation time by 60% compared with conventional custom deployments.</a:t>
            </a:r>
          </a:p>
          <a:p>
            <a:pPr>
              <a:buFont typeface="Wingdings" panose="05000000000000000000" pitchFamily="2" charset="2"/>
              <a:buChar char="§"/>
            </a:pPr>
            <a:r>
              <a:rPr lang="en-US" dirty="0"/>
              <a:t>🏢 </a:t>
            </a:r>
            <a:r>
              <a:rPr lang="en-US" b="1" dirty="0"/>
              <a:t>Organizational (Capacity Building)</a:t>
            </a:r>
            <a:endParaRPr lang="en-US" dirty="0"/>
          </a:p>
          <a:p>
            <a:pPr lvl="1"/>
            <a:r>
              <a:rPr lang="en-US" i="1" dirty="0"/>
              <a:t>Method:</a:t>
            </a:r>
            <a:r>
              <a:rPr lang="en-US" dirty="0"/>
              <a:t> Train-the-Trainer model targeting regional EPC contractors.</a:t>
            </a:r>
          </a:p>
          <a:p>
            <a:pPr lvl="1"/>
            <a:r>
              <a:rPr lang="en-US" i="1" dirty="0"/>
              <a:t>Outcome:</a:t>
            </a:r>
            <a:r>
              <a:rPr lang="en-US" dirty="0"/>
              <a:t> Decentralized, self-sustaining ecosystem of certified installers.</a:t>
            </a:r>
          </a:p>
          <a:p>
            <a:pPr>
              <a:buFont typeface="Wingdings" panose="05000000000000000000" pitchFamily="2" charset="2"/>
              <a:buChar char="§"/>
            </a:pPr>
            <a:r>
              <a:rPr lang="en-US" dirty="0"/>
              <a:t>💻 </a:t>
            </a:r>
            <a:r>
              <a:rPr lang="en-US" b="1" dirty="0"/>
              <a:t>Technology (Data Sovereignty)</a:t>
            </a:r>
            <a:endParaRPr lang="en-US" dirty="0"/>
          </a:p>
          <a:p>
            <a:pPr lvl="1"/>
            <a:r>
              <a:rPr lang="en-US" i="1" dirty="0"/>
              <a:t>Method:</a:t>
            </a:r>
            <a:r>
              <a:rPr lang="en-US" dirty="0"/>
              <a:t> Federated Learning (local AI training).</a:t>
            </a:r>
          </a:p>
          <a:p>
            <a:pPr lvl="1"/>
            <a:r>
              <a:rPr lang="en-US" i="1" dirty="0"/>
              <a:t>Outcome:</a:t>
            </a:r>
            <a:r>
              <a:rPr lang="en-US" dirty="0"/>
              <a:t> Reduces bandwidth and supports compliance with institutional data governance requirements.</a:t>
            </a:r>
          </a:p>
          <a:p>
            <a:pPr>
              <a:buFont typeface="Wingdings" panose="05000000000000000000" pitchFamily="2" charset="2"/>
              <a:buChar char="§"/>
            </a:pPr>
            <a:r>
              <a:rPr lang="en-US" dirty="0"/>
              <a:t>💰 </a:t>
            </a:r>
            <a:r>
              <a:rPr lang="en-US" b="1" dirty="0"/>
              <a:t>Financial (The Business Model)</a:t>
            </a:r>
            <a:endParaRPr lang="en-US" dirty="0"/>
          </a:p>
          <a:p>
            <a:pPr lvl="1"/>
            <a:r>
              <a:rPr lang="en-US" i="1" dirty="0"/>
              <a:t>Method:</a:t>
            </a:r>
            <a:r>
              <a:rPr lang="en-US" dirty="0"/>
              <a:t> Annual SaaS Subscription (costs are expected to be offset by energy savings).</a:t>
            </a:r>
          </a:p>
          <a:p>
            <a:pPr lvl="1"/>
            <a:r>
              <a:rPr lang="en-US" i="1" dirty="0"/>
              <a:t>Outcome:</a:t>
            </a:r>
            <a:r>
              <a:rPr lang="en-US" dirty="0"/>
              <a:t> Predictable </a:t>
            </a:r>
            <a:r>
              <a:rPr lang="en-US" dirty="0" err="1"/>
              <a:t>OpEx</a:t>
            </a:r>
            <a:r>
              <a:rPr lang="en-US" dirty="0"/>
              <a:t> bypasses heavy </a:t>
            </a:r>
            <a:r>
              <a:rPr lang="en-US" dirty="0" err="1"/>
              <a:t>CapEx</a:t>
            </a:r>
            <a:r>
              <a:rPr lang="en-US" dirty="0"/>
              <a:t> procurement friction.</a:t>
            </a:r>
          </a:p>
          <a:p>
            <a:pPr>
              <a:buFont typeface="Wingdings" panose="05000000000000000000" pitchFamily="2" charset="2"/>
              <a:buChar char="§"/>
            </a:pPr>
            <a:r>
              <a:rPr lang="en-US" i="1" dirty="0"/>
              <a:t>Strategic Synthesis: Each scaling dimension builds institutional capability before expanding geographic reach, reducing implementation risk while improving long-term sustainability.</a:t>
            </a:r>
            <a:endParaRPr lang="en-US" dirty="0"/>
          </a:p>
          <a:p>
            <a:endParaRPr lang="en-US" dirty="0"/>
          </a:p>
        </p:txBody>
      </p:sp>
    </p:spTree>
    <p:extLst>
      <p:ext uri="{BB962C8B-B14F-4D97-AF65-F5344CB8AC3E}">
        <p14:creationId xmlns:p14="http://schemas.microsoft.com/office/powerpoint/2010/main" val="2438142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7ED10B-CC07-A413-4720-FB262F1DE5D0}"/>
              </a:ext>
            </a:extLst>
          </p:cNvPr>
          <p:cNvSpPr>
            <a:spLocks noGrp="1"/>
          </p:cNvSpPr>
          <p:nvPr>
            <p:ph idx="1"/>
          </p:nvPr>
        </p:nvSpPr>
        <p:spPr>
          <a:xfrm>
            <a:off x="329879" y="274898"/>
            <a:ext cx="11862121" cy="6308203"/>
          </a:xfrm>
        </p:spPr>
        <p:txBody>
          <a:bodyPr>
            <a:normAutofit/>
          </a:bodyPr>
          <a:lstStyle/>
          <a:p>
            <a:pPr marL="0" indent="0">
              <a:buNone/>
            </a:pPr>
            <a:r>
              <a:rPr lang="en-US" sz="2400" b="1" dirty="0"/>
              <a:t> 4 How Will We Implement? (Execution &amp; Change Management)</a:t>
            </a:r>
          </a:p>
          <a:p>
            <a:pPr marL="0" indent="0">
              <a:buNone/>
            </a:pPr>
            <a:endParaRPr lang="en-US" sz="2400" b="1" dirty="0"/>
          </a:p>
          <a:p>
            <a:pPr>
              <a:buFont typeface="Wingdings" panose="05000000000000000000" pitchFamily="2" charset="2"/>
              <a:buChar char="q"/>
            </a:pPr>
            <a:r>
              <a:rPr lang="en-US" b="1" dirty="0"/>
              <a:t>Headline:</a:t>
            </a:r>
            <a:r>
              <a:rPr lang="en-US" dirty="0"/>
              <a:t> Phased Delivery, Resources, and Behavioral Adoption</a:t>
            </a:r>
          </a:p>
          <a:p>
            <a:pPr>
              <a:buFont typeface="Wingdings" panose="05000000000000000000" pitchFamily="2" charset="2"/>
              <a:buChar char="q"/>
            </a:pPr>
            <a:r>
              <a:rPr lang="en-US" b="1" dirty="0"/>
              <a:t>Implementation Roadmap</a:t>
            </a:r>
            <a:br>
              <a:rPr lang="en-US" dirty="0"/>
            </a:br>
            <a:r>
              <a:rPr lang="en-US" dirty="0"/>
              <a:t>| Phase | Deliverable | Gate Approval | Dependencies | Indicative Budget |</a:t>
            </a:r>
          </a:p>
          <a:p>
            <a:pPr marL="0" indent="0">
              <a:buNone/>
            </a:pPr>
            <a:br>
              <a:rPr lang="en-US" dirty="0"/>
            </a:br>
            <a:r>
              <a:rPr lang="en-US" dirty="0"/>
              <a:t>| </a:t>
            </a:r>
            <a:r>
              <a:rPr lang="en-US" b="1" dirty="0"/>
              <a:t>1. Pilot</a:t>
            </a:r>
            <a:r>
              <a:rPr lang="en-US" dirty="0"/>
              <a:t> (Mo 1–2) | Working AI system | Steering Committee | Hardware delivery | ₹5,000 |</a:t>
            </a:r>
            <a:br>
              <a:rPr lang="en-US" dirty="0"/>
            </a:br>
            <a:r>
              <a:rPr lang="en-US" dirty="0"/>
              <a:t>| </a:t>
            </a:r>
            <a:r>
              <a:rPr lang="en-US" b="1" dirty="0"/>
              <a:t>2. Campus</a:t>
            </a:r>
            <a:r>
              <a:rPr lang="en-US" dirty="0"/>
              <a:t> (Mo 3–4) | Integrated platform | Facility Director | Pilot validation | ₹30,000 |</a:t>
            </a:r>
            <a:br>
              <a:rPr lang="en-US" dirty="0"/>
            </a:br>
            <a:r>
              <a:rPr lang="en-US" dirty="0"/>
              <a:t>| </a:t>
            </a:r>
            <a:r>
              <a:rPr lang="en-US" b="1" dirty="0"/>
              <a:t>3. Regional</a:t>
            </a:r>
            <a:r>
              <a:rPr lang="en-US" dirty="0"/>
              <a:t> (Mo 5–12)| Replicable package | University Leadership | Cloud provisioning | SaaS Tier |</a:t>
            </a:r>
          </a:p>
          <a:p>
            <a:pPr>
              <a:buFont typeface="Wingdings" panose="05000000000000000000" pitchFamily="2" charset="2"/>
              <a:buChar char="q"/>
            </a:pPr>
            <a:r>
              <a:rPr lang="en-US" b="1" dirty="0"/>
              <a:t>Governance &amp; Change Management</a:t>
            </a:r>
            <a:br>
              <a:rPr lang="en-US" dirty="0"/>
            </a:br>
            <a:r>
              <a:rPr lang="en-US" i="1" dirty="0"/>
              <a:t>Long-term operational success depends on sustained user adoption rather than technical capability alone.</a:t>
            </a:r>
            <a:endParaRPr lang="en-US" dirty="0"/>
          </a:p>
          <a:p>
            <a:r>
              <a:rPr lang="en-US" b="1" dirty="0"/>
              <a:t>Monthly Stakeholder Meetings:</a:t>
            </a:r>
            <a:r>
              <a:rPr lang="en-US" dirty="0"/>
              <a:t> Reviewing adoption hurdles and user feedback.</a:t>
            </a:r>
          </a:p>
          <a:p>
            <a:r>
              <a:rPr lang="en-US" b="1" dirty="0"/>
              <a:t>Quarterly Executive Reports:</a:t>
            </a:r>
            <a:r>
              <a:rPr lang="en-US" dirty="0"/>
              <a:t> Financial and ESG updates for Leadership.</a:t>
            </a:r>
          </a:p>
          <a:p>
            <a:r>
              <a:rPr lang="en-US" b="1" dirty="0"/>
              <a:t>Continuous Feedback Loop:</a:t>
            </a:r>
            <a:r>
              <a:rPr lang="en-US" dirty="0"/>
              <a:t> User surveys to refine the AI interface and minimize friction.</a:t>
            </a:r>
          </a:p>
          <a:p>
            <a:endParaRPr lang="en-US" dirty="0"/>
          </a:p>
        </p:txBody>
      </p:sp>
    </p:spTree>
    <p:extLst>
      <p:ext uri="{BB962C8B-B14F-4D97-AF65-F5344CB8AC3E}">
        <p14:creationId xmlns:p14="http://schemas.microsoft.com/office/powerpoint/2010/main" val="1108580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800D9DA-B993-02D4-94E4-1890F33F8E8B}"/>
              </a:ext>
            </a:extLst>
          </p:cNvPr>
          <p:cNvGraphicFramePr>
            <a:graphicFrameLocks noGrp="1"/>
          </p:cNvGraphicFramePr>
          <p:nvPr>
            <p:ph idx="1"/>
            <p:extLst>
              <p:ext uri="{D42A27DB-BD31-4B8C-83A1-F6EECF244321}">
                <p14:modId xmlns:p14="http://schemas.microsoft.com/office/powerpoint/2010/main" val="1525172443"/>
              </p:ext>
            </p:extLst>
          </p:nvPr>
        </p:nvGraphicFramePr>
        <p:xfrm>
          <a:off x="489032" y="2700064"/>
          <a:ext cx="11179215" cy="2983107"/>
        </p:xfrm>
        <a:graphic>
          <a:graphicData uri="http://schemas.openxmlformats.org/drawingml/2006/table">
            <a:tbl>
              <a:tblPr/>
              <a:tblGrid>
                <a:gridCol w="2235843">
                  <a:extLst>
                    <a:ext uri="{9D8B030D-6E8A-4147-A177-3AD203B41FA5}">
                      <a16:colId xmlns:a16="http://schemas.microsoft.com/office/drawing/2014/main" val="3178816634"/>
                    </a:ext>
                  </a:extLst>
                </a:gridCol>
                <a:gridCol w="2235843">
                  <a:extLst>
                    <a:ext uri="{9D8B030D-6E8A-4147-A177-3AD203B41FA5}">
                      <a16:colId xmlns:a16="http://schemas.microsoft.com/office/drawing/2014/main" val="3074539387"/>
                    </a:ext>
                  </a:extLst>
                </a:gridCol>
                <a:gridCol w="2235843">
                  <a:extLst>
                    <a:ext uri="{9D8B030D-6E8A-4147-A177-3AD203B41FA5}">
                      <a16:colId xmlns:a16="http://schemas.microsoft.com/office/drawing/2014/main" val="906563511"/>
                    </a:ext>
                  </a:extLst>
                </a:gridCol>
                <a:gridCol w="2235843">
                  <a:extLst>
                    <a:ext uri="{9D8B030D-6E8A-4147-A177-3AD203B41FA5}">
                      <a16:colId xmlns:a16="http://schemas.microsoft.com/office/drawing/2014/main" val="3660787219"/>
                    </a:ext>
                  </a:extLst>
                </a:gridCol>
                <a:gridCol w="2235843">
                  <a:extLst>
                    <a:ext uri="{9D8B030D-6E8A-4147-A177-3AD203B41FA5}">
                      <a16:colId xmlns:a16="http://schemas.microsoft.com/office/drawing/2014/main" val="3167452835"/>
                    </a:ext>
                  </a:extLst>
                </a:gridCol>
              </a:tblGrid>
              <a:tr h="374725">
                <a:tc>
                  <a:txBody>
                    <a:bodyPr/>
                    <a:lstStyle/>
                    <a:p>
                      <a:pPr>
                        <a:lnSpc>
                          <a:spcPts val="1575"/>
                        </a:lnSpc>
                        <a:buNone/>
                      </a:pPr>
                      <a:r>
                        <a:rPr lang="en-US" sz="2000" b="1">
                          <a:effectLst/>
                          <a:latin typeface="Inter"/>
                        </a:rPr>
                        <a:t>KPI Category</a:t>
                      </a:r>
                    </a:p>
                  </a:txBody>
                  <a:tcPr anchor="ctr">
                    <a:lnL>
                      <a:noFill/>
                    </a:lnL>
                    <a:lnR>
                      <a:noFill/>
                    </a:lnR>
                    <a:lnT>
                      <a:noFill/>
                    </a:lnT>
                    <a:lnB>
                      <a:noFill/>
                    </a:lnB>
                    <a:noFill/>
                  </a:tcPr>
                </a:tc>
                <a:tc>
                  <a:txBody>
                    <a:bodyPr/>
                    <a:lstStyle/>
                    <a:p>
                      <a:pPr>
                        <a:lnSpc>
                          <a:spcPts val="1575"/>
                        </a:lnSpc>
                        <a:buNone/>
                      </a:pPr>
                      <a:r>
                        <a:rPr lang="en-US" sz="2000" b="1">
                          <a:effectLst/>
                          <a:latin typeface="Inter"/>
                        </a:rPr>
                        <a:t>Metric</a:t>
                      </a:r>
                    </a:p>
                  </a:txBody>
                  <a:tcPr anchor="ctr">
                    <a:lnL>
                      <a:noFill/>
                    </a:lnL>
                    <a:lnR>
                      <a:noFill/>
                    </a:lnR>
                    <a:lnT>
                      <a:noFill/>
                    </a:lnT>
                    <a:lnB>
                      <a:noFill/>
                    </a:lnB>
                    <a:noFill/>
                  </a:tcPr>
                </a:tc>
                <a:tc>
                  <a:txBody>
                    <a:bodyPr/>
                    <a:lstStyle/>
                    <a:p>
                      <a:pPr>
                        <a:lnSpc>
                          <a:spcPts val="1575"/>
                        </a:lnSpc>
                        <a:buNone/>
                      </a:pPr>
                      <a:r>
                        <a:rPr lang="en-US" sz="2000" b="1">
                          <a:effectLst/>
                          <a:latin typeface="Inter"/>
                        </a:rPr>
                        <a:t>🔴 Month 3</a:t>
                      </a:r>
                    </a:p>
                  </a:txBody>
                  <a:tcPr anchor="ctr">
                    <a:lnL>
                      <a:noFill/>
                    </a:lnL>
                    <a:lnR>
                      <a:noFill/>
                    </a:lnR>
                    <a:lnT>
                      <a:noFill/>
                    </a:lnT>
                    <a:lnB>
                      <a:noFill/>
                    </a:lnB>
                    <a:noFill/>
                  </a:tcPr>
                </a:tc>
                <a:tc>
                  <a:txBody>
                    <a:bodyPr/>
                    <a:lstStyle/>
                    <a:p>
                      <a:pPr>
                        <a:lnSpc>
                          <a:spcPts val="1575"/>
                        </a:lnSpc>
                        <a:buNone/>
                      </a:pPr>
                      <a:r>
                        <a:rPr lang="en-US" sz="2000" b="1">
                          <a:effectLst/>
                          <a:latin typeface="Inter"/>
                        </a:rPr>
                        <a:t>🟡 Month 6</a:t>
                      </a:r>
                    </a:p>
                  </a:txBody>
                  <a:tcPr anchor="ctr">
                    <a:lnL>
                      <a:noFill/>
                    </a:lnL>
                    <a:lnR>
                      <a:noFill/>
                    </a:lnR>
                    <a:lnT>
                      <a:noFill/>
                    </a:lnT>
                    <a:lnB>
                      <a:noFill/>
                    </a:lnB>
                    <a:noFill/>
                  </a:tcPr>
                </a:tc>
                <a:tc>
                  <a:txBody>
                    <a:bodyPr/>
                    <a:lstStyle/>
                    <a:p>
                      <a:pPr>
                        <a:lnSpc>
                          <a:spcPts val="1575"/>
                        </a:lnSpc>
                        <a:buNone/>
                      </a:pPr>
                      <a:r>
                        <a:rPr lang="en-US" sz="2000" b="1">
                          <a:effectLst/>
                          <a:latin typeface="Inter"/>
                        </a:rPr>
                        <a:t>🟢 Month 12</a:t>
                      </a:r>
                    </a:p>
                  </a:txBody>
                  <a:tcPr anchor="ctr">
                    <a:lnL>
                      <a:noFill/>
                    </a:lnL>
                    <a:lnR>
                      <a:noFill/>
                    </a:lnR>
                    <a:lnT>
                      <a:noFill/>
                    </a:lnT>
                    <a:lnB>
                      <a:noFill/>
                    </a:lnB>
                    <a:noFill/>
                  </a:tcPr>
                </a:tc>
                <a:extLst>
                  <a:ext uri="{0D108BD9-81ED-4DB2-BD59-A6C34878D82A}">
                    <a16:rowId xmlns:a16="http://schemas.microsoft.com/office/drawing/2014/main" val="2760110095"/>
                  </a:ext>
                </a:extLst>
              </a:tr>
              <a:tr h="619644">
                <a:tc>
                  <a:txBody>
                    <a:bodyPr/>
                    <a:lstStyle/>
                    <a:p>
                      <a:pPr>
                        <a:lnSpc>
                          <a:spcPts val="1575"/>
                        </a:lnSpc>
                        <a:buNone/>
                      </a:pPr>
                      <a:r>
                        <a:rPr lang="en-US" sz="2000" b="1">
                          <a:effectLst/>
                          <a:latin typeface="Inter"/>
                        </a:rPr>
                        <a:t>Operational</a:t>
                      </a:r>
                      <a:endParaRPr lang="en-US" sz="2000" b="0">
                        <a:effectLst/>
                        <a:latin typeface="Inter"/>
                      </a:endParaRPr>
                    </a:p>
                  </a:txBody>
                  <a:tcPr anchor="ctr">
                    <a:lnL>
                      <a:noFill/>
                    </a:lnL>
                    <a:lnR>
                      <a:noFill/>
                    </a:lnR>
                    <a:lnT>
                      <a:noFill/>
                    </a:lnT>
                    <a:lnB>
                      <a:noFill/>
                    </a:lnB>
                    <a:noFill/>
                  </a:tcPr>
                </a:tc>
                <a:tc>
                  <a:txBody>
                    <a:bodyPr/>
                    <a:lstStyle/>
                    <a:p>
                      <a:pPr>
                        <a:lnSpc>
                          <a:spcPts val="1575"/>
                        </a:lnSpc>
                        <a:buNone/>
                      </a:pPr>
                      <a:r>
                        <a:rPr lang="en-US" sz="2000" b="0">
                          <a:effectLst/>
                          <a:latin typeface="Inter"/>
                        </a:rPr>
                        <a:t>User Adoption Rate</a:t>
                      </a:r>
                    </a:p>
                  </a:txBody>
                  <a:tcPr anchor="ctr">
                    <a:lnL>
                      <a:noFill/>
                    </a:lnL>
                    <a:lnR>
                      <a:noFill/>
                    </a:lnR>
                    <a:lnT>
                      <a:noFill/>
                    </a:lnT>
                    <a:lnB>
                      <a:noFill/>
                    </a:lnB>
                    <a:noFill/>
                  </a:tcPr>
                </a:tc>
                <a:tc>
                  <a:txBody>
                    <a:bodyPr/>
                    <a:lstStyle/>
                    <a:p>
                      <a:pPr>
                        <a:lnSpc>
                          <a:spcPts val="1575"/>
                        </a:lnSpc>
                        <a:buNone/>
                      </a:pPr>
                      <a:r>
                        <a:rPr lang="en-US" sz="2000" b="0">
                          <a:effectLst/>
                          <a:latin typeface="Inter"/>
                        </a:rPr>
                        <a:t>60%</a:t>
                      </a:r>
                    </a:p>
                  </a:txBody>
                  <a:tcPr anchor="ctr">
                    <a:lnL>
                      <a:noFill/>
                    </a:lnL>
                    <a:lnR>
                      <a:noFill/>
                    </a:lnR>
                    <a:lnT>
                      <a:noFill/>
                    </a:lnT>
                    <a:lnB>
                      <a:noFill/>
                    </a:lnB>
                    <a:noFill/>
                  </a:tcPr>
                </a:tc>
                <a:tc>
                  <a:txBody>
                    <a:bodyPr/>
                    <a:lstStyle/>
                    <a:p>
                      <a:pPr>
                        <a:lnSpc>
                          <a:spcPts val="1575"/>
                        </a:lnSpc>
                        <a:buNone/>
                      </a:pPr>
                      <a:r>
                        <a:rPr lang="en-US" sz="2000" b="0">
                          <a:effectLst/>
                          <a:latin typeface="Inter"/>
                        </a:rPr>
                        <a:t>90%</a:t>
                      </a:r>
                    </a:p>
                  </a:txBody>
                  <a:tcPr anchor="ctr">
                    <a:lnL>
                      <a:noFill/>
                    </a:lnL>
                    <a:lnR>
                      <a:noFill/>
                    </a:lnR>
                    <a:lnT>
                      <a:noFill/>
                    </a:lnT>
                    <a:lnB>
                      <a:noFill/>
                    </a:lnB>
                    <a:noFill/>
                  </a:tcPr>
                </a:tc>
                <a:tc>
                  <a:txBody>
                    <a:bodyPr/>
                    <a:lstStyle/>
                    <a:p>
                      <a:pPr>
                        <a:lnSpc>
                          <a:spcPts val="1575"/>
                        </a:lnSpc>
                        <a:buNone/>
                      </a:pPr>
                      <a:r>
                        <a:rPr lang="en-US" sz="2000" b="0">
                          <a:effectLst/>
                          <a:latin typeface="Inter"/>
                        </a:rPr>
                        <a:t>95%</a:t>
                      </a:r>
                    </a:p>
                  </a:txBody>
                  <a:tcPr anchor="ctr">
                    <a:lnL>
                      <a:noFill/>
                    </a:lnL>
                    <a:lnR>
                      <a:noFill/>
                    </a:lnR>
                    <a:lnT>
                      <a:noFill/>
                    </a:lnT>
                    <a:lnB>
                      <a:noFill/>
                    </a:lnB>
                    <a:noFill/>
                  </a:tcPr>
                </a:tc>
                <a:extLst>
                  <a:ext uri="{0D108BD9-81ED-4DB2-BD59-A6C34878D82A}">
                    <a16:rowId xmlns:a16="http://schemas.microsoft.com/office/drawing/2014/main" val="4109560297"/>
                  </a:ext>
                </a:extLst>
              </a:tr>
              <a:tr h="619644">
                <a:tc>
                  <a:txBody>
                    <a:bodyPr/>
                    <a:lstStyle/>
                    <a:p>
                      <a:pPr>
                        <a:lnSpc>
                          <a:spcPts val="1575"/>
                        </a:lnSpc>
                        <a:buNone/>
                      </a:pPr>
                      <a:r>
                        <a:rPr lang="en-US" sz="2000" b="1">
                          <a:effectLst/>
                          <a:latin typeface="Inter"/>
                        </a:rPr>
                        <a:t>Operational</a:t>
                      </a:r>
                      <a:endParaRPr lang="en-US" sz="2000" b="0">
                        <a:effectLst/>
                        <a:latin typeface="Inter"/>
                      </a:endParaRPr>
                    </a:p>
                  </a:txBody>
                  <a:tcPr anchor="ctr">
                    <a:lnL>
                      <a:noFill/>
                    </a:lnL>
                    <a:lnR>
                      <a:noFill/>
                    </a:lnR>
                    <a:lnT>
                      <a:noFill/>
                    </a:lnT>
                    <a:lnB>
                      <a:noFill/>
                    </a:lnB>
                    <a:noFill/>
                  </a:tcPr>
                </a:tc>
                <a:tc>
                  <a:txBody>
                    <a:bodyPr/>
                    <a:lstStyle/>
                    <a:p>
                      <a:pPr>
                        <a:lnSpc>
                          <a:spcPts val="1575"/>
                        </a:lnSpc>
                        <a:buNone/>
                      </a:pPr>
                      <a:r>
                        <a:rPr lang="en-US" sz="2000" b="0">
                          <a:effectLst/>
                          <a:latin typeface="Inter"/>
                        </a:rPr>
                        <a:t>Fault Detection (MTTD)</a:t>
                      </a:r>
                    </a:p>
                  </a:txBody>
                  <a:tcPr anchor="ctr">
                    <a:lnL>
                      <a:noFill/>
                    </a:lnL>
                    <a:lnR>
                      <a:noFill/>
                    </a:lnR>
                    <a:lnT>
                      <a:noFill/>
                    </a:lnT>
                    <a:lnB>
                      <a:noFill/>
                    </a:lnB>
                    <a:noFill/>
                  </a:tcPr>
                </a:tc>
                <a:tc>
                  <a:txBody>
                    <a:bodyPr/>
                    <a:lstStyle/>
                    <a:p>
                      <a:pPr>
                        <a:lnSpc>
                          <a:spcPts val="1575"/>
                        </a:lnSpc>
                        <a:buNone/>
                      </a:pPr>
                      <a:r>
                        <a:rPr lang="en-US" sz="2000" b="0" dirty="0">
                          <a:effectLst/>
                          <a:latin typeface="Inter"/>
                        </a:rPr>
                        <a:t>5 min</a:t>
                      </a:r>
                    </a:p>
                  </a:txBody>
                  <a:tcPr anchor="ctr">
                    <a:lnL>
                      <a:noFill/>
                    </a:lnL>
                    <a:lnR>
                      <a:noFill/>
                    </a:lnR>
                    <a:lnT>
                      <a:noFill/>
                    </a:lnT>
                    <a:lnB>
                      <a:noFill/>
                    </a:lnB>
                    <a:noFill/>
                  </a:tcPr>
                </a:tc>
                <a:tc>
                  <a:txBody>
                    <a:bodyPr/>
                    <a:lstStyle/>
                    <a:p>
                      <a:pPr>
                        <a:lnSpc>
                          <a:spcPts val="1575"/>
                        </a:lnSpc>
                        <a:buNone/>
                      </a:pPr>
                      <a:r>
                        <a:rPr lang="en-US" sz="2000" b="0">
                          <a:effectLst/>
                          <a:latin typeface="Inter"/>
                        </a:rPr>
                        <a:t>1 min</a:t>
                      </a:r>
                    </a:p>
                  </a:txBody>
                  <a:tcPr anchor="ctr">
                    <a:lnL>
                      <a:noFill/>
                    </a:lnL>
                    <a:lnR>
                      <a:noFill/>
                    </a:lnR>
                    <a:lnT>
                      <a:noFill/>
                    </a:lnT>
                    <a:lnB>
                      <a:noFill/>
                    </a:lnB>
                    <a:noFill/>
                  </a:tcPr>
                </a:tc>
                <a:tc>
                  <a:txBody>
                    <a:bodyPr/>
                    <a:lstStyle/>
                    <a:p>
                      <a:pPr>
                        <a:lnSpc>
                          <a:spcPts val="1575"/>
                        </a:lnSpc>
                        <a:buNone/>
                      </a:pPr>
                      <a:r>
                        <a:rPr lang="en-US" sz="2000" b="0">
                          <a:effectLst/>
                          <a:latin typeface="Inter"/>
                        </a:rPr>
                        <a:t>30 sec</a:t>
                      </a:r>
                    </a:p>
                  </a:txBody>
                  <a:tcPr anchor="ctr">
                    <a:lnL>
                      <a:noFill/>
                    </a:lnL>
                    <a:lnR>
                      <a:noFill/>
                    </a:lnR>
                    <a:lnT>
                      <a:noFill/>
                    </a:lnT>
                    <a:lnB>
                      <a:noFill/>
                    </a:lnB>
                    <a:noFill/>
                  </a:tcPr>
                </a:tc>
                <a:extLst>
                  <a:ext uri="{0D108BD9-81ED-4DB2-BD59-A6C34878D82A}">
                    <a16:rowId xmlns:a16="http://schemas.microsoft.com/office/drawing/2014/main" val="50895881"/>
                  </a:ext>
                </a:extLst>
              </a:tr>
              <a:tr h="374725">
                <a:tc>
                  <a:txBody>
                    <a:bodyPr/>
                    <a:lstStyle/>
                    <a:p>
                      <a:pPr>
                        <a:lnSpc>
                          <a:spcPts val="1575"/>
                        </a:lnSpc>
                        <a:buNone/>
                      </a:pPr>
                      <a:r>
                        <a:rPr lang="en-US" sz="2000" b="1">
                          <a:effectLst/>
                          <a:latin typeface="Inter"/>
                        </a:rPr>
                        <a:t>Operational</a:t>
                      </a:r>
                      <a:endParaRPr lang="en-US" sz="2000" b="0">
                        <a:effectLst/>
                        <a:latin typeface="Inter"/>
                      </a:endParaRPr>
                    </a:p>
                  </a:txBody>
                  <a:tcPr anchor="ctr">
                    <a:lnL>
                      <a:noFill/>
                    </a:lnL>
                    <a:lnR>
                      <a:noFill/>
                    </a:lnR>
                    <a:lnT>
                      <a:noFill/>
                    </a:lnT>
                    <a:lnB>
                      <a:noFill/>
                    </a:lnB>
                    <a:noFill/>
                  </a:tcPr>
                </a:tc>
                <a:tc>
                  <a:txBody>
                    <a:bodyPr/>
                    <a:lstStyle/>
                    <a:p>
                      <a:pPr>
                        <a:lnSpc>
                          <a:spcPts val="1575"/>
                        </a:lnSpc>
                        <a:buNone/>
                      </a:pPr>
                      <a:r>
                        <a:rPr lang="en-US" sz="2000" b="0">
                          <a:effectLst/>
                          <a:latin typeface="Inter"/>
                        </a:rPr>
                        <a:t>False Positives</a:t>
                      </a:r>
                    </a:p>
                  </a:txBody>
                  <a:tcPr anchor="ctr">
                    <a:lnL>
                      <a:noFill/>
                    </a:lnL>
                    <a:lnR>
                      <a:noFill/>
                    </a:lnR>
                    <a:lnT>
                      <a:noFill/>
                    </a:lnT>
                    <a:lnB>
                      <a:noFill/>
                    </a:lnB>
                    <a:noFill/>
                  </a:tcPr>
                </a:tc>
                <a:tc>
                  <a:txBody>
                    <a:bodyPr/>
                    <a:lstStyle/>
                    <a:p>
                      <a:pPr>
                        <a:lnSpc>
                          <a:spcPts val="1575"/>
                        </a:lnSpc>
                        <a:buNone/>
                      </a:pPr>
                      <a:r>
                        <a:rPr lang="en-US" sz="2000" b="0">
                          <a:effectLst/>
                          <a:latin typeface="Inter"/>
                        </a:rPr>
                        <a:t>10%</a:t>
                      </a:r>
                    </a:p>
                  </a:txBody>
                  <a:tcPr anchor="ctr">
                    <a:lnL>
                      <a:noFill/>
                    </a:lnL>
                    <a:lnR>
                      <a:noFill/>
                    </a:lnR>
                    <a:lnT>
                      <a:noFill/>
                    </a:lnT>
                    <a:lnB>
                      <a:noFill/>
                    </a:lnB>
                    <a:noFill/>
                  </a:tcPr>
                </a:tc>
                <a:tc>
                  <a:txBody>
                    <a:bodyPr/>
                    <a:lstStyle/>
                    <a:p>
                      <a:pPr>
                        <a:lnSpc>
                          <a:spcPts val="1575"/>
                        </a:lnSpc>
                        <a:buNone/>
                      </a:pPr>
                      <a:r>
                        <a:rPr lang="en-US" sz="2000" b="0">
                          <a:effectLst/>
                          <a:latin typeface="Inter"/>
                        </a:rPr>
                        <a:t>5%</a:t>
                      </a:r>
                    </a:p>
                  </a:txBody>
                  <a:tcPr anchor="ctr">
                    <a:lnL>
                      <a:noFill/>
                    </a:lnL>
                    <a:lnR>
                      <a:noFill/>
                    </a:lnR>
                    <a:lnT>
                      <a:noFill/>
                    </a:lnT>
                    <a:lnB>
                      <a:noFill/>
                    </a:lnB>
                    <a:noFill/>
                  </a:tcPr>
                </a:tc>
                <a:tc>
                  <a:txBody>
                    <a:bodyPr/>
                    <a:lstStyle/>
                    <a:p>
                      <a:pPr>
                        <a:lnSpc>
                          <a:spcPts val="1575"/>
                        </a:lnSpc>
                        <a:buNone/>
                      </a:pPr>
                      <a:r>
                        <a:rPr lang="en-US" sz="2000" b="0" dirty="0">
                          <a:effectLst/>
                          <a:latin typeface="Inter"/>
                        </a:rPr>
                        <a:t>&lt; 3%</a:t>
                      </a:r>
                    </a:p>
                  </a:txBody>
                  <a:tcPr anchor="ctr">
                    <a:lnL>
                      <a:noFill/>
                    </a:lnL>
                    <a:lnR>
                      <a:noFill/>
                    </a:lnR>
                    <a:lnT>
                      <a:noFill/>
                    </a:lnT>
                    <a:lnB>
                      <a:noFill/>
                    </a:lnB>
                    <a:noFill/>
                  </a:tcPr>
                </a:tc>
                <a:extLst>
                  <a:ext uri="{0D108BD9-81ED-4DB2-BD59-A6C34878D82A}">
                    <a16:rowId xmlns:a16="http://schemas.microsoft.com/office/drawing/2014/main" val="2915856159"/>
                  </a:ext>
                </a:extLst>
              </a:tr>
              <a:tr h="374725">
                <a:tc>
                  <a:txBody>
                    <a:bodyPr/>
                    <a:lstStyle/>
                    <a:p>
                      <a:pPr>
                        <a:lnSpc>
                          <a:spcPts val="1575"/>
                        </a:lnSpc>
                        <a:buNone/>
                      </a:pPr>
                      <a:r>
                        <a:rPr lang="en-US" sz="2000" b="1">
                          <a:effectLst/>
                          <a:latin typeface="Inter"/>
                        </a:rPr>
                        <a:t>Business</a:t>
                      </a:r>
                      <a:endParaRPr lang="en-US" sz="2000" b="0">
                        <a:effectLst/>
                        <a:latin typeface="Inter"/>
                      </a:endParaRPr>
                    </a:p>
                  </a:txBody>
                  <a:tcPr anchor="ctr">
                    <a:lnL>
                      <a:noFill/>
                    </a:lnL>
                    <a:lnR>
                      <a:noFill/>
                    </a:lnR>
                    <a:lnT>
                      <a:noFill/>
                    </a:lnT>
                    <a:lnB>
                      <a:noFill/>
                    </a:lnB>
                    <a:noFill/>
                  </a:tcPr>
                </a:tc>
                <a:tc>
                  <a:txBody>
                    <a:bodyPr/>
                    <a:lstStyle/>
                    <a:p>
                      <a:pPr>
                        <a:lnSpc>
                          <a:spcPts val="1575"/>
                        </a:lnSpc>
                        <a:buNone/>
                      </a:pPr>
                      <a:r>
                        <a:rPr lang="en-US" sz="2000" b="0">
                          <a:effectLst/>
                          <a:latin typeface="Inter"/>
                        </a:rPr>
                        <a:t>Energy Recovery</a:t>
                      </a:r>
                    </a:p>
                  </a:txBody>
                  <a:tcPr anchor="ctr">
                    <a:lnL>
                      <a:noFill/>
                    </a:lnL>
                    <a:lnR>
                      <a:noFill/>
                    </a:lnR>
                    <a:lnT>
                      <a:noFill/>
                    </a:lnT>
                    <a:lnB>
                      <a:noFill/>
                    </a:lnB>
                    <a:noFill/>
                  </a:tcPr>
                </a:tc>
                <a:tc>
                  <a:txBody>
                    <a:bodyPr/>
                    <a:lstStyle/>
                    <a:p>
                      <a:pPr>
                        <a:lnSpc>
                          <a:spcPts val="1575"/>
                        </a:lnSpc>
                        <a:buNone/>
                      </a:pPr>
                      <a:r>
                        <a:rPr lang="en-US" sz="2000" b="0">
                          <a:effectLst/>
                          <a:latin typeface="Inter"/>
                        </a:rPr>
                        <a:t>5%</a:t>
                      </a:r>
                    </a:p>
                  </a:txBody>
                  <a:tcPr anchor="ctr">
                    <a:lnL>
                      <a:noFill/>
                    </a:lnL>
                    <a:lnR>
                      <a:noFill/>
                    </a:lnR>
                    <a:lnT>
                      <a:noFill/>
                    </a:lnT>
                    <a:lnB>
                      <a:noFill/>
                    </a:lnB>
                    <a:noFill/>
                  </a:tcPr>
                </a:tc>
                <a:tc>
                  <a:txBody>
                    <a:bodyPr/>
                    <a:lstStyle/>
                    <a:p>
                      <a:pPr>
                        <a:lnSpc>
                          <a:spcPts val="1575"/>
                        </a:lnSpc>
                        <a:buNone/>
                      </a:pPr>
                      <a:r>
                        <a:rPr lang="en-US" sz="2000" b="0">
                          <a:effectLst/>
                          <a:latin typeface="Inter"/>
                        </a:rPr>
                        <a:t>12%</a:t>
                      </a:r>
                    </a:p>
                  </a:txBody>
                  <a:tcPr anchor="ctr">
                    <a:lnL>
                      <a:noFill/>
                    </a:lnL>
                    <a:lnR>
                      <a:noFill/>
                    </a:lnR>
                    <a:lnT>
                      <a:noFill/>
                    </a:lnT>
                    <a:lnB>
                      <a:noFill/>
                    </a:lnB>
                    <a:noFill/>
                  </a:tcPr>
                </a:tc>
                <a:tc>
                  <a:txBody>
                    <a:bodyPr/>
                    <a:lstStyle/>
                    <a:p>
                      <a:pPr>
                        <a:lnSpc>
                          <a:spcPts val="1575"/>
                        </a:lnSpc>
                        <a:buNone/>
                      </a:pPr>
                      <a:r>
                        <a:rPr lang="en-US" sz="2000" b="0">
                          <a:effectLst/>
                          <a:latin typeface="Inter"/>
                        </a:rPr>
                        <a:t>&gt; 15%</a:t>
                      </a:r>
                    </a:p>
                  </a:txBody>
                  <a:tcPr anchor="ctr">
                    <a:lnL>
                      <a:noFill/>
                    </a:lnL>
                    <a:lnR>
                      <a:noFill/>
                    </a:lnR>
                    <a:lnT>
                      <a:noFill/>
                    </a:lnT>
                    <a:lnB>
                      <a:noFill/>
                    </a:lnB>
                    <a:noFill/>
                  </a:tcPr>
                </a:tc>
                <a:extLst>
                  <a:ext uri="{0D108BD9-81ED-4DB2-BD59-A6C34878D82A}">
                    <a16:rowId xmlns:a16="http://schemas.microsoft.com/office/drawing/2014/main" val="3902863487"/>
                  </a:ext>
                </a:extLst>
              </a:tr>
              <a:tr h="619644">
                <a:tc>
                  <a:txBody>
                    <a:bodyPr/>
                    <a:lstStyle/>
                    <a:p>
                      <a:pPr>
                        <a:lnSpc>
                          <a:spcPts val="1575"/>
                        </a:lnSpc>
                        <a:buNone/>
                      </a:pPr>
                      <a:r>
                        <a:rPr lang="en-US" sz="2000" b="1">
                          <a:effectLst/>
                          <a:latin typeface="Inter"/>
                        </a:rPr>
                        <a:t>Business</a:t>
                      </a:r>
                      <a:endParaRPr lang="en-US" sz="2000" b="0">
                        <a:effectLst/>
                        <a:latin typeface="Inter"/>
                      </a:endParaRPr>
                    </a:p>
                  </a:txBody>
                  <a:tcPr anchor="ctr">
                    <a:lnL>
                      <a:noFill/>
                    </a:lnL>
                    <a:lnR>
                      <a:noFill/>
                    </a:lnR>
                    <a:lnT>
                      <a:noFill/>
                    </a:lnT>
                    <a:lnB>
                      <a:noFill/>
                    </a:lnB>
                    <a:noFill/>
                  </a:tcPr>
                </a:tc>
                <a:tc>
                  <a:txBody>
                    <a:bodyPr/>
                    <a:lstStyle/>
                    <a:p>
                      <a:pPr>
                        <a:lnSpc>
                          <a:spcPts val="1575"/>
                        </a:lnSpc>
                        <a:buNone/>
                      </a:pPr>
                      <a:r>
                        <a:rPr lang="en-US" sz="2000" b="0">
                          <a:effectLst/>
                          <a:latin typeface="Inter"/>
                        </a:rPr>
                        <a:t>Maint. OpEx Reduction</a:t>
                      </a:r>
                    </a:p>
                  </a:txBody>
                  <a:tcPr anchor="ctr">
                    <a:lnL>
                      <a:noFill/>
                    </a:lnL>
                    <a:lnR>
                      <a:noFill/>
                    </a:lnR>
                    <a:lnT>
                      <a:noFill/>
                    </a:lnT>
                    <a:lnB>
                      <a:noFill/>
                    </a:lnB>
                    <a:noFill/>
                  </a:tcPr>
                </a:tc>
                <a:tc>
                  <a:txBody>
                    <a:bodyPr/>
                    <a:lstStyle/>
                    <a:p>
                      <a:pPr>
                        <a:lnSpc>
                          <a:spcPts val="1575"/>
                        </a:lnSpc>
                        <a:buNone/>
                      </a:pPr>
                      <a:r>
                        <a:rPr lang="en-US" sz="2000" b="0">
                          <a:effectLst/>
                          <a:latin typeface="Inter"/>
                        </a:rPr>
                        <a:t>5%</a:t>
                      </a:r>
                    </a:p>
                  </a:txBody>
                  <a:tcPr anchor="ctr">
                    <a:lnL>
                      <a:noFill/>
                    </a:lnL>
                    <a:lnR>
                      <a:noFill/>
                    </a:lnR>
                    <a:lnT>
                      <a:noFill/>
                    </a:lnT>
                    <a:lnB>
                      <a:noFill/>
                    </a:lnB>
                    <a:noFill/>
                  </a:tcPr>
                </a:tc>
                <a:tc>
                  <a:txBody>
                    <a:bodyPr/>
                    <a:lstStyle/>
                    <a:p>
                      <a:pPr>
                        <a:lnSpc>
                          <a:spcPts val="1575"/>
                        </a:lnSpc>
                        <a:buNone/>
                      </a:pPr>
                      <a:r>
                        <a:rPr lang="en-US" sz="2000" b="0">
                          <a:effectLst/>
                          <a:latin typeface="Inter"/>
                        </a:rPr>
                        <a:t>15%</a:t>
                      </a:r>
                    </a:p>
                  </a:txBody>
                  <a:tcPr anchor="ctr">
                    <a:lnL>
                      <a:noFill/>
                    </a:lnL>
                    <a:lnR>
                      <a:noFill/>
                    </a:lnR>
                    <a:lnT>
                      <a:noFill/>
                    </a:lnT>
                    <a:lnB>
                      <a:noFill/>
                    </a:lnB>
                    <a:noFill/>
                  </a:tcPr>
                </a:tc>
                <a:tc>
                  <a:txBody>
                    <a:bodyPr/>
                    <a:lstStyle/>
                    <a:p>
                      <a:pPr>
                        <a:lnSpc>
                          <a:spcPts val="1575"/>
                        </a:lnSpc>
                        <a:buNone/>
                      </a:pPr>
                      <a:r>
                        <a:rPr lang="en-US" sz="2000" b="0" dirty="0">
                          <a:effectLst/>
                          <a:latin typeface="Inter"/>
                        </a:rPr>
                        <a:t>&gt; 20%</a:t>
                      </a:r>
                    </a:p>
                  </a:txBody>
                  <a:tcPr anchor="ctr">
                    <a:lnL>
                      <a:noFill/>
                    </a:lnL>
                    <a:lnR>
                      <a:noFill/>
                    </a:lnR>
                    <a:lnT>
                      <a:noFill/>
                    </a:lnT>
                    <a:lnB>
                      <a:noFill/>
                    </a:lnB>
                    <a:noFill/>
                  </a:tcPr>
                </a:tc>
                <a:extLst>
                  <a:ext uri="{0D108BD9-81ED-4DB2-BD59-A6C34878D82A}">
                    <a16:rowId xmlns:a16="http://schemas.microsoft.com/office/drawing/2014/main" val="839415459"/>
                  </a:ext>
                </a:extLst>
              </a:tr>
            </a:tbl>
          </a:graphicData>
        </a:graphic>
      </p:graphicFrame>
      <p:sp>
        <p:nvSpPr>
          <p:cNvPr id="6" name="TextBox 5">
            <a:extLst>
              <a:ext uri="{FF2B5EF4-FFF2-40B4-BE49-F238E27FC236}">
                <a16:creationId xmlns:a16="http://schemas.microsoft.com/office/drawing/2014/main" id="{F32DAA44-CE2C-C31B-7CAD-296310670277}"/>
              </a:ext>
            </a:extLst>
          </p:cNvPr>
          <p:cNvSpPr txBox="1"/>
          <p:nvPr/>
        </p:nvSpPr>
        <p:spPr>
          <a:xfrm>
            <a:off x="350617" y="425765"/>
            <a:ext cx="11490766" cy="1656031"/>
          </a:xfrm>
          <a:prstGeom prst="rect">
            <a:avLst/>
          </a:prstGeom>
          <a:noFill/>
        </p:spPr>
        <p:txBody>
          <a:bodyPr wrap="square">
            <a:spAutoFit/>
          </a:bodyPr>
          <a:lstStyle/>
          <a:p>
            <a:pPr marL="0" marR="0" indent="0" algn="l">
              <a:buNone/>
            </a:pPr>
            <a:r>
              <a:rPr lang="en-US" sz="2400" b="1" i="0" dirty="0">
                <a:effectLst/>
                <a:latin typeface="Inter"/>
              </a:rPr>
              <a:t>How Do We Know We’re Succeeding? (Success Dashboard):</a:t>
            </a:r>
          </a:p>
          <a:p>
            <a:pPr marL="0" marR="0" indent="0" algn="l">
              <a:buNone/>
            </a:pPr>
            <a:endParaRPr lang="en-US" sz="2400" b="1" i="0" dirty="0">
              <a:effectLst/>
              <a:latin typeface="Inter"/>
            </a:endParaRPr>
          </a:p>
          <a:p>
            <a:pPr indent="0" algn="l">
              <a:lnSpc>
                <a:spcPts val="1575"/>
              </a:lnSpc>
              <a:spcAft>
                <a:spcPts val="1350"/>
              </a:spcAft>
              <a:buNone/>
            </a:pPr>
            <a:r>
              <a:rPr lang="en-US" sz="2400" b="1" i="0" dirty="0">
                <a:effectLst/>
                <a:latin typeface="Inter"/>
              </a:rPr>
              <a:t>Headline:</a:t>
            </a:r>
            <a:r>
              <a:rPr lang="en-US" sz="2400" b="0" i="0" dirty="0">
                <a:effectLst/>
                <a:latin typeface="Inter"/>
              </a:rPr>
              <a:t> Milestone-Based Evaluation for Scaling Decisions</a:t>
            </a:r>
          </a:p>
          <a:p>
            <a:pPr indent="0" algn="l">
              <a:lnSpc>
                <a:spcPts val="1575"/>
              </a:lnSpc>
              <a:spcAft>
                <a:spcPts val="1350"/>
              </a:spcAft>
              <a:buNone/>
            </a:pPr>
            <a:r>
              <a:rPr lang="en-US" sz="2400" b="0" i="1" dirty="0">
                <a:effectLst/>
                <a:latin typeface="Inter"/>
              </a:rPr>
              <a:t>Expansion to Phase 3 proceeds only after Month 6 operational and adoption targets are achieved</a:t>
            </a:r>
            <a:r>
              <a:rPr lang="en-US" sz="1800" b="0" i="1" dirty="0">
                <a:effectLst/>
                <a:latin typeface="Inter"/>
              </a:rPr>
              <a:t>.</a:t>
            </a:r>
            <a:endParaRPr lang="en-US" sz="1800" b="0" i="0" dirty="0">
              <a:effectLst/>
              <a:latin typeface="Inter"/>
            </a:endParaRPr>
          </a:p>
        </p:txBody>
      </p:sp>
    </p:spTree>
    <p:extLst>
      <p:ext uri="{BB962C8B-B14F-4D97-AF65-F5344CB8AC3E}">
        <p14:creationId xmlns:p14="http://schemas.microsoft.com/office/powerpoint/2010/main" val="2141266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202CA7-70EF-8190-FC93-69E019102380}"/>
              </a:ext>
            </a:extLst>
          </p:cNvPr>
          <p:cNvSpPr>
            <a:spLocks noGrp="1"/>
          </p:cNvSpPr>
          <p:nvPr>
            <p:ph idx="1"/>
          </p:nvPr>
        </p:nvSpPr>
        <p:spPr>
          <a:xfrm>
            <a:off x="244997" y="309622"/>
            <a:ext cx="11702006" cy="6395977"/>
          </a:xfrm>
        </p:spPr>
        <p:txBody>
          <a:bodyPr>
            <a:normAutofit fontScale="77500" lnSpcReduction="20000"/>
          </a:bodyPr>
          <a:lstStyle/>
          <a:p>
            <a:pPr marL="0" indent="0">
              <a:buNone/>
            </a:pPr>
            <a:r>
              <a:rPr lang="en-US" sz="2600" b="1" dirty="0"/>
              <a:t>5 How Do We Manage Uncertainty? (Risk &amp; Alignment):</a:t>
            </a:r>
          </a:p>
          <a:p>
            <a:pPr marL="0" indent="0">
              <a:buNone/>
            </a:pPr>
            <a:endParaRPr lang="en-US" sz="2600" b="1" dirty="0"/>
          </a:p>
          <a:p>
            <a:pPr>
              <a:buFont typeface="Wingdings" panose="05000000000000000000" pitchFamily="2" charset="2"/>
              <a:buChar char="q"/>
            </a:pPr>
            <a:r>
              <a:rPr lang="en-US" sz="2100" b="1" dirty="0"/>
              <a:t>Headline:</a:t>
            </a:r>
            <a:r>
              <a:rPr lang="en-US" sz="2100" dirty="0"/>
              <a:t> Anticipating Threats, Mitigating Vulnerabilities, and Industry Alignment</a:t>
            </a:r>
          </a:p>
          <a:p>
            <a:pPr>
              <a:buFont typeface="Wingdings" panose="05000000000000000000" pitchFamily="2" charset="2"/>
              <a:buChar char="q"/>
            </a:pPr>
            <a:r>
              <a:rPr lang="en-US" sz="2100" b="1" dirty="0"/>
              <a:t>Risk Governance (2x2 Mitigation Matrix)</a:t>
            </a:r>
            <a:endParaRPr lang="en-US" sz="2100" dirty="0"/>
          </a:p>
          <a:p>
            <a:pPr>
              <a:buFont typeface="Wingdings" panose="05000000000000000000" pitchFamily="2" charset="2"/>
              <a:buChar char="q"/>
            </a:pPr>
            <a:r>
              <a:rPr lang="en-US" sz="2100" b="1" dirty="0"/>
              <a:t>[High Impact / High Probability] ➔ ADOPTION &amp; TECHNOLOGY</a:t>
            </a:r>
            <a:endParaRPr lang="en-US" sz="2100" dirty="0"/>
          </a:p>
          <a:p>
            <a:pPr lvl="1"/>
            <a:r>
              <a:rPr lang="en-US" sz="2100" i="1" dirty="0"/>
              <a:t>Tech Fatigue:</a:t>
            </a:r>
            <a:r>
              <a:rPr lang="en-US" sz="2100" dirty="0"/>
              <a:t> Excessive alerts reduce user engagement. </a:t>
            </a:r>
            <a:r>
              <a:rPr lang="en-US" sz="2100" i="1" dirty="0"/>
              <a:t>Mitigation:</a:t>
            </a:r>
            <a:r>
              <a:rPr lang="en-US" sz="2100" dirty="0"/>
              <a:t> Adaptive notification thresholds and alert prioritization.</a:t>
            </a:r>
          </a:p>
          <a:p>
            <a:pPr lvl="1"/>
            <a:r>
              <a:rPr lang="en-US" sz="2100" i="1" dirty="0"/>
              <a:t>Model Drift:</a:t>
            </a:r>
            <a:r>
              <a:rPr lang="en-US" sz="2100" dirty="0"/>
              <a:t> AI degrades as IoT ages. </a:t>
            </a:r>
            <a:r>
              <a:rPr lang="en-US" sz="2100" i="1" dirty="0"/>
              <a:t>Mitigation:</a:t>
            </a:r>
            <a:r>
              <a:rPr lang="en-US" sz="2100" dirty="0"/>
              <a:t> Continuous monitoring and periodic retraining.</a:t>
            </a:r>
          </a:p>
          <a:p>
            <a:pPr>
              <a:buFont typeface="Wingdings" panose="05000000000000000000" pitchFamily="2" charset="2"/>
              <a:buChar char="q"/>
            </a:pPr>
            <a:r>
              <a:rPr lang="en-US" sz="2100" b="1" dirty="0"/>
              <a:t>[High Impact / Low Probability] ➔ SECURITY &amp; OPERATIONS</a:t>
            </a:r>
            <a:endParaRPr lang="en-US" sz="2100" dirty="0"/>
          </a:p>
          <a:p>
            <a:pPr lvl="1"/>
            <a:r>
              <a:rPr lang="en-US" sz="2100" i="1" dirty="0"/>
              <a:t>Data Breaches:</a:t>
            </a:r>
            <a:r>
              <a:rPr lang="en-US" sz="2100" dirty="0"/>
              <a:t> Grid data vulnerabilities. </a:t>
            </a:r>
            <a:r>
              <a:rPr lang="en-US" sz="2100" i="1" dirty="0"/>
              <a:t>Mitigation:</a:t>
            </a:r>
            <a:r>
              <a:rPr lang="en-US" sz="2100" dirty="0"/>
              <a:t> Role-Based Access Control (RBAC) and immutable audit logs.</a:t>
            </a:r>
          </a:p>
          <a:p>
            <a:pPr lvl="1"/>
            <a:r>
              <a:rPr lang="en-US" sz="2100" i="1" dirty="0"/>
              <a:t>Knowledge Loss:</a:t>
            </a:r>
            <a:r>
              <a:rPr lang="en-US" sz="2100" dirty="0"/>
              <a:t> "Green Champions" resign. </a:t>
            </a:r>
            <a:r>
              <a:rPr lang="en-US" sz="2100" i="1" dirty="0"/>
              <a:t>Mitigation:</a:t>
            </a:r>
            <a:r>
              <a:rPr lang="en-US" sz="2100" dirty="0"/>
              <a:t> Digitize SOPs to ensure seamless knowledge transfer.</a:t>
            </a:r>
          </a:p>
          <a:p>
            <a:pPr>
              <a:buFont typeface="Wingdings" panose="05000000000000000000" pitchFamily="2" charset="2"/>
              <a:buChar char="q"/>
            </a:pPr>
            <a:r>
              <a:rPr lang="en-US" sz="2100" b="1" dirty="0"/>
              <a:t>Alignment with International Frameworks</a:t>
            </a:r>
            <a:br>
              <a:rPr lang="en-US" sz="2100" dirty="0"/>
            </a:br>
            <a:r>
              <a:rPr lang="en-US" sz="2100" i="1" dirty="0"/>
              <a:t>Our implementation strategy is designed to directly support global mandates:</a:t>
            </a:r>
            <a:endParaRPr lang="en-US" sz="2100" dirty="0"/>
          </a:p>
          <a:p>
            <a:r>
              <a:rPr lang="en-US" sz="2100" b="1" dirty="0"/>
              <a:t>IEA:</a:t>
            </a:r>
            <a:r>
              <a:rPr lang="en-US" sz="2100" dirty="0"/>
              <a:t> Energy Digitalization directives.</a:t>
            </a:r>
          </a:p>
          <a:p>
            <a:r>
              <a:rPr lang="en-US" sz="2100" b="1" dirty="0"/>
              <a:t>GHG Protocol:</a:t>
            </a:r>
            <a:r>
              <a:rPr lang="en-US" sz="2100" dirty="0"/>
              <a:t> Scope 2 Carbon Accounting standards.</a:t>
            </a:r>
          </a:p>
          <a:p>
            <a:r>
              <a:rPr lang="en-US" sz="2100" b="1" dirty="0"/>
              <a:t>MNRE (India):</a:t>
            </a:r>
            <a:r>
              <a:rPr lang="en-US" sz="2100" dirty="0"/>
              <a:t> Smart Grid Monitoring mandates.</a:t>
            </a:r>
          </a:p>
          <a:p>
            <a:r>
              <a:rPr lang="en-US" sz="2100" b="1" dirty="0"/>
              <a:t>NREL:</a:t>
            </a:r>
            <a:r>
              <a:rPr lang="en-US" sz="2100" dirty="0"/>
              <a:t> Digital Twin Research for Renewable Asset Management.</a:t>
            </a:r>
          </a:p>
          <a:p>
            <a:pPr marL="0" indent="0">
              <a:buNone/>
            </a:pPr>
            <a:endParaRPr lang="en-US" sz="2100" dirty="0"/>
          </a:p>
          <a:p>
            <a:pPr marL="0" indent="0">
              <a:buNone/>
            </a:pPr>
            <a:r>
              <a:rPr lang="en-US" sz="2100" i="1" dirty="0">
                <a:solidFill>
                  <a:schemeClr val="accent2">
                    <a:lumMod val="75000"/>
                  </a:schemeClr>
                </a:solidFill>
              </a:rPr>
              <a:t>Sources: IEA (2024) Digitalization and Energy; GHG Protocol Scope 2 Guidance; MNRE Smart Grid Mandates; NREL Digital Twin Research; Schneider Electric </a:t>
            </a:r>
            <a:r>
              <a:rPr lang="en-US" sz="2100" i="1" dirty="0" err="1">
                <a:solidFill>
                  <a:schemeClr val="accent2">
                    <a:lumMod val="75000"/>
                  </a:schemeClr>
                </a:solidFill>
              </a:rPr>
              <a:t>EcoStruxure</a:t>
            </a:r>
            <a:r>
              <a:rPr lang="en-US" sz="2100" i="1" dirty="0">
                <a:solidFill>
                  <a:schemeClr val="accent2">
                    <a:lumMod val="75000"/>
                  </a:schemeClr>
                </a:solidFill>
              </a:rPr>
              <a:t> Frameworks.</a:t>
            </a:r>
            <a:br>
              <a:rPr lang="en-US" sz="2100" dirty="0">
                <a:solidFill>
                  <a:schemeClr val="accent2">
                    <a:lumMod val="75000"/>
                  </a:schemeClr>
                </a:solidFill>
              </a:rPr>
            </a:br>
            <a:br>
              <a:rPr lang="en-US" dirty="0"/>
            </a:br>
            <a:endParaRPr lang="en-US" dirty="0"/>
          </a:p>
        </p:txBody>
      </p:sp>
    </p:spTree>
    <p:extLst>
      <p:ext uri="{BB962C8B-B14F-4D97-AF65-F5344CB8AC3E}">
        <p14:creationId xmlns:p14="http://schemas.microsoft.com/office/powerpoint/2010/main" val="15713157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58</TotalTime>
  <Words>1482</Words>
  <Application>Microsoft Office PowerPoint</Application>
  <PresentationFormat>Widescreen</PresentationFormat>
  <Paragraphs>121</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Savon</vt:lpstr>
      <vt:lpstr>Assignment 4B: Solution Scaling &amp; Implementation Strategy</vt:lpstr>
      <vt:lpstr> 01 Target Users (Stakeholder Alignment &amp; Business Case) : </vt:lpstr>
      <vt:lpstr>PowerPoint Presentation</vt:lpstr>
      <vt:lpstr>PowerPoint Presentation</vt:lpstr>
      <vt:lpstr>PowerPoint Presentation</vt:lpstr>
      <vt:lpstr>03 How Will We Scale? (Multi-Dimensional Growth)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Satvik Shrivastava</dc:creator>
  <cp:lastModifiedBy>Satvik Shrivastava</cp:lastModifiedBy>
  <cp:revision>2</cp:revision>
  <dcterms:created xsi:type="dcterms:W3CDTF">2026-07-07T15:23:45Z</dcterms:created>
  <dcterms:modified xsi:type="dcterms:W3CDTF">2026-07-15T11:38:28Z</dcterms:modified>
</cp:coreProperties>
</file>